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011680"/>
            <a:ext cx="1371600" cy="508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ACME Finance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End-to-End Data Journey — From Source Systems to AI-Powered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Architecture Deep Dive  |  Level 200 → 400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Redshift Serverless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Apache Iceberg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Glue ETL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dbt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Bedrock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Step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5212080"/>
            <a:ext cx="11430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Lambda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Uday Nag  |  Data &amp; Analytics Platform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914400" cy="38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High-Level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Source → Lake → Warehouse → Consumption</a:t>
            </a:r>
            <a:br/>
            <a:r>
              <a:t>The 10,000-foot view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Source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ERP, CRM, EPM — what data, how generated,</a:t>
            </a:r>
            <a:br/>
            <a:r>
              <a:t>how reconciled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Data Lake (S3 + Iceberg)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91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Medallion architecture: Raw → Curated</a:t>
            </a:r>
            <a:br/>
            <a:r>
              <a:t>Glue ETL with ACID guarantees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Transformation (dbt)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3-layer modeling: Staging → Intermediate → Marts</a:t>
            </a:r>
            <a:br/>
            <a:r>
              <a:t>23 models, 41 tests, full lineage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6344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377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Step Functions pipeline: Crawlers → ETL →</a:t>
            </a:r>
            <a:br/>
            <a:r>
              <a:t>dbt → Consumption-ready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48640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Consumption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760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React dashboards, Bedrock AI Agent,</a:t>
            </a:r>
            <a:br/>
            <a:r>
              <a:t>driver-based ARR forecasting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High-Level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LEVEL 200  |  The 10,000-foot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</a:defRPr>
            </a:pPr>
            <a:r>
              <a:t>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554480"/>
            <a:ext cx="2011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ERP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GL, AR/AP</a:t>
            </a:r>
            <a:br/>
            <a:r>
              <a:t>Customers</a:t>
            </a:r>
            <a:br/>
            <a:r>
              <a:t>Fixed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554480"/>
            <a:ext cx="2011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CRM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Accounts, Opps</a:t>
            </a:r>
            <a:br/>
            <a:r>
              <a:t>ARR Movement</a:t>
            </a:r>
            <a:br/>
            <a:r>
              <a:t>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2011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EPM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Budgets</a:t>
            </a:r>
            <a:br/>
            <a:r>
              <a:t>Forecasts</a:t>
            </a:r>
            <a:br/>
            <a:r>
              <a:t>Headcount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86000" y="2514600"/>
            <a:ext cx="274320" cy="320040"/>
          </a:xfrm>
          <a:prstGeom prst="down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4572000" y="2514600"/>
            <a:ext cx="274320" cy="320040"/>
          </a:xfrm>
          <a:prstGeom prst="down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6858000" y="2514600"/>
            <a:ext cx="274320" cy="320040"/>
          </a:xfrm>
          <a:prstGeom prst="down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</a:defRPr>
            </a:pPr>
            <a:r>
              <a:t>DATA LAKE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926080"/>
            <a:ext cx="32004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RAW ZONE (Bronze)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S3 Parquet  |  Hive-style partitions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erp/ crm/ epm/ prefixes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46320" y="3108960"/>
            <a:ext cx="548640" cy="365760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2926080"/>
            <a:ext cx="32004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CURATED ZONE (Silver)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Apache Iceberg v2  |  ACID writes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Glue ETL (PySpark createOrReplace)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949440" y="3794760"/>
            <a:ext cx="274320" cy="32004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51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WAREHOUSE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251960"/>
            <a:ext cx="73152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Redshift Serverless  +  dbt (23 models, 41 tests)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Staging (schema conform)  →  Intermediate (business logic)  →  Marts (consumption-ready)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mart_pl  |  fct_arr  |  fct_revenue  |  fct_expense  |  mart_ar_aging  |  6 dim tables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846320" y="5120640"/>
            <a:ext cx="274320" cy="32004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577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CONSUME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5577840"/>
            <a:ext cx="22860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React Dashboard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P&amp;L, ARR, Forecast</a:t>
            </a:r>
            <a:br/>
            <a:r>
              <a:t>Anomaly Detection</a:t>
            </a:r>
            <a:br/>
            <a:r>
              <a:t>CloudFront CDN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5577840"/>
            <a:ext cx="22860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Bedrock AI Agent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NL → SQL → Answer</a:t>
            </a:r>
            <a:br/>
            <a:r>
              <a:t>Variance RCA</a:t>
            </a:r>
            <a:br/>
            <a:r>
              <a:t>6 Action Groups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79" y="5577840"/>
            <a:ext cx="22860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Forecast Lambda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Driver-based ARR</a:t>
            </a:r>
            <a:br/>
            <a:r>
              <a:t>Tier cohort model</a:t>
            </a:r>
            <a:br/>
            <a:r>
              <a:t>Scenario what-if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554480"/>
            <a:ext cx="2560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</a:defRPr>
            </a:pPr>
            <a:r>
              <a:t>KEY POINTS</a:t>
            </a:r>
            <a:br/>
            <a:br/>
            <a:r>
              <a:t>• Medallion architecture</a:t>
            </a:r>
            <a:br/>
            <a:r>
              <a:t>  (Bronze → Silver → Gold)</a:t>
            </a:r>
            <a:br/>
            <a:br/>
            <a:r>
              <a:t>• Zero-copy via Redshift</a:t>
            </a:r>
            <a:br/>
            <a:r>
              <a:t>  Spectrum (external schema)</a:t>
            </a:r>
            <a:br/>
            <a:br/>
            <a:r>
              <a:t>• Glue Catalog as unified</a:t>
            </a:r>
            <a:br/>
            <a:r>
              <a:t>  metadata store</a:t>
            </a:r>
            <a:br/>
            <a:br/>
            <a:r>
              <a:t>• Step Functions orchestrates</a:t>
            </a:r>
            <a:br/>
            <a:r>
              <a:t>  end-to-end pipeline</a:t>
            </a:r>
            <a:br/>
            <a:br/>
            <a:r>
              <a:t>• IAM auth everywhere</a:t>
            </a:r>
            <a:br/>
            <a:r>
              <a:t>  (no stored passwords)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Source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LEVEL 300  |  What data, how structured, how reconciled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5943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ERP System</a:t>
            </a:r>
            <a:br/>
            <a:r>
              <a:t>(NetSuite / SAP-like)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356616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13 tables, ~800K rows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GL Journals (header + line)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AR Invoices &amp; Receipts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AP Invoices &amp; Payments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Customers, Vendors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Fixed Assets + Depreciation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Chart of Accounts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Entities (US, EMEA, APAC)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Format: Parquet (non-partitioned)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Also: CSV for Postgres 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566160" cy="5943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CRM System</a:t>
            </a:r>
            <a:br/>
            <a:r>
              <a:t>(Salesforce)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57400"/>
            <a:ext cx="356616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6 tables, ~10K rows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Accounts (= ERP customers)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Contacts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Opportunities + Line Items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ARR Movements (partitioned)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Pipeline Snapshots (partitioned)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Key: account_id = customer_id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(shared UUIDs for reconciliation)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Hive partitions: period_yyyymm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566160" cy="5943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EPM System</a:t>
            </a:r>
            <a:br/>
            <a:r>
              <a:t>(Anaplan / Adaptive)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057400"/>
            <a:ext cx="356616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5 tables, ~6K rows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Budget Versions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Forecast Versions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Plan Lines (partitioned)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Headcount Plan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Driver Assumptions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Account-level planning: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budget vs. forecast vs. actual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Hive partitions: period_yyyymm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94960"/>
            <a:ext cx="11247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CBD5E1"/>
                </a:solidFill>
              </a:defRPr>
            </a:pPr>
            <a:r>
              <a:t>DATA RECONCILIATION &amp; INTEGRITY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• CRM account_id = ERP customer_id (shared UUIDs generated in Phase 2B, carried through Phase 2C)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• Every GL journal balances: SUM(debits) = SUM(credits) — enforced at generation time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• Revenue recognition: ratable across service periods, capped at fiscal year boundary (Jan 31 FY-end)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• 3 fiscal years generated: FY23 ($1.6B) → FY24 ($2.0B) → FY25 ($2.3B) — realistic SaaS growth trajectory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• Seeded anomalies: aged AR (&gt;90d), S&amp;M overspend (2x spike), asset disposal losses, stalled pipeline deals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Lake — S3 + Apache Iceberg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LEVEL 400  |  Raw zone layout, Glue ETL, Iceberg writes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029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RAW ZONE (Bronze)  —  s3://acme-lake-dev-raw-...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02920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S3 Layout (preserves source system boundaries):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erp/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gl_journal_header/part-0.parquet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gl_journal_line/part-0.parquet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customer/part-0.parquet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ar_invoice/part-0.parquet  ... (13 tables)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crm/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account/part-0.parquet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arr_movement/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 period_yyyymm=202302/part-0.parquet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 period_yyyymm=202303/part-0.parquet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epm/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plan_line/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 period_yyyymm=202302/part-0.parquet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926080"/>
            <a:ext cx="457200" cy="32004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9496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CURATED ZONE (Silver)  —  Apache Iceberg 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39496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Glue ETL Job (PySpark):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1. Read via DynamicFrame (handles partitions)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2. Add audit columns: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_ingest_date = current_date()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_ingest_run_id = unique run UUID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3. Write as Iceberg: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df.writeTo(target_table)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  .tableProperty("format-version", "2")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    .createOrReplace()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Why Iceberg v2?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• ACID guarantees (atomic metadata swap)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• Schema evolution (add columns safely)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• Time travel (query historical snapshots)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• Redshift Spectrum compatible (zero-copy)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47120" cy="36576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GLUE CRAWLERS  —  4 crawlers populate Glue Data Catalog (unified metadata store)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86400"/>
            <a:ext cx="26517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crawler-erp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→ raw_erp_dev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Parquet schemas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5486400"/>
            <a:ext cx="26517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crawler-crm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→ raw_crm_dev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Hive partitions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86400"/>
            <a:ext cx="26517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crawler-epm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→ raw_epm_dev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Hive partitions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5486400"/>
            <a:ext cx="26517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crawler-curated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→ curated_dev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Iceberg metadata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Pipeline Orchestration — Step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</a:defRPr>
            </a:pPr>
            <a:r>
              <a:t>LEVEL 400  |  End-to-end pipeline from trigger to consumption-ready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EventBridge Rule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06:00 UTC daily (configurable)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80360" y="1783080"/>
            <a:ext cx="365760" cy="32004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Functions</a:t>
            </a:r>
            <a:br/>
            <a:r>
              <a:t>acme-finance-dev-refresh</a:t>
            </a:r>
          </a:p>
        </p:txBody>
      </p:sp>
      <p:sp>
        <p:nvSpPr>
          <p:cNvPr id="8" name="Down Arrow 7"/>
          <p:cNvSpPr/>
          <p:nvPr/>
        </p:nvSpPr>
        <p:spPr>
          <a:xfrm>
            <a:off x="3840480" y="2377440"/>
            <a:ext cx="228600" cy="320040"/>
          </a:xfrm>
          <a:prstGeom prst="down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434840" y="2377440"/>
            <a:ext cx="228600" cy="320040"/>
          </a:xfrm>
          <a:prstGeom prst="down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029200" y="2377440"/>
            <a:ext cx="228600" cy="320040"/>
          </a:xfrm>
          <a:prstGeom prst="down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6B6D4"/>
                </a:solidFill>
              </a:defRPr>
            </a:pPr>
            <a:r>
              <a:t>Parallel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834640"/>
            <a:ext cx="13716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</a:defRPr>
            </a:pPr>
            <a:r>
              <a:t>Glue ETL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raw_erp → curated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(13 tables)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834640"/>
            <a:ext cx="13716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</a:defRPr>
            </a:pPr>
            <a:r>
              <a:t>Glue ETL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raw_crm → curated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(6 tables)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34640"/>
            <a:ext cx="137160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FFFFFF"/>
                </a:solidFill>
              </a:defRPr>
            </a:pPr>
            <a:r>
              <a:t>Glue ETL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raw_epm → curated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(5 tables)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611880" y="3840480"/>
            <a:ext cx="228600" cy="22860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166360" y="3840480"/>
            <a:ext cx="228600" cy="22860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6720840" y="3840480"/>
            <a:ext cx="228600" cy="22860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4206240"/>
            <a:ext cx="27432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Glue Crawler (curated)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Detect new Iceberg table versions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434840" y="4846320"/>
            <a:ext cx="228600" cy="27432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5212080"/>
            <a:ext cx="27432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dbt run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23 models  |  41 tests  |  staging → marts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434840" y="5852160"/>
            <a:ext cx="228600" cy="27432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6217920"/>
            <a:ext cx="2743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READY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64592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Idempotent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Full-refresh (createOrReplace)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Re-run any branch safely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Iceberg handles metadata atomically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88036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Observable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CloudWatch logs per Glue job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Step Functions visual workflow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Glue crawler run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Scalable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Glue auto-scales workers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Redshift 8–32 RPU range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Serverless — pay only when active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349240"/>
            <a:ext cx="3474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Tested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dbt: 41 tests on every run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GL balance assertions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P&amp;L identity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dbt Transformation — 3-Layer Modeling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LEVEL 400  |  Staging → Intermediate → Marts on Redshift Serverless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STAGING (analytics_dev_staging)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4747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Purpose: 1:1 schema-conform views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stg_erp__gl_journal_header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stg_erp__gl_journal_line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stg_erp__ar_invoice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stg_erp__customer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stg_crm__account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stg_crm__arr_movement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stg_crm__opportunity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stg_epm__plan_line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Key: account_id → customer_id rename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(enables cross-system joins)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743200"/>
            <a:ext cx="365760" cy="27432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3200400" cy="4114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INTERMEDIATE (analytics_dev_int)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965960"/>
            <a:ext cx="32004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Purpose: Business logic joins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int_gl_entries_enriched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GL lines + COA + cost center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+ entity mapping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+ account_type, pnl_rollup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int_revenue_monthly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SUM(amount) WHERE is_revenue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GROUP BY entity, segment, period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int_expense_monthly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SUM(amount) WHERE is_expense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GROUP BY entity, rollup, period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46720" y="2743200"/>
            <a:ext cx="365760" cy="274320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0" y="1554480"/>
            <a:ext cx="32004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MARTS (analytics_dev_marts)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965960"/>
            <a:ext cx="32004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Purpose: Consumption-ready tables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mart_pl — P&amp;L by entity/period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fct_arr — ARR waterfall (customer)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fct_revenue — by entity/segment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fct_expense — by cost center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fct_gl_entries — atomic GL lines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mart_ar_aging — open invoices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dim_customer, dim_account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dim_entity, dim_cost_center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dim_date (fiscal calendar spine)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Total: 23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dbt TEST FRAMEWORK  —  41 tests running on every dbt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21031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Uniqueness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All primary keys across</a:t>
            </a:r>
            <a:br/>
            <a:r>
              <a:t>dim_* and fct_*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937760"/>
            <a:ext cx="21031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Not-Null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Primary keys +</a:t>
            </a:r>
            <a:br/>
            <a:r>
              <a:t>critical amounts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937760"/>
            <a:ext cx="21031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Accepted Values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account_type: asset,</a:t>
            </a:r>
            <a:br/>
            <a:r>
              <a:t>liability, equity,</a:t>
            </a:r>
            <a:br/>
            <a:r>
              <a:t>revenue, expense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937760"/>
            <a:ext cx="21031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GL Balance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Custom: every journal</a:t>
            </a:r>
            <a:br/>
            <a:r>
              <a:t>SUM(debits) =</a:t>
            </a:r>
            <a:br/>
            <a:r>
              <a:t>SUM(credits)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937760"/>
            <a:ext cx="21031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P&amp;L Identity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Custom: operating_income</a:t>
            </a:r>
            <a:br/>
            <a:r>
              <a:t>= gross_profit</a:t>
            </a:r>
            <a:br/>
            <a:r>
              <a:t>- total_opex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Redshift Spectrum external schema reads Iceberg tables directly from S3 — zero data copying. Spectrum pushes predicates to S3 for efficient scans.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Consumption Layer — Dashboards &amp;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LEVEL 300  |  How end users interact with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React Dashboard (CloudFront)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576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React 18 + TypeScript + Vite + Recharts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Pages: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/pl — P&amp;L statement by entity/quarter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/arr — ARR waterfall chart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/ar-aging — Aging buckets dashboard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/forecast — Interactive forecast charts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/anomalies — Severity-badge anomaly list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/chat — AI Analyst (streaming SSE)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/commentary — CFO commentary generator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/board-pack — PDF board pack export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Hosting: S3 + CloudFront (OAC + sigv4)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API: Lambda Function URL + LWA → FastAPI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SSE: RESPONSE_STREAM mode for /chat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657600" cy="4572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Bedrock AI Agent (Claude Sonnet)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6576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6 Action Groups (Lambda functions):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1. QueryFinanceData — NL → SQL → Answer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"What was Q3 revenue by entity?"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2. ForecastMetrics — Driver-based ARR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"Forecast revenue for 12 months"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3. VarianceRCA — Actuals vs. Budget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"Why did we miss Q2 budget?"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4. WhatIfSimulation — Scenario modeling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 "What if R&amp;D drops 15%?"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5. AnomalyDetection — Health scanner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6. MetricGlossary — KPI definitions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383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API Layer (FastAPI on Lambda)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Lambda Web Adapter architecture: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Lambda invocation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→ LWA extension intercepts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→ HTTP to uvicorn :8000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→ FastAPI handles request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Endpoints: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/metrics/* — dashboard data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/chat/stream — SSE to Bedrock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/commentary — AI-generated notes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/boardpack — PDF generation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Auth: IAM-based (Redshift Data API)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Auto-provisioned user: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IAMR:acme-finance-dev-*-lambda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CBD5E1"/>
                </a:solidFill>
              </a:defRPr>
            </a:pPr>
            <a:r>
              <a:t>AgentCore Memory (Semantic) — Cross-session conversation memory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1. User asks question → retrieve top-5 semantically relevant past Q&amp;A pairs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2. Memory context prepended to prompt → Bedrock Agent responds with historical awareness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3. New Q&amp;A stored back (fire-and-forget) → builds institutional knowledge over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Driver-Based ARR Forecasting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LEVEL 400  |  SaaS cohort model with scenario overrides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68580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CBD5E1"/>
                </a:solidFill>
              </a:defRPr>
            </a:pPr>
            <a:r>
              <a:t>ARR BRIDGE FORMULA (per tier, per month)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Starting_ARR    = prior month's Ending_ARR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Churn           = -(Starting_ARR x monthly_churn_rate)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Contraction     = -(Starting_ARR x monthly_contraction_rate)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Expansion       = Starting_ARR x monthly_expansion_rate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New Logo        = blended monthly ACV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                  (pipeline for months 1-3, run-rate for 4-12)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Ending_ARR      = Starting + Churn + Contraction + Expansion + New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Monthly Revenue = (Total Ending_ARR / 12) x (1 + nonsub_uplift)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Expenses        = Revenue x trailing OpEx ratios (COGS, S&amp;M, R&amp;D, G&amp;A)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Operating Income = Gross Profit - Total OpEx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554480"/>
            <a:ext cx="411480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TIER DYNAMICS (from trailing 4 quarters)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65960"/>
            <a:ext cx="100584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3648" y="1965960"/>
            <a:ext cx="100584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37776" y="1965960"/>
            <a:ext cx="100584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Commercial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61904" y="1965960"/>
            <a:ext cx="100584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28600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28600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107%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7776" y="228600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89%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61904" y="228600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49%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60604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GRR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260604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96%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7776" y="260604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79%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61904" y="260604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45%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92608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Churn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292608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~0%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7776" y="292608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17%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61904" y="292608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49%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324612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Expansion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13648" y="324612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11%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7776" y="324612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61904" y="3246120"/>
            <a:ext cx="10058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0">
                <a:solidFill>
                  <a:srgbClr val="CBD5E1"/>
                </a:solidFill>
              </a:defRPr>
            </a:pPr>
            <a:r>
              <a:t>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657600"/>
            <a:ext cx="411480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SCENARIO OVERRIDES (what-if)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160520"/>
            <a:ext cx="41148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churn_pct_multiplier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0.5 = halve churn</a:t>
            </a:r>
            <a:br/>
            <a:r>
              <a:t>→ +4.5% revenue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892040"/>
            <a:ext cx="41148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expansion_pct_multiplier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1.5 = 50% more upsell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5623560"/>
            <a:ext cx="41148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new_logo_pct_change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+50 = 50% more bookings</a:t>
            </a:r>
            <a:br/>
            <a:r>
              <a:t>→ +23.5%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6858000" cy="3657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FLOW  —  3 Redshift queries → Roll Forward → P&amp;L Projection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21488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Q1: fct_arr (T4Q)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Churn, contraction,</a:t>
            </a:r>
            <a:br/>
            <a:r>
              <a:t>expansion rates</a:t>
            </a:r>
            <a:br/>
            <a:r>
              <a:t>by tier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4572000"/>
            <a:ext cx="21488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Q2: fct_arr + opp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New logo run-rate</a:t>
            </a:r>
            <a:br/>
            <a:r>
              <a:t>+ weighted pipeline</a:t>
            </a:r>
            <a:br/>
            <a:r>
              <a:t>ACV by tier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4572000"/>
            <a:ext cx="21488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 b="1">
                <a:solidFill>
                  <a:srgbClr val="CBD5E1"/>
                </a:solidFill>
              </a:defRPr>
            </a:pPr>
            <a:r>
              <a:t>Q3: mart_pl (T4Q)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OpEx ratios:</a:t>
            </a:r>
            <a:br/>
            <a:r>
              <a:t>COGS%, S&amp;M%,</a:t>
            </a:r>
            <a:br/>
            <a:r>
              <a:t>R&amp;D%, G&amp;A%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846320" y="4983480"/>
            <a:ext cx="36576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94960" y="4572000"/>
            <a:ext cx="182880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Roll Forward</a:t>
            </a:r>
            <a:br/>
            <a:r>
              <a:t>12 months</a:t>
            </a:r>
            <a:br/>
            <a:r>
              <a:t>x 3 tiers</a:t>
            </a:r>
            <a:br/>
            <a:r>
              <a:t>+ scenarios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&amp; IAM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LEVEL 300  |  Zero-password architecture with least-privilege IAM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IAM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No stored passwords anywhere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Redshift: IAM-based auth via Data API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Auto-provisioned DB users: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IAMR:acme-finance-dev-*-lambda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S3: OAC + sigv4 (no public access)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CloudFront: signed origins only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Lambda: Function URL (AuthType=NONE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behind CloudFront — no API keys)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554480"/>
            <a:ext cx="2651760" cy="4114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Least Privilege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6596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Each Lambda has dedicated IAM role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Roles scoped to specific actions: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text_to_sql: redshift-data:*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forecast: redshift-data:*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api: redshift-data + bedrock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Redshift GRANT: SELECT only on marts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(no INSERT/UPDATE/DELETE)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Glue: scoped to specific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65176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S3: SSE-KMS encryption at rest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Redshift: encrypted workgroup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All data in single region (us-east-1)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VPC: Redshift in private subnets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(NAT gateway for outbound)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No PII in synthetic data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Glue connection: encrypted JDBC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9098280" y="1554480"/>
            <a:ext cx="265176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Network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965960"/>
            <a:ext cx="2651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CloudFront → Lambda (AWS backbone)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Lambda → Redshift (VPC endpoint)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Lambda → Bedrock (AWS API)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Lambda → S3 (VPC endpoint)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No public Redshift endpoint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Security groups: Lambda → Redshift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  <a:r>
              <a:t>  only on port 5439</a:t>
            </a:r>
          </a:p>
          <a:p>
            <a:pPr>
              <a:spcAft>
                <a:spcPts val="200"/>
              </a:spcAft>
              <a:defRPr sz="900">
                <a:solidFill>
                  <a:srgbClr val="CBD5E1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200"/>
              </a:spcAft>
              <a:defRPr sz="1000" b="1">
                <a:solidFill>
                  <a:srgbClr val="CBD5E1"/>
                </a:solidFill>
              </a:defRPr>
            </a:pPr>
            <a:r>
              <a:t>INFRASTRUCTURE AS CODE — Everything deployed via Terraform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8 modules: networking, redshift, glue, bedrock, api, frontend, pipelines, monitoring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State: S3 backend with DynamoDB locking  |  Environments: dev (prod follows same modules)</a:t>
            </a:r>
          </a:p>
          <a:p>
            <a:pPr>
              <a:spcAft>
                <a:spcPts val="200"/>
              </a:spcAft>
              <a:defRPr sz="1000">
                <a:solidFill>
                  <a:srgbClr val="CBD5E1"/>
                </a:solidFill>
              </a:defRPr>
            </a:pPr>
            <a:r>
              <a:t>CI/CD: GitHub Actions → terraform plan → manual approve → terraform apply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Architectural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914400" cy="381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Redshift Serverless (not Provisioned)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Pay per query, auto-pause when idle. Lab/startup workload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doesn't justify 24/7 provisioned cluster. RPU auto-scales 8-32.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Apache Iceberg (not raw Parquet)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ACID writes, schema evolution, time travel. Spectrum reads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Iceberg natively — zero-copy from S3 to Redshift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06039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Lambda Web Adapter (not API Gateway)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Function URL + RESPONSE_STREAM = unbuffered SSE for chat.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LWA translates invocations to HTTP — zero code changes local/cloud.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06039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dbt (not stored procs)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Version-controlled SQL, built-in testing (41 tests),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lineage graph, incremental materializations for marts.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A78BFA"/>
                </a:solidFill>
              </a:defRPr>
            </a:pPr>
            <a:r>
              <a:t>Glue ETL (not EMR)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Serverless Spark — no cluster management. 2 workers for ~22MB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raw data. Auto-scales if data grows. Integrated with Glue Catalog.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Driver-Based Forecast (not OLS trend)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ARR bridge captures SaaS dynamics (churn/expansion/new logo)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per tier. Scenario overrides enable what-if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57800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Bedrock Agent (not custom RAG)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Managed agent orchestration with 6 action groups. No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vector DB to maintain. Claude Sonnet for high-quality NL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257800"/>
            <a:ext cx="5486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Synthetic Data (not anonymized prod)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Full control over data characteristics. Seeded anomalies for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</a:defRPr>
            </a:pPr>
            <a:r>
              <a:t>testing. Realistic SaaS growth trajectory (FY23-25).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645920"/>
            <a:ext cx="1371600" cy="508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Architecture Summary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99923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 Source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926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ERP + CRM + EPM with shared UUIDs for reconciliation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54787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Medallion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474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S3 Raw (Bronze) → Iceberg Curated (Silver) → dbt Marts (Gold)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09651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Serverless-First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Redshift Serverless, Glue ETL, Lambda, Step Functions — pay-per-use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64515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23 dbt Models, 41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572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Full lineage, GL balance checks, P&amp;L identity assertions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19379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AI-Powered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Bedrock Agent with 6 action groups — NL to insights in seconds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74243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Driver-Based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669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ARR cohort model with tier-specific rates and scenario overrides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