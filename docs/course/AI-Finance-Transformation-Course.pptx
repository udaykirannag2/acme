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3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3" Type="http://schemas.openxmlformats.org/officeDocument/2006/relationships/slide" Target="slide16.xml"/><Relationship Id="rId14" Type="http://schemas.openxmlformats.org/officeDocument/2006/relationships/slide" Target="slide17.xml"/><Relationship Id="rId15" Type="http://schemas.openxmlformats.org/officeDocument/2006/relationships/slide" Target="slide18.xml"/><Relationship Id="rId16" Type="http://schemas.openxmlformats.org/officeDocument/2006/relationships/slide" Target="slide19.xml"/><Relationship Id="rId17" Type="http://schemas.openxmlformats.org/officeDocument/2006/relationships/slide" Target="slide20.xml"/><Relationship Id="rId18" Type="http://schemas.openxmlformats.org/officeDocument/2006/relationships/slide" Target="slide21.xml"/><Relationship Id="rId19" Type="http://schemas.openxmlformats.org/officeDocument/2006/relationships/slide" Target="slide22.xml"/><Relationship Id="rId20" Type="http://schemas.openxmlformats.org/officeDocument/2006/relationships/slide" Target="slide27.xml"/><Relationship Id="rId21" Type="http://schemas.openxmlformats.org/officeDocument/2006/relationships/slide" Target="slide28.xml"/><Relationship Id="rId22" Type="http://schemas.openxmlformats.org/officeDocument/2006/relationships/slide" Target="slide29.xml"/><Relationship Id="rId23" Type="http://schemas.openxmlformats.org/officeDocument/2006/relationships/slide" Target="slide30.xml"/><Relationship Id="rId24" Type="http://schemas.openxmlformats.org/officeDocument/2006/relationships/slide" Target="slide31.xml"/><Relationship Id="rId25" Type="http://schemas.openxmlformats.org/officeDocument/2006/relationships/slide" Target="slide32.xml"/><Relationship Id="rId26" Type="http://schemas.openxmlformats.org/officeDocument/2006/relationships/slide" Target="slide33.xml"/><Relationship Id="rId27" Type="http://schemas.openxmlformats.org/officeDocument/2006/relationships/slide" Target="slide34.xml"/><Relationship Id="rId28" Type="http://schemas.openxmlformats.org/officeDocument/2006/relationships/slide" Target="slide35.xml"/><Relationship Id="rId29" Type="http://schemas.openxmlformats.org/officeDocument/2006/relationships/slide" Target="slide36.xml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5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2.xm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14.xml"/><Relationship Id="rId2" Type="http://schemas.openxmlformats.org/officeDocument/2006/relationships/slide" Target="slide15.xml"/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27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28.xml"/><Relationship Id="rId2" Type="http://schemas.openxmlformats.org/officeDocument/2006/relationships/slide" Target="slide29.xml"/><Relationship Id="rId3" Type="http://schemas.openxmlformats.org/officeDocument/2006/relationships/slide" Target="slide30.xml"/><Relationship Id="rId4" Type="http://schemas.openxmlformats.org/officeDocument/2006/relationships/slide" Target="slide31.xml"/><Relationship Id="rId5" Type="http://schemas.openxmlformats.org/officeDocument/2006/relationships/slide" Target="slide32.xml"/><Relationship Id="rId6" Type="http://schemas.openxmlformats.org/officeDocument/2006/relationships/slide" Target="slide33.xml"/><Relationship Id="rId7" Type="http://schemas.openxmlformats.org/officeDocument/2006/relationships/slide" Target="slide34.xml"/><Relationship Id="rId8" Type="http://schemas.openxmlformats.org/officeDocument/2006/relationships/slide" Target="slide35.xml"/><Relationship Id="rId9" Type="http://schemas.openxmlformats.org/officeDocument/2006/relationships/slide" Target="slide36.xml"/><Relationship Id="rId10" Type="http://schemas.openxmlformats.org/officeDocument/2006/relationships/slide" Target="slide2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502920"/>
            <a:ext cx="2011680" cy="2011680"/>
          </a:xfrm>
          <a:prstGeom prst="rect">
            <a:avLst/>
          </a:prstGeom>
          <a:solidFill>
            <a:srgbClr val="0D1E3A"/>
          </a:solidFill>
          <a:ln w="12700">
            <a:solidFill>
              <a:srgbClr val="172A4A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059168" y="704088"/>
            <a:ext cx="1609344" cy="160934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24928" y="1069848"/>
            <a:ext cx="877824" cy="877824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4928" y="1069848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90688" y="804672"/>
            <a:ext cx="146304" cy="146304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7724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02920" y="208483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to Working Agents on AWS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2523744"/>
            <a:ext cx="4754880" cy="2743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33472"/>
            <a:ext cx="1097280" cy="2743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33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1–3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709928" y="2633472"/>
            <a:ext cx="1097280" cy="27432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9928" y="2633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SLIDES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916936" y="2633472"/>
            <a:ext cx="1371600" cy="2743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16936" y="2633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30175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 Track  ·  v1.0  ·  May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View Table of Contents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878324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Finance Transformation: Strategy to Working Agents on AWS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4048" y="676656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section header or module title to navigate directly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92608" y="932688"/>
            <a:ext cx="2816352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932688"/>
            <a:ext cx="2816352" cy="45720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93268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  The Finance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Imperative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1389888"/>
            <a:ext cx="2633472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42646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1.1  CFO Pain Points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2336" y="177393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1.2  Cost of Inaction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2336" y="212140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1.3  Why Now?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2336" y="246888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1.4  AI Capabilities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02336" y="281635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1.5  Maturity Model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02336" y="316382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1.6  ACME Today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2336" y="351129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1.7  Architecture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" y="385876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1.8  Phase Roadmap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36976" y="932688"/>
            <a:ext cx="2816352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36976" y="932688"/>
            <a:ext cx="2816352" cy="45720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6704" y="93268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  The Finance Domain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28416" y="1389888"/>
            <a:ext cx="2633472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6704" y="142646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2.1  Finance Organization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46704" y="177393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2.2  Financial Statements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46704" y="212140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2.3  P&amp;L Metrics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46704" y="246888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2.4  SaaS Metrics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46704" y="281635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2.5  FP&amp;A Calendar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46704" y="316382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2.6  Data Vocabulary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46704" y="351129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2.7  dbt Model Map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46704" y="385876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2.8  P&amp;L Visual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46704" y="420624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2.9  ARR Waterfall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81344" y="932688"/>
            <a:ext cx="2816352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81344" y="932688"/>
            <a:ext cx="2816352" cy="45720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93268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  Transformation Strategy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72784" y="1389888"/>
            <a:ext cx="2633472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142646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3.1  Use Cases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91072" y="177393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3.2  NL Querying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91072" y="212140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3.3  Variance RCA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91072" y="246888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3.4  What-If Sim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91072" y="281635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3.5  Business Case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91072" y="316382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3.6  Cost Model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91072" y="351129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3.7  Architecture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291072" y="385876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3.8  Bedrock+Lambda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291072" y="420624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3.9  AgentCore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0" y="18288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9000" dirty="0"/>
          </a:p>
        </p:txBody>
      </p:sp>
      <p:sp>
        <p:nvSpPr>
          <p:cNvPr id="4" name="Shape 2"/>
          <p:cNvSpPr/>
          <p:nvPr/>
        </p:nvSpPr>
        <p:spPr>
          <a:xfrm>
            <a:off x="502920" y="685800"/>
            <a:ext cx="54864" cy="137160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85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9144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233172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1.1  CFO Pain Points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272491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1.2  Cost of Inaction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311810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1.3  Why Now?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351129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1.4  AI Capabilities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390448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1.5  Maturity Model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035808" y="233172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1.6  ACME Today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035808" y="272491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1.7  Architecture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35808" y="311810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1.8  Phase Roadmap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4553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Contents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4878324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41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MODULE 1.1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CFO Pain Points This System Solves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Deloitte CFO Survey 2024 + ACME Finance close-process analysis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10896" y="960120"/>
            <a:ext cx="162763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" y="960120"/>
            <a:ext cx="54864" cy="3200400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161288"/>
            <a:ext cx="475488" cy="475488"/>
          </a:xfrm>
          <a:prstGeom prst="ellipse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161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2336" y="11430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2336" y="173736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Takes Too Long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2336" y="2130552"/>
            <a:ext cx="1444752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194560"/>
            <a:ext cx="1444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 averages 6.4 days. FP&amp;A spends 3 days on data wrangling — not analysis.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43684" y="960120"/>
            <a:ext cx="162763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43684" y="960120"/>
            <a:ext cx="54864" cy="3200400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5748" y="1161288"/>
            <a:ext cx="475488" cy="475488"/>
          </a:xfrm>
          <a:prstGeom prst="ellipse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55748" y="1161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135124" y="11430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35124" y="173736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Lag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35124" y="2130552"/>
            <a:ext cx="1444752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35124" y="2194560"/>
            <a:ext cx="1444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 takes 2–3 days per analyst. Board needs answers in hours.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776472" y="960120"/>
            <a:ext cx="162763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76472" y="960120"/>
            <a:ext cx="54864" cy="320040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88536" y="1161288"/>
            <a:ext cx="475488" cy="475488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88536" y="1161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867912" y="11430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67912" y="173736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Drift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67912" y="2130552"/>
            <a:ext cx="1444752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67912" y="2194560"/>
            <a:ext cx="1444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rolling forecasts diverge 8–12% by Q3. No version control, manual inputs.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09260" y="960120"/>
            <a:ext cx="162763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09260" y="960120"/>
            <a:ext cx="54864" cy="320040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21324" y="1161288"/>
            <a:ext cx="475488" cy="475488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21324" y="1161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600700" y="11430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00700" y="173736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Bottleneck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00700" y="2130552"/>
            <a:ext cx="1444752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00700" y="2194560"/>
            <a:ext cx="1444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ad-hoc question requires SQL or IT ticket. 48-hour lag kills agility.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42048" y="960120"/>
            <a:ext cx="162763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42048" y="960120"/>
            <a:ext cx="54864" cy="320040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54112" y="1161288"/>
            <a:ext cx="475488" cy="475488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54112" y="1161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333488" y="11430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33488" y="173736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Hours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333488" y="2130552"/>
            <a:ext cx="1444752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33488" y="2194560"/>
            <a:ext cx="1444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package narrative takes a full day. It's 80% formatting, 20% insight.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MODULE 1.2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Staying Manual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Calculations: 12 FP&amp;A analysts × $125K fully-loaded cost × FY2024 close data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02996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1389888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515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Time on Wrangling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12527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" y="16550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McKinsey 2024 Finance Survey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487168" y="960120"/>
            <a:ext cx="202996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87168" y="960120"/>
            <a:ext cx="54864" cy="138988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24328" y="10515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(Manual Close)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24328" y="12527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$1.9M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624328" y="16550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analysts × $125K × 62% wasted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654296" y="960120"/>
            <a:ext cx="202996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54296" y="960120"/>
            <a:ext cx="54864" cy="138988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10515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Variance Query Time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91456" y="12527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days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791456" y="16550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asked → answer delivered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821424" y="960120"/>
            <a:ext cx="198424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21424" y="960120"/>
            <a:ext cx="54864" cy="138988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58584" y="105156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Miss Rate (Q3)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958584" y="125272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958584" y="165506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rolling forecast MAPE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0040" y="2487168"/>
            <a:ext cx="8503920" cy="1481328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487168"/>
            <a:ext cx="54864" cy="148132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" y="2560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AI: Projected Improvements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" y="29077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Duration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1208" y="31089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days  →  3.5 days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1208" y="33284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−45%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606040" y="29077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RCA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606040" y="31089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days  →  4 hours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606040" y="33284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−93%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690872" y="29077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on Wrangling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90872" y="31089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 →  18%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90872" y="33284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−44 pts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75704" y="29077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MAPE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75704" y="31089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  →  6.2%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775704" y="33284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+46%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MODULE 1.3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Finance AI Works Now — and Why 2019 Failed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capability shifts converged in 2024: foundation models + managed AWS services + analytics engineering standards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02996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354787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1088136"/>
            <a:ext cx="502920" cy="201168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0881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29768" y="1362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Attempts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1618488"/>
            <a:ext cx="182880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691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NLP needs 50K+ training examples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29768" y="21305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managed LLM APIs — GPT-2 only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9768" y="256946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Manual ETL pipelines, no dbt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9768" y="300837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SageMaker ML engineering required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29768" y="34472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Result: $2M+ projects, abandoned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59736" y="960120"/>
            <a:ext cx="202996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59736" y="960120"/>
            <a:ext cx="54864" cy="354787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9464" y="1088136"/>
            <a:ext cx="502920" cy="20116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9464" y="10881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569464" y="1362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51176" y="1618488"/>
            <a:ext cx="182880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9464" y="1691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GPT-3: few-shot prompting works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69464" y="21305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AWS JumpStart adds foundation models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69464" y="256946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dbt emerges as analytics standard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69464" y="300837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agent orchestration or tool use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569464" y="34472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Still: hallucinations, no grounding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99432" y="960120"/>
            <a:ext cx="202996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99432" y="960120"/>
            <a:ext cx="54864" cy="354787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1088136"/>
            <a:ext cx="502920" cy="2011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10881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09160" y="1362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 Point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90872" y="1618488"/>
            <a:ext cx="182880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1691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Claude 3 / GPT-4: reasoning + tools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09160" y="21305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AWS Bedrock GA — enterprise-grade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09160" y="256946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AgentCore GA: memory + gateway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09160" y="300837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dbt marts layer mature at ACME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09160" y="34472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Result: 6-week build, all managed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739128" y="960120"/>
            <a:ext cx="202996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39128" y="960120"/>
            <a:ext cx="54864" cy="354787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48856" y="1088136"/>
            <a:ext cx="502920" cy="2011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48856" y="10881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848856" y="1362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Today ✓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30568" y="1618488"/>
            <a:ext cx="182880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48856" y="1691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Bedrock Agent + 5 Lambda tools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848856" y="21305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AgentCore Gateway routes tools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48856" y="256946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AgentCore Memory: cross-session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848856" y="300837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Streamlit + FastAPI UI live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48856" y="34472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NL query → Redshift in &lt; 3s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MODULE 1.4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Capabilities That Power Finance Automation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capability maps to one or more Lambda tools in the ACME Finance architecture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74320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354787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" y="1042416"/>
            <a:ext cx="475488" cy="475488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042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88136" y="107899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" y="159105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Understanding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8056" y="193852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finance questions into Redshift SQL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9768" y="2176272"/>
            <a:ext cx="250545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" y="2231136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Analyst: "Show EMEA op margin Q3 vs Q4"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8056" y="2615184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Agent: entity=EMEA, metric=op_margin, comparison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48056" y="299923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text_to_sql Lambda generates parameterised SQL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48056" y="3383280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Zero SQL knowledge required from FP&amp;A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8056" y="4242816"/>
            <a:ext cx="1302106" cy="2011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" y="4242816"/>
            <a:ext cx="13021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text_to_sql Lambda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264408" y="960120"/>
            <a:ext cx="274320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64408" y="960120"/>
            <a:ext cx="54864" cy="3547872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1042416"/>
            <a:ext cx="475488" cy="475488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1042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032504" y="107899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92424" y="159105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Root-Cause Analysis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92424" y="193852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variance drivers from raw actuals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74136" y="2176272"/>
            <a:ext cx="250545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92424" y="2231136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variance_rca queries fct_gl_entries vs plan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92424" y="2615184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 ranks drivers by magnitude + significance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392424" y="299923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Generates commentary: "EMEA R&amp;D +$4.2M due to…"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92424" y="3383280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2-day analyst task → 4-minute automated run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92424" y="4242816"/>
            <a:ext cx="1364285" cy="20116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92424" y="4242816"/>
            <a:ext cx="13642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variance_rca Lambda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208776" y="960120"/>
            <a:ext cx="274320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08776" y="960120"/>
            <a:ext cx="54864" cy="354787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73368" y="1042416"/>
            <a:ext cx="475488" cy="475488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73368" y="1042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976872" y="107899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36792" y="159105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Simulation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336792" y="193852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downstream P&amp;L impact of decisions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18504" y="2176272"/>
            <a:ext cx="250545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36792" y="2231136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whatif_sim: % change on any cost/revenue line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36792" y="2615184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forecast: 4-quarter projection (statsforecast)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36792" y="299923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describe_metric: instant business definitions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36792" y="3383280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 chains tools for multi-step analyses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336792" y="4242816"/>
            <a:ext cx="1986077" cy="20116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36792" y="4242816"/>
            <a:ext cx="19860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whatif_sim + forecast Lambdas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MODULE 1.5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AI Maturity Model — Four Levels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is completing Level 2 (Augmented). Target: Level 3 by Q4 FY2026.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02996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3547872"/>
          </a:xfrm>
          <a:prstGeom prst="rect">
            <a:avLst/>
          </a:prstGeom>
          <a:solidFill>
            <a:srgbClr val="6B7689"/>
          </a:solidFill>
          <a:ln w="12700">
            <a:solidFill>
              <a:srgbClr val="6B76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1247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" y="143560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" y="1746504"/>
            <a:ext cx="991210" cy="201168"/>
          </a:xfrm>
          <a:prstGeom prst="rect">
            <a:avLst/>
          </a:prstGeom>
          <a:solidFill>
            <a:srgbClr val="6B7689"/>
          </a:solidFill>
          <a:ln w="12700">
            <a:solidFill>
              <a:srgbClr val="6B76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1746504"/>
            <a:ext cx="9912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— FY2023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11480" y="2002536"/>
            <a:ext cx="182880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" y="20574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NL query to SQL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8056" y="246888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Ad-hoc metric Q&amp;A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8056" y="28803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memory or tools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48056" y="32918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Analyst still formats output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41448" y="960120"/>
            <a:ext cx="2029968" cy="32918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41448" y="96012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CURRENT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441448" y="1289304"/>
            <a:ext cx="2029968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41448" y="1289304"/>
            <a:ext cx="54864" cy="321868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9464" y="145389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569464" y="17647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51176" y="2075688"/>
            <a:ext cx="1302106" cy="2011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51176" y="2075688"/>
            <a:ext cx="13021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NOW (Phase 8)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532888" y="2331720"/>
            <a:ext cx="182880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9464" y="2386584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Automated variance RCA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569464" y="2798064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What-if simulation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69464" y="3209544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Cross-session memory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69464" y="3621024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 chaining 5 tools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62856" y="960120"/>
            <a:ext cx="202996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62856" y="960120"/>
            <a:ext cx="54864" cy="3547872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11247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4690872" y="143560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72584" y="1746504"/>
            <a:ext cx="1177747" cy="20116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72584" y="1746504"/>
            <a:ext cx="11777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FY2026 Q4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654296" y="2002536"/>
            <a:ext cx="182880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90872" y="20574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 writes commentary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90872" y="246888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Forecast auto-refreshes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690872" y="28803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Anomaly alerts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90872" y="32918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FP&amp;A reviews, not builds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684264" y="960120"/>
            <a:ext cx="202996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684264" y="960120"/>
            <a:ext cx="54864" cy="354787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12280" y="11247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6812280" y="143560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793992" y="1746504"/>
            <a:ext cx="929030" cy="20116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93992" y="1746504"/>
            <a:ext cx="9290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775704" y="2002536"/>
            <a:ext cx="182880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12280" y="20574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 triggers close steps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12280" y="246888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Self-healing pipeline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812280" y="28803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Board package end-to-end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812280" y="32918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Human: strategic only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368296" y="2423160"/>
            <a:ext cx="73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489704" y="2423160"/>
            <a:ext cx="73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611112" y="2423160"/>
            <a:ext cx="73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MODULE 1.6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Today — Current State Assessment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 complete. AgentCore Gateway + Memory operational. All 5 Lambda tools in production.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356616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24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Working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3716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text_to_sql → Redshift avg 2.8s response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17190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P&amp;L, ARR, AR aging dashboards live in Streamlit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0665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FP&amp;A team using NL query daily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4140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Bedrock Agent + AgentCore Gateway deployed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27614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AgentCore Memory: cross-session analyst context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31089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5 Lambda tools registered &amp; production-ready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3493008"/>
            <a:ext cx="356616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295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Gaps (Phase 9+)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Commentary auto-draft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" y="40599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Board package automation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434840" y="960120"/>
            <a:ext cx="4389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960120"/>
            <a:ext cx="54864" cy="356616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024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Finance Scorecard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34840" y="1389888"/>
            <a:ext cx="4389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4264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08192" y="1426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$1,807.9M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434840" y="1719072"/>
            <a:ext cx="4389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1755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08192" y="1755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$1,401.4M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434840" y="2048256"/>
            <a:ext cx="4389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20848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08192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77.5%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434840" y="2377440"/>
            <a:ext cx="4389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24140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Income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08192" y="24140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−$170.4M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434840" y="2706624"/>
            <a:ext cx="4389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27432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08192" y="2743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−9.4%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434840" y="3035808"/>
            <a:ext cx="4389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30723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08192" y="30723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| EMEA | APAC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434840" y="3364992"/>
            <a:ext cx="4389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34015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Range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08192" y="3401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202401 – 202412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434840" y="3694176"/>
            <a:ext cx="4389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37307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Movements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08192" y="3730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| expansion | contraction | churn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MODULE 1.7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— End-to-End View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are serverless or fully managed. No persistent EC2 in the AI path.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8503920" cy="676656"/>
          </a:xfrm>
          <a:prstGeom prst="rect">
            <a:avLst/>
          </a:prstGeom>
          <a:solidFill>
            <a:srgbClr val="EDE9F7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058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11680" y="1051560"/>
            <a:ext cx="320497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66544" y="1051560"/>
            <a:ext cx="30952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326380" y="1051560"/>
            <a:ext cx="320497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81244" y="1051560"/>
            <a:ext cx="30952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Proxy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480560" y="166420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783080"/>
            <a:ext cx="8503920" cy="676656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828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011680" y="1874520"/>
            <a:ext cx="210007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66544" y="1874520"/>
            <a:ext cx="1990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 (Claude Sonnet)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221480" y="1874520"/>
            <a:ext cx="210007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76344" y="1874520"/>
            <a:ext cx="1990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31280" y="1874520"/>
            <a:ext cx="210007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86144" y="1874520"/>
            <a:ext cx="1990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Memory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80560" y="248716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651760"/>
            <a:ext cx="8503920" cy="676656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697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Layer (Lambda)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011680" y="2743200"/>
            <a:ext cx="121615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066544" y="2743200"/>
            <a:ext cx="1106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text_to_sql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37560" y="2743200"/>
            <a:ext cx="121615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92424" y="2743200"/>
            <a:ext cx="1106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variance_rca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2743200"/>
            <a:ext cx="121615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18304" y="2743200"/>
            <a:ext cx="1106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989320" y="2743200"/>
            <a:ext cx="121615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044184" y="2743200"/>
            <a:ext cx="1106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whatif_sim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315200" y="2743200"/>
            <a:ext cx="121615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370064" y="2743200"/>
            <a:ext cx="1106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describe_metric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480560" y="33558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3547872"/>
            <a:ext cx="8503920" cy="676656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3593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(Redshift)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011680" y="3639312"/>
            <a:ext cx="121615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4671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066544" y="3639312"/>
            <a:ext cx="1106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mart_pl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337560" y="3639312"/>
            <a:ext cx="121615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4671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392424" y="3639312"/>
            <a:ext cx="1106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fct_arr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63440" y="3639312"/>
            <a:ext cx="121615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4671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718304" y="3639312"/>
            <a:ext cx="1106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mart_ar_aging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989320" y="3639312"/>
            <a:ext cx="121615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4671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044184" y="3639312"/>
            <a:ext cx="1106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fct_gl_entries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315200" y="3639312"/>
            <a:ext cx="121615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4671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370064" y="3639312"/>
            <a:ext cx="1106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stg_epm__plan_line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MODULE 1.8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Eight-Phase Implementation Roadmap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1–8 complete ✓. Phase 9: automated commentary. Phase 10: board package automation.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10896" y="960120"/>
            <a:ext cx="1024128" cy="40233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960120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" y="1362456"/>
            <a:ext cx="102412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4356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187452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text_to_sql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94360" y="3886200"/>
            <a:ext cx="457200" cy="45720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408176" y="960120"/>
            <a:ext cx="1024128" cy="40233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08176" y="960120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408176" y="1362456"/>
            <a:ext cx="102412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463040" y="14356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463040" y="187452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mart_pl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691640" y="3886200"/>
            <a:ext cx="457200" cy="45720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916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505456" y="960120"/>
            <a:ext cx="1024128" cy="40233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05456" y="960120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05456" y="1362456"/>
            <a:ext cx="102412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60320" y="14356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60320" y="187452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fct_arr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88920" y="3886200"/>
            <a:ext cx="457200" cy="45720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889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02736" y="960120"/>
            <a:ext cx="1024128" cy="40233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960120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02736" y="1362456"/>
            <a:ext cx="102412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0" y="14356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657600" y="187452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mart_ar_aging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886200" y="3886200"/>
            <a:ext cx="457200" cy="45720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862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700016" y="960120"/>
            <a:ext cx="1024128" cy="40233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0016" y="960120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00016" y="1362456"/>
            <a:ext cx="102412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54880" y="14356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54880" y="187452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variance_rca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983480" y="3886200"/>
            <a:ext cx="457200" cy="45720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797296" y="960120"/>
            <a:ext cx="1024128" cy="40233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97296" y="960120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797296" y="1362456"/>
            <a:ext cx="102412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852160" y="14356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852160" y="187452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whatif_sim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080760" y="3886200"/>
            <a:ext cx="457200" cy="45720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807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894576" y="960120"/>
            <a:ext cx="1024128" cy="40233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4576" y="960120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894576" y="1362456"/>
            <a:ext cx="102412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949440" y="14356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949440" y="187452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routing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178040" y="3886200"/>
            <a:ext cx="457200" cy="45720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780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7991856" y="960120"/>
            <a:ext cx="1024128" cy="40233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91856" y="960120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7991856" y="1362456"/>
            <a:ext cx="102412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8046720" y="14356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046720" y="187452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8275320" y="3886200"/>
            <a:ext cx="457200" cy="45720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753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310896" y="4407408"/>
            <a:ext cx="1488643" cy="2011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0896" y="4407408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Phases 1–8 Complete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2103120" y="4407408"/>
            <a:ext cx="1364285" cy="2011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03120" y="4407408"/>
            <a:ext cx="13642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9: Commentary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3794760" y="4407408"/>
            <a:ext cx="1613002" cy="20116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94760" y="4407408"/>
            <a:ext cx="16130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10: Board Package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Recap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475488"/>
            <a:ext cx="8375904" cy="1371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932688"/>
            <a:ext cx="237744" cy="237744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32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93268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CFO pain points: close lag, variance delay, forecast drift, data bottleneck, commentary hours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" y="1408176"/>
            <a:ext cx="237744" cy="237744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081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14081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$1.9M annual cost of staying manual — 12 FP&amp;A analysts at 62% time on wrangling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1883664"/>
            <a:ext cx="237744" cy="237744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883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188366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inflection: foundation models + managed Bedrock + mature dbt analytics patterns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359152"/>
            <a:ext cx="237744" cy="237744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59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31520" y="23591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capabilities: NL understanding, root-cause reasoning, scenario simulation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2834640"/>
            <a:ext cx="237744" cy="237744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834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283464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maturity levels — ACME is completing Level 2 (Augmented)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310128"/>
            <a:ext cx="237744" cy="237744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310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331012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Bedrock Agent + AgentCore Gateway + Memory + 5 Lambda tools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" y="45537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to Section 2: The Finance Domain →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58000" y="45537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u="sng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Contents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878324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Complete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41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0" y="18288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9000" dirty="0"/>
          </a:p>
        </p:txBody>
      </p:sp>
      <p:sp>
        <p:nvSpPr>
          <p:cNvPr id="4" name="Shape 2"/>
          <p:cNvSpPr/>
          <p:nvPr/>
        </p:nvSpPr>
        <p:spPr>
          <a:xfrm>
            <a:off x="502920" y="685800"/>
            <a:ext cx="54864" cy="137160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85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9144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233172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2.1  Finance Organization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272491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2.2  Financial Statements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311810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2.3  P&amp;L Metrics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351129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2.4  SaaS Metrics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390448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2.5  FP&amp;A Calendar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035808" y="233172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2.6  Data Vocabulary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035808" y="272491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2.7  dbt Model Map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35808" y="311810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2.8  P&amp;L Visual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35808" y="351129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2.9  ARR Waterfall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4553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Contents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4878324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41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Finance Organization — Who We Are Building For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 for FP&amp;A. Everything else is context.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1280160" cy="365760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96012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00200" y="960120"/>
            <a:ext cx="3520440" cy="365760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73352" y="960120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20640" y="960120"/>
            <a:ext cx="3429000" cy="365760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960120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to AI Build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325880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1325880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600200" y="1325880"/>
            <a:ext cx="3520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73352" y="1325880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board reporting, budget approval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120640" y="1325880"/>
            <a:ext cx="3429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1325880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sponsor — defines success metrics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1911096"/>
            <a:ext cx="1280160" cy="566928"/>
          </a:xfrm>
          <a:prstGeom prst="rect">
            <a:avLst/>
          </a:prstGeom>
          <a:solidFill>
            <a:srgbClr val="E2F3E9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1911096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(Financial Planning &amp; Analysis)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00200" y="1911096"/>
            <a:ext cx="3520440" cy="566928"/>
          </a:xfrm>
          <a:prstGeom prst="rect">
            <a:avLst/>
          </a:prstGeom>
          <a:solidFill>
            <a:srgbClr val="E2F3E9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73352" y="1911096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Budgeting, forecasting, variance analysis, management reporting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120640" y="1911096"/>
            <a:ext cx="3429000" cy="566928"/>
          </a:xfrm>
          <a:prstGeom prst="rect">
            <a:avLst/>
          </a:prstGeom>
          <a:solidFill>
            <a:srgbClr val="E2F3E9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93792" y="1911096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 — every tool is built for this team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2496312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2496312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/ Controller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600200" y="2496312"/>
            <a:ext cx="3520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73352" y="2496312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close, GL entries, compliance filings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120640" y="2496312"/>
            <a:ext cx="3429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93792" y="2496312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actuals data (fct_gl_entries)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3081528"/>
            <a:ext cx="12801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" y="3081528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00200" y="3081528"/>
            <a:ext cx="35204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73352" y="3081528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management, AR collections, banking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120640" y="3081528"/>
            <a:ext cx="34290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93792" y="3081528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aging consumers (mart_ar_aging)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3666744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" y="3666744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600200" y="3666744"/>
            <a:ext cx="3520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73352" y="3666744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provision, entity filings, transfer pricing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120640" y="3666744"/>
            <a:ext cx="3429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93792" y="3666744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— Phases 1–10 do not touch tax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Financial Statements Every Architect Should Know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is primary. All Phases 1–8 tools centre on it. Balance Sheet and Cash Flow are context.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74320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354787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" y="1042416"/>
            <a:ext cx="457200" cy="45720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1097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/ Income Statement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9768" y="1517904"/>
            <a:ext cx="250545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157276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8056" y="182880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Cost of Goods Sold (COGS)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8056" y="208483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Gross Profit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8056" y="234086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Operating Expenses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8056" y="259689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Sales &amp; Marketing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48056" y="285292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Research &amp; Development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8056" y="310896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General &amp; Administrative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8056" y="336499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Operating Income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29768" y="3639312"/>
            <a:ext cx="250545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3675888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  ·  Operating Margin %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29768" y="3968496"/>
            <a:ext cx="618134" cy="2011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968496"/>
            <a:ext cx="6181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mart_pl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264408" y="960120"/>
            <a:ext cx="274320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64408" y="960120"/>
            <a:ext cx="54864" cy="354787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29000" y="1042416"/>
            <a:ext cx="457200" cy="45720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995928" y="1097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74136" y="1517904"/>
            <a:ext cx="250545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92424" y="157276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Assets: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92424" y="182880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Cash &amp; equivalents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92424" y="208483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Accounts Receivable (AR)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92424" y="234086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Property &amp; Equipment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92424" y="259689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Liabilities: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392424" y="285292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Accounts Payable, Debt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92424" y="310896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= Assets − Liabilities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92424" y="336499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AR balance &amp; DSO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374136" y="3639312"/>
            <a:ext cx="250545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74136" y="3675888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Balance  ·  Days Sales Outstanding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374136" y="3968496"/>
            <a:ext cx="1302106" cy="2011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74136" y="3968496"/>
            <a:ext cx="13021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mart_ar_aging (AR)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208776" y="960120"/>
            <a:ext cx="274320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08776" y="960120"/>
            <a:ext cx="54864" cy="354787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73368" y="1042416"/>
            <a:ext cx="457200" cy="457200"/>
          </a:xfrm>
          <a:prstGeom prst="ellipse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6940296" y="1097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Statement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18504" y="1517904"/>
            <a:ext cx="250545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36792" y="157276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Operating: cash from core biz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336792" y="182880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Investing: CapEx, acquisitions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336792" y="208483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Financing: debt, equity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336792" y="234086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 = Op − CapEx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336792" y="259689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≠ Net Income (timing)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336792" y="285292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revenue affects P&amp;L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336792" y="310896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modelled in Phase 1–8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336792" y="336499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9+)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318504" y="3639312"/>
            <a:ext cx="250545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18504" y="3675888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  ·  Operating CF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318504" y="3968496"/>
            <a:ext cx="1613002" cy="20116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18504" y="3968496"/>
            <a:ext cx="16130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modelled (Phase 9+)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P&amp;L Metrics — Memorize These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and Operating Margin drive every FP&amp;A conversation. Know these cold.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137160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98755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91640" y="960120"/>
            <a:ext cx="297180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55648" y="987552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178308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987552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SaaS Range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46520" y="960120"/>
            <a:ext cx="182880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98755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FY2024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1307592"/>
            <a:ext cx="13716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33502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691640" y="1307592"/>
            <a:ext cx="2971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55648" y="133502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recognized subscriptions + services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1307592"/>
            <a:ext cx="17830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1335024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46520" y="1307592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133502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$1,807.9M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1655064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1682496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691640" y="1655064"/>
            <a:ext cx="2971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55648" y="1682496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cost of delivery (hosting, support)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1655064"/>
            <a:ext cx="1783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1682496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15–30% of revenue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446520" y="1655064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0528" y="168249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22.5% of rev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2002536"/>
            <a:ext cx="13716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202996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691640" y="2002536"/>
            <a:ext cx="2971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55648" y="2029968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− COGS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63440" y="2002536"/>
            <a:ext cx="17830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27448" y="2029968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70–85% of revenue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446520" y="2002536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0528" y="202996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$1,401.4M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0040" y="2350008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237744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691640" y="2350008"/>
            <a:ext cx="2971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55648" y="2377440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(Gross Profit / Revenue) × 100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63440" y="2350008"/>
            <a:ext cx="1783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27448" y="237744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70–85%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446520" y="2350008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10528" y="237744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77.5% ✓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20040" y="2697480"/>
            <a:ext cx="13716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272491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OpEx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691640" y="2697480"/>
            <a:ext cx="2971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55648" y="2724912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S&amp;M + R&amp;D + G&amp;A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63440" y="2697480"/>
            <a:ext cx="17830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27448" y="2724912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80–120% (growth stage)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446520" y="2697480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10528" y="272491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86.9% of rev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20040" y="3044952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4048" y="307238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Income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691640" y="3044952"/>
            <a:ext cx="2971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55648" y="307238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− Total OpEx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663440" y="3044952"/>
            <a:ext cx="1783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27448" y="3072384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 growth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46520" y="3044952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10528" y="307238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−$170.4M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20040" y="3392424"/>
            <a:ext cx="13716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4048" y="3419856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Margin %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691640" y="3392424"/>
            <a:ext cx="2971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55648" y="3419856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 Income / Revenue) × 100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663440" y="3392424"/>
            <a:ext cx="17830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27448" y="3419856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&gt;15%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446520" y="3392424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10528" y="341985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−9.4%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20040" y="3739896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84048" y="376732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691640" y="3739896"/>
            <a:ext cx="2971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755648" y="3767328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Income + Depreciation &amp; Amortization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663440" y="3739896"/>
            <a:ext cx="1783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27448" y="3767328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proxy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446520" y="3739896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510528" y="376732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−$145M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20040" y="4297680"/>
            <a:ext cx="8503920" cy="457200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502920" y="43342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R&amp;D −15% what-if: +348 bps operating margin, +$62.9M operating income. This validates the whatif_sim Lambda output.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Metrics — What Makes B2B SaaS Finance Different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fct_arr tracks all ARR movements monthly: new, expansion, contraction, churn.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86868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987552"/>
            <a:ext cx="740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88720" y="960120"/>
            <a:ext cx="164592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2728" y="98755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34640" y="960120"/>
            <a:ext cx="292608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98648" y="987552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60720" y="960120"/>
            <a:ext cx="251460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24728" y="987552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1307592"/>
            <a:ext cx="868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335024"/>
            <a:ext cx="740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188720" y="1307592"/>
            <a:ext cx="1645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52728" y="133502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834640" y="1307592"/>
            <a:ext cx="29260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98648" y="1335024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active subscriptions annualized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760720" y="1307592"/>
            <a:ext cx="25146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24728" y="1335024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growth metric; investor benchmark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1655064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1682496"/>
            <a:ext cx="740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188720" y="1655064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52728" y="1682496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Revenue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834640" y="1655064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98648" y="1682496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÷ 12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760720" y="1655064"/>
            <a:ext cx="2514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24728" y="1682496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tracking, not investor metric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2002536"/>
            <a:ext cx="868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2029968"/>
            <a:ext cx="740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 ★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188720" y="2002536"/>
            <a:ext cx="1645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52728" y="202996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834640" y="2002536"/>
            <a:ext cx="29260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98648" y="2029968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(Beg+Expand−Contract−Churn)÷Beg×100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760720" y="2002536"/>
            <a:ext cx="25146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24728" y="2029968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&gt;100% = organic growth from existing base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0040" y="2350008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2377440"/>
            <a:ext cx="740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GRR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188720" y="2350008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52728" y="2377440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Retention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834640" y="2350008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98648" y="237744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(Beg−Contract−Churn)÷Beg×100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760720" y="2350008"/>
            <a:ext cx="2514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24728" y="2377440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of NRR; excludes expansion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20040" y="2697480"/>
            <a:ext cx="868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2724912"/>
            <a:ext cx="740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188720" y="2697480"/>
            <a:ext cx="1645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52728" y="272491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Churn Rate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834640" y="2697480"/>
            <a:ext cx="29260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98648" y="2724912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ARR÷Beg ARR×100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760720" y="2697480"/>
            <a:ext cx="25146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24728" y="2724912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customers = negative ARR movement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20040" y="3044952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4048" y="3072384"/>
            <a:ext cx="740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188720" y="3044952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252728" y="307238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Cost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834640" y="3044952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98648" y="3072384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S&amp;M spend÷new customers acquired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760720" y="3044952"/>
            <a:ext cx="2514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24728" y="3072384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efficiency; LTV/CAC &gt; 3 = healthy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20040" y="3392424"/>
            <a:ext cx="868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4048" y="3419856"/>
            <a:ext cx="740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188720" y="3392424"/>
            <a:ext cx="16459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252728" y="3419856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834640" y="3392424"/>
            <a:ext cx="29260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898648" y="3419856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ARR/customer × Gross Margin%÷Churn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760720" y="3392424"/>
            <a:ext cx="25146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24728" y="3419856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on CAC spend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20040" y="3739896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84048" y="3767328"/>
            <a:ext cx="740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188720" y="3739896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252728" y="376732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Sales Outstanding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834640" y="3739896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898648" y="3767328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 Balance÷Revenue)×days in period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760720" y="3739896"/>
            <a:ext cx="2514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824728" y="3767328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speed; lower = better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20040" y="4462272"/>
            <a:ext cx="8503920" cy="310896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502920" y="44988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NRR &gt; 100% = the holy grail: organic growth from existing customers alone. ACME target: 110%+. GRR is the floor (no expansion).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FP&amp;A Calendar — What Finance Teams Do Every Month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automate the data retrieval inside each step — not the steps themselves.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304288" cy="402336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960120"/>
            <a:ext cx="2121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362456"/>
            <a:ext cx="2304288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4671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435608"/>
            <a:ext cx="2121408" cy="22860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49047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Planning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9768" y="172821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targets, expense budgets, headcount by entity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29768" y="2020824"/>
            <a:ext cx="1737360" cy="20116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0208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whatif_sim + forecast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11480" y="2350008"/>
            <a:ext cx="2121408" cy="22860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40487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Load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29768" y="264261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exported → stg_epm__plan_line (variance analysis source)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29768" y="2935224"/>
            <a:ext cx="1177747" cy="20116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935224"/>
            <a:ext cx="11777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ETL pipeline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715768" y="960120"/>
            <a:ext cx="3822192" cy="40233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07208" y="960120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15768" y="1362456"/>
            <a:ext cx="3822192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807208" y="1435608"/>
            <a:ext cx="3639312" cy="2286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25496" y="1490472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 (day 1–5)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825496" y="1728216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journal entries, reconcile GL → fct_gl_entries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825496" y="1947672"/>
            <a:ext cx="1861718" cy="2011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25496" y="1947672"/>
            <a:ext cx="18617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No AI (Accounting owns)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807208" y="2203704"/>
            <a:ext cx="3639312" cy="2286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25496" y="2258568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Report (day 3–5)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825496" y="2496312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revenue vs budget for CFO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825496" y="2715768"/>
            <a:ext cx="1737360" cy="2011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25496" y="27157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text_to_sql + summary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807208" y="2971800"/>
            <a:ext cx="3639312" cy="2286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25496" y="3026664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Report (day 7–10)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825496" y="326440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vs budget: cost center, entity, account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825496" y="3483864"/>
            <a:ext cx="1613002" cy="2011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25496" y="3483864"/>
            <a:ext cx="16130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variance_rca Lambda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807208" y="3739896"/>
            <a:ext cx="3639312" cy="2286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25496" y="3794760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Commentary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825496" y="4032504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narrative explaining variances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825496" y="4251960"/>
            <a:ext cx="2172614" cy="2011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25496" y="4251960"/>
            <a:ext cx="21726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Agent drafts numbers section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629400" y="960120"/>
            <a:ext cx="2505456" cy="402336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20840" y="96012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629400" y="1362456"/>
            <a:ext cx="250545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137A7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720840" y="1435608"/>
            <a:ext cx="2322576" cy="2286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39128" y="149047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Package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739128" y="172821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P&amp;L, ARR waterfall, AR aging, 4-quarter forecast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739128" y="2020824"/>
            <a:ext cx="1986077" cy="20116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39128" y="2020824"/>
            <a:ext cx="19860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All dashboards + forecast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720840" y="2350008"/>
            <a:ext cx="2322576" cy="2286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39128" y="240487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Prep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739128" y="264261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KPI compilation, DSO trend, NRR commentary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739128" y="2935224"/>
            <a:ext cx="2048256" cy="20116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39128" y="2935224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describe_metric + NL query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Data Vocabulary for the ACME Codebase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terms appear in every Lambda handler, every dbt model, and every API response.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1508760" cy="31089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987552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0" y="960120"/>
            <a:ext cx="3520440" cy="31089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92808" y="987552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349240" y="960120"/>
            <a:ext cx="2926080" cy="31089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13248" y="987552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Location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271016"/>
            <a:ext cx="15087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298448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Year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0" y="1271016"/>
            <a:ext cx="352044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92808" y="129844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accounting period (may not be Jan–Dec)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49240" y="1271016"/>
            <a:ext cx="29260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3248" y="1298448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fiscal_year in all mart tables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1581912"/>
            <a:ext cx="1508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1609344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(YYYYMM)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828800" y="1581912"/>
            <a:ext cx="3520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92808" y="1609344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month ID — 202403 = March 2024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349240" y="1581912"/>
            <a:ext cx="2926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13248" y="1609344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period_yyyymm — primary time key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1892808"/>
            <a:ext cx="15087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1920240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of Accounts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0" y="1892808"/>
            <a:ext cx="352044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92808" y="1920240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taxonomy of all financial categories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349240" y="1892808"/>
            <a:ext cx="29260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13248" y="192024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account_id in fct_gl_entries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2203704"/>
            <a:ext cx="1508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2231136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828800" y="2203704"/>
            <a:ext cx="3520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92808" y="2231136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unit incurring costs (e.g. Engineering)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349240" y="2203704"/>
            <a:ext cx="2926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13248" y="2231136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cost_center in variance_rca output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0040" y="2514600"/>
            <a:ext cx="15087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2542032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828800" y="2514600"/>
            <a:ext cx="352044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92808" y="2542032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subsidiary: US, EMEA, APAC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349240" y="2514600"/>
            <a:ext cx="29260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13248" y="2542032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entity_id — primary grouping dimension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0040" y="2825496"/>
            <a:ext cx="1508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2852928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28800" y="2825496"/>
            <a:ext cx="3520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92808" y="285292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results — what happened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349240" y="2825496"/>
            <a:ext cx="2926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13248" y="2852928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fct_gl_entries (source of truth)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20040" y="3136392"/>
            <a:ext cx="15087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048" y="3163824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/ Budget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828800" y="3136392"/>
            <a:ext cx="352044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92808" y="3163824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Pre-set targets — what was expected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349240" y="3136392"/>
            <a:ext cx="29260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13248" y="3163824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stg_epm__plan_line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20040" y="3447288"/>
            <a:ext cx="1508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4048" y="3474720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828800" y="3447288"/>
            <a:ext cx="3520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92808" y="3474720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− Plan (positive overage = bad for expense)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49240" y="3447288"/>
            <a:ext cx="2926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13248" y="347472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in variance_rca Lambda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20040" y="3758184"/>
            <a:ext cx="15087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4048" y="3785616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(Accounts Receivable)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1828800" y="3758184"/>
            <a:ext cx="352044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892808" y="3785616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owed to ACME by customers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349240" y="3758184"/>
            <a:ext cx="29260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13248" y="3785616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mart_ar_aging — amount column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20040" y="4069080"/>
            <a:ext cx="1508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4048" y="4096512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Bucket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1828800" y="4069080"/>
            <a:ext cx="3520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892808" y="4096512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by days overdue: 0-30, 31-60, 61-90, 90+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349240" y="4069080"/>
            <a:ext cx="2926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13248" y="4096512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aging_bucket in mart_ar_aging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20040" y="4379976"/>
            <a:ext cx="15087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84048" y="4407408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Movement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1828800" y="4379976"/>
            <a:ext cx="352044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892808" y="440740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ARR change: new/expansion/contraction/churn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349240" y="4379976"/>
            <a:ext cx="29260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13248" y="4407408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movement_type in fct_arr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Finance Concepts Map to dbt Models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query the marts layer only — never staging or intermediate.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8503920" cy="1188720"/>
          </a:xfrm>
          <a:prstGeom prst="rect">
            <a:avLst/>
          </a:prstGeom>
          <a:solidFill>
            <a:srgbClr val="F0F1F4"/>
          </a:solidFill>
          <a:ln w="12700">
            <a:solidFill>
              <a:srgbClr val="6B76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960120"/>
            <a:ext cx="1508760" cy="1188720"/>
          </a:xfrm>
          <a:prstGeom prst="rect">
            <a:avLst/>
          </a:prstGeom>
          <a:solidFill>
            <a:srgbClr val="6B7689"/>
          </a:solidFill>
          <a:ln w="12700">
            <a:solidFill>
              <a:srgbClr val="6B76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03327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LAYER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1307592"/>
            <a:ext cx="13898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Cleaned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920240" y="101498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stg_erp__gl_entries — raw GL journal entries from ERP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920240" y="128016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stg_erp__invoices — customer invoices (AR source)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20240" y="1545336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stg_erp__subscriptions — subscription records (ARR source)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20240" y="1810512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stg_epm__plan_line — budget/plan data from FP&amp;A tool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2221992"/>
            <a:ext cx="8503920" cy="1188720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221992"/>
            <a:ext cx="1508760" cy="1188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29514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LAYER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048" y="2569464"/>
            <a:ext cx="13898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applied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920240" y="2276856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int_revenue — recognized revenue by entity/period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920240" y="2542032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int_arr_movements — ARR categorized into movement types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20240" y="280720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int_ar_aging — invoices bucketed by days overdue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920240" y="307238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int_pl_components — P&amp;L line items assembled by category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3483864"/>
            <a:ext cx="8503920" cy="1188720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483864"/>
            <a:ext cx="1508760" cy="1188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557016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 LAYER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4048" y="3831336"/>
            <a:ext cx="13898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analytics — AI tools query here only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920240" y="353872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mart_pl → Full P&amp;L by entity/quarter → /metrics/pl API + P&amp;L dashboard tab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920240" y="380390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fct_arr → ARR waterfall by period/movement → /metrics/arr API + ARR tab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920240" y="406908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mart_ar_aging → Aging by bucket/segment → /metrics/ar_aging API + AR tab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920240" y="4334256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fct_gl_entries → Actuals for variance analysis → variance_rca Lambda input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P&amp;L — FY2024 Visual Breakdown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mart_pl | Entities: US, EMEA, APAC | All values in USD millions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960120"/>
            <a:ext cx="5029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105156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 Gross Profit by Entity (FY2024, $M)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1836702"/>
            <a:ext cx="502920" cy="239697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44168" y="2375451"/>
            <a:ext cx="438912" cy="1858221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2702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77240" y="163553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$1084.7M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344168" y="2174283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$840.9M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179320" y="3117281"/>
            <a:ext cx="502920" cy="1116391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6248" y="3368535"/>
            <a:ext cx="438912" cy="865137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79320" y="42702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179320" y="2916113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$505.2M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46248" y="3167367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$391.5M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581400" y="3751936"/>
            <a:ext cx="502920" cy="48173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48328" y="3860216"/>
            <a:ext cx="438912" cy="373456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1400" y="42702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81400" y="35507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$218M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148328" y="36590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$169M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77240" y="1399032"/>
            <a:ext cx="128016" cy="10972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38074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029968" y="1399032"/>
            <a:ext cx="128016" cy="109728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85416" y="138074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669280" y="960120"/>
            <a:ext cx="3154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69280" y="960120"/>
            <a:ext cx="54864" cy="64008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33872" y="10332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33872" y="12344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$1,807.9M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669280" y="1673352"/>
            <a:ext cx="3154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69280" y="1673352"/>
            <a:ext cx="54864" cy="64008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33872" y="17465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833872" y="19476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$1,401.4M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669280" y="2386584"/>
            <a:ext cx="3154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669280" y="2386584"/>
            <a:ext cx="54864" cy="64008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33872" y="24597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833872" y="26609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77.5%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669280" y="3099816"/>
            <a:ext cx="3154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669280" y="3099816"/>
            <a:ext cx="54864" cy="640080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33872" y="31729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Income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833872" y="33741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−$170.4M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5669280" y="3813048"/>
            <a:ext cx="3154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669280" y="3813048"/>
            <a:ext cx="54864" cy="640080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33872" y="38862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Margin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833872" y="4087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−9.4%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2.9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Waterfall — How Recurring Revenue Moves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fct_arr | movement_type: new, expansion, contraction, churn | FY2024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960120"/>
            <a:ext cx="6126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" y="1051560"/>
            <a:ext cx="5870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ARR Waterfall ($M)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2176272"/>
            <a:ext cx="658368" cy="205740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27024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195681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$1650M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709928" y="1827137"/>
            <a:ext cx="658368" cy="349135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18488" y="427024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+New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618488" y="1607681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+$280M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642616" y="1583990"/>
            <a:ext cx="658368" cy="243147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51176" y="427024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+Expand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51176" y="136453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+$195M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575304" y="1583990"/>
            <a:ext cx="658368" cy="105987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83864" y="427024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−Contract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83864" y="136453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-$85M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07992" y="1689977"/>
            <a:ext cx="658368" cy="149629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16552" y="427024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−Churn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416552" y="1470521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-$120M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40680" y="1839607"/>
            <a:ext cx="658368" cy="2394065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427024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349240" y="1620151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$1920M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766560" y="960120"/>
            <a:ext cx="20574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0" y="960120"/>
            <a:ext cx="54864" cy="987552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31152" y="10515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31152" y="12710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116.4%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6766560" y="2057400"/>
            <a:ext cx="2057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66560" y="2057400"/>
            <a:ext cx="54864" cy="91440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31152" y="21488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ARR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31152" y="236829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+$270M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766560" y="3081528"/>
            <a:ext cx="2057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66560" y="3081528"/>
            <a:ext cx="54864" cy="914400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31152" y="31729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31152" y="339242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7.3%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6766560" y="4105656"/>
            <a:ext cx="2057400" cy="457200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903720" y="41788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GRR  =  85.5%  (floor)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2.10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Touchpoints in the Finance Close Process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not replace the close — it automates data retrieval within each step.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8503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051560"/>
            <a:ext cx="618134" cy="201168"/>
          </a:xfrm>
          <a:prstGeom prst="rect">
            <a:avLst/>
          </a:prstGeom>
          <a:solidFill>
            <a:srgbClr val="6B7689"/>
          </a:solidFill>
          <a:ln w="12700">
            <a:solidFill>
              <a:srgbClr val="6B76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051560"/>
            <a:ext cx="6181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1–5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325880" y="10149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25880" y="1344168"/>
            <a:ext cx="1550822" cy="201168"/>
          </a:xfrm>
          <a:prstGeom prst="rect">
            <a:avLst/>
          </a:prstGeom>
          <a:solidFill>
            <a:srgbClr val="6B7689"/>
          </a:solidFill>
          <a:ln w="12700">
            <a:solidFill>
              <a:srgbClr val="6B76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1344168"/>
            <a:ext cx="15508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Manual (Accounting)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337560" y="101498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journal entries, reconcile all accounts, finalize GL. Output: fct_gl_entries updated with final actuals.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1682496"/>
            <a:ext cx="850392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1773936"/>
            <a:ext cx="618134" cy="2011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773936"/>
            <a:ext cx="6181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3–5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32588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Report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25880" y="2066544"/>
            <a:ext cx="991210" cy="2011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2066544"/>
            <a:ext cx="9912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AI-Powered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337560" y="173736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queries mart_pl for preliminary revenue vs budget. Generates formatted variance summary in seconds, not hours.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37560" y="2139696"/>
            <a:ext cx="1861718" cy="2011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139696"/>
            <a:ext cx="18617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text_to_sql + Bedrock Agent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20040" y="2404872"/>
            <a:ext cx="8503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2496312"/>
            <a:ext cx="680314" cy="20116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496312"/>
            <a:ext cx="6803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7–10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325880" y="2459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Report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325880" y="2788920"/>
            <a:ext cx="991210" cy="2011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25880" y="2788920"/>
            <a:ext cx="9912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AI-Powered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337560" y="24597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compares fct_gl_entries vs stg_epm__plan_line. Identifies and ranks top drivers by account and cost center.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37560" y="2862072"/>
            <a:ext cx="1364285" cy="20116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2862072"/>
            <a:ext cx="13642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variance_rca Lambda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20040" y="3127248"/>
            <a:ext cx="850392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3218688"/>
            <a:ext cx="618134" cy="20116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3218688"/>
            <a:ext cx="6181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10+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325880" y="3182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Commentary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325880" y="3511296"/>
            <a:ext cx="991210" cy="2011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25880" y="3511296"/>
            <a:ext cx="9912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AI-Powered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337560" y="318211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 the numbers section of management commentary: "EMEA R&amp;D over-budget $4.2M driven by…" in &lt;30 seconds.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37560" y="3584448"/>
            <a:ext cx="1799539" cy="20116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3584448"/>
            <a:ext cx="17995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 (multi-tool)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20040" y="3849624"/>
            <a:ext cx="8503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" y="3941064"/>
            <a:ext cx="555955" cy="20116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3941064"/>
            <a:ext cx="5559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325880" y="3904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Package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325880" y="4233672"/>
            <a:ext cx="991210" cy="2011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25880" y="4233672"/>
            <a:ext cx="9912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AI-Powered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337560" y="390448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P&amp;L, ARR waterfall, AR aging dashboards + 4-quarter forward forecast from forecast Lambda. FP&amp;A reviews and approves.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337560" y="4306824"/>
            <a:ext cx="2172614" cy="20116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37560" y="4306824"/>
            <a:ext cx="21726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dashboards + forecast Lambda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Quick Reference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open while building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" y="676656"/>
            <a:ext cx="8375904" cy="1371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4114800" cy="385876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77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Ratios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252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Gross Profit ÷ Revenue × 100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60934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FY2024: 77.5% ✓ (SaaS target 70–85%)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18105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0299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 Income ÷ Revenue × 100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200" y="21945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FY2024: −9.4% (growth-stage investment)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7200" y="23957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6151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(Beg + Expand − Contract − Churn) ÷ Beg × 100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7200" y="27797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Holy grail &gt;100%. ACME target: 110%+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57200" y="29809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 Balance ÷ Revenue) × Days in Period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57200" y="33649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= better. High DSO = collections risk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−15% What-If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7856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whatif_sim Lambda result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39502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+348 bps op margin  ·  +$62.9M op income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617720" y="804672"/>
            <a:ext cx="4206240" cy="385876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73168" y="877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Validation Numbers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3168" y="12252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Revenue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675120" y="1225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~$1,807.9M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73168" y="1554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Gross Profit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675120" y="1554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~$1,401.4M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73168" y="18836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Gross Margin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675120" y="1883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~77.5%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73168" y="22128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Op Income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675120" y="2212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~−$170.4M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73168" y="2542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Op Margin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75120" y="2542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~−9.4%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73168" y="28712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75120" y="2871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| EMEA | APAC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73168" y="3200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Quarters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675120" y="3200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Q1–Q4 (FY2024)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73168" y="35295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Range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675120" y="35295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202401–202412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73168" y="3858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Aging Buckets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675120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0-30 | 31-60 | 61-90 | 90+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73168" y="4187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Movements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675120" y="4187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| expansion | contraction | churn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4878324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numbers are your ground truth. If queries return different values, check dbt model logic first.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41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MODULE 2.12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Finance Analyst Persona — Who We Are Building For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every tool, every response, every output as if Sarah is the user.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926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356616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1078992"/>
            <a:ext cx="1463040" cy="1463040"/>
          </a:xfrm>
          <a:prstGeom prst="ellipse">
            <a:avLst/>
          </a:prstGeom>
          <a:solidFill>
            <a:srgbClr val="E1F4F4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078992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👩‍💼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02920" y="2633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Chen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9077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FP&amp;A Analyst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1272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Finance — US Entity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3419856"/>
            <a:ext cx="1488643" cy="20116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19856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yrs FP&amp;A experience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731520" y="3675888"/>
            <a:ext cx="991210" cy="201168"/>
          </a:xfrm>
          <a:prstGeom prst="rect">
            <a:avLst/>
          </a:prstGeom>
          <a:solidFill>
            <a:srgbClr val="6B7689"/>
          </a:solidFill>
          <a:ln w="12700">
            <a:solidFill>
              <a:srgbClr val="6B76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675888"/>
            <a:ext cx="9912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SQL skills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401568" y="960120"/>
            <a:ext cx="171907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01568" y="960120"/>
            <a:ext cx="54864" cy="3566160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9584" y="1024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Reality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93008" y="1280160"/>
            <a:ext cx="1536192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9584" y="1335024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Owns monthly variance report for US entity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29584" y="1847088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Builds budget vs actuals in Excel, exports to slides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29584" y="2359152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Spends 3hrs/day in Redshift "waiting for IT"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529584" y="2871216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Month-end: 14-hour days for 5 days straight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230368" y="960120"/>
            <a:ext cx="171907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30368" y="960120"/>
            <a:ext cx="54864" cy="356616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58384" y="1024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She Wants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21808" y="1280160"/>
            <a:ext cx="1536192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58384" y="1335024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"Why is EMEA R&amp;D over budget?" — instant answer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58384" y="1847088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Forward view: where does Q4 end up if we freeze hires?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58384" y="2359152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Draft commentary she can edit, not write from scratch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358384" y="2871216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dashboard she trusts, not 6 spreadsheets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059168" y="960120"/>
            <a:ext cx="171907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059168" y="960120"/>
            <a:ext cx="54864" cy="3566160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7184" y="1024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Trust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150608" y="1280160"/>
            <a:ext cx="1536192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87184" y="1335024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Wrong numbers — she checks everything twice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187184" y="1847088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Slow responses — she has 12 questions in a row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187184" y="2359152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Hallucinated account names or period labels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87184" y="2871216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Jargon she has to translate for the CFO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Recap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475488"/>
            <a:ext cx="8375904" cy="1371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932688"/>
            <a:ext cx="237744" cy="237744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32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93268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org: FP&amp;A is our primary user — accounting is the source of actuals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" y="1408176"/>
            <a:ext cx="237744" cy="237744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081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14081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statements: P&amp;L is primary; balance sheet and cash flow are context for phases 1–8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1883664"/>
            <a:ext cx="237744" cy="237744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883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188366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metrics: Gross Margin 77.5% and Operating Margin −9.4% drive every FP&amp;A conversation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359152"/>
            <a:ext cx="237744" cy="237744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59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31520" y="23591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metrics: ARR, NRR (&gt;100% = holy grail), GRR, Churn, CAC, LTV, DSO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2834640"/>
            <a:ext cx="237744" cy="237744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834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283464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calendar: close → flash → variance → commentary → board package (monthly cycle)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310128"/>
            <a:ext cx="237744" cy="237744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310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331012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vocabulary: period_yyyymm, entity_id, fct_gl_entries, stg_epm__plan_line mapped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3785616"/>
            <a:ext cx="237744" cy="237744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7856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31520" y="378561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 layers: AI tools query marts only — never staging or intermediate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" y="4261104"/>
            <a:ext cx="237744" cy="237744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2611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31520" y="426110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touches 4 of 5 close steps at ACME; Accounting close step remains manual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4048" y="45537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to Section 3: Transformation Strategy →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58000" y="45537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u="sng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Contents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4878324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Complete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41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0" y="18288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9000" dirty="0"/>
          </a:p>
        </p:txBody>
      </p:sp>
      <p:sp>
        <p:nvSpPr>
          <p:cNvPr id="4" name="Shape 2"/>
          <p:cNvSpPr/>
          <p:nvPr/>
        </p:nvSpPr>
        <p:spPr>
          <a:xfrm>
            <a:off x="502920" y="685800"/>
            <a:ext cx="54864" cy="137160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85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9144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233172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3.1  Use Case Portfolio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272491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3.2  NL Querying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311810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3.3  Variance RCA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351129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3.4  What-If Simulation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390448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3.5  Business Case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035808" y="233172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3.6  Cost Model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035808" y="272491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3.7  Architecture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35808" y="311810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3.8  Bedrock + Lambda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35808" y="351129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 3.9  AgentCore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4553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Contents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4878324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41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ACME Finance AI Use Case Portfolio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use cases are live in Phase 8. The Lambda tool each use case calls is shown below.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171907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0698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" y="132588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Querying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8056" y="1581912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finance questions in plain English → instant Redshift SQL + formatted answer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48056" y="2148840"/>
            <a:ext cx="1239926" cy="2011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2148840"/>
            <a:ext cx="12399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text_to_sql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48056" y="2404872"/>
            <a:ext cx="929030" cy="2011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" y="2404872"/>
            <a:ext cx="9290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154680" y="96012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960120"/>
            <a:ext cx="54864" cy="171907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82696" y="10698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82696" y="132588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Root-Cause Analysis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82696" y="1581912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identification of top budget variance drivers by account and cost center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82696" y="2148840"/>
            <a:ext cx="1302106" cy="20116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82696" y="2148840"/>
            <a:ext cx="13021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variance_rca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282696" y="2404872"/>
            <a:ext cx="1239926" cy="2011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82696" y="2404872"/>
            <a:ext cx="12399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Very High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989320" y="96012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960120"/>
            <a:ext cx="54864" cy="1719072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17336" y="10698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17336" y="132588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Forecasting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17336" y="1581912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4-quarter rolling revenue/expense forecast using statsforecast on historical patterns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117336" y="2148840"/>
            <a:ext cx="1053389" cy="20116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17336" y="2148840"/>
            <a:ext cx="10533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forecast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117336" y="2404872"/>
            <a:ext cx="929030" cy="2011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17336" y="2404872"/>
            <a:ext cx="9290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20040" y="2770632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2770632"/>
            <a:ext cx="54864" cy="171907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" y="28803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8056" y="3136392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Scenario Modelling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48056" y="3392424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on any P&amp;L line → immediate downstream impact cascade across all metrics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48056" y="3959352"/>
            <a:ext cx="1177747" cy="20116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056" y="3959352"/>
            <a:ext cx="11777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whatif_sim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48056" y="4215384"/>
            <a:ext cx="929030" cy="2011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" y="4215384"/>
            <a:ext cx="9290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154680" y="2770632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154680" y="2770632"/>
            <a:ext cx="54864" cy="171907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82696" y="28803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82696" y="3136392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Definitions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282696" y="3392424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business definition of any finance term — reduces analyst ramp time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82696" y="3959352"/>
            <a:ext cx="1488643" cy="2011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82696" y="3959352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describe_metric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282696" y="4215384"/>
            <a:ext cx="866851" cy="201168"/>
          </a:xfrm>
          <a:prstGeom prst="rect">
            <a:avLst/>
          </a:prstGeom>
          <a:solidFill>
            <a:srgbClr val="6B7689"/>
          </a:solidFill>
          <a:ln w="12700">
            <a:solidFill>
              <a:srgbClr val="6B768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82696" y="4215384"/>
            <a:ext cx="8668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Low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989320" y="2770632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989320" y="2770632"/>
            <a:ext cx="54864" cy="1719072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17336" y="28803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117336" y="3136392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Commentary Draft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117336" y="3392424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chains variance_rca + text_to_sql to draft the numbers section of board commentary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117336" y="3959352"/>
            <a:ext cx="1550822" cy="201168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17336" y="3959352"/>
            <a:ext cx="15508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Multi-tool chain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117336" y="4215384"/>
            <a:ext cx="1239926" cy="2011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17336" y="4215384"/>
            <a:ext cx="12399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Very High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Querying — How text_to_sql Works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query latency: 2.8s (NL input → formatted answer). Zero SQL knowledge required.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146304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354787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1042416"/>
            <a:ext cx="402336" cy="402336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042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15179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Input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93192" y="1828800"/>
            <a:ext cx="131673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883664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was EMEA gross margin for each quarter in FY2024 vs budget?"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92224" y="2423160"/>
            <a:ext cx="82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74520" y="960120"/>
            <a:ext cx="146304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74520" y="960120"/>
            <a:ext cx="54864" cy="3547872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04872" y="1042416"/>
            <a:ext cx="402336" cy="402336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04872" y="1042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65960" y="15179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 — Intent Parse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947672" y="1828800"/>
            <a:ext cx="131673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65960" y="1883664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EMEA  ·  Metric: gross_margin  ·  Period: Q1-Q4 FY2024  ·  Comparison: actuals vs plan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46704" y="2423160"/>
            <a:ext cx="82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29000" y="960120"/>
            <a:ext cx="146304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29000" y="960120"/>
            <a:ext cx="54864" cy="354787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59352" y="1042416"/>
            <a:ext cx="402336" cy="402336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59352" y="1042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20440" y="15179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text_to_sql Lambda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502152" y="1828800"/>
            <a:ext cx="131673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02152" y="1865376"/>
            <a:ext cx="1316736" cy="10972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38728" y="1901952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entity_id, fiscal_quarter,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SUM(gross_profit)/SUM(revenue) AS gm_pct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mart_pl WHERE entity_id='EMEA'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1,2 ORDER BY 2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4901184" y="2423160"/>
            <a:ext cx="82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83480" y="960120"/>
            <a:ext cx="146304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83480" y="960120"/>
            <a:ext cx="54864" cy="354787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13832" y="1042416"/>
            <a:ext cx="402336" cy="402336"/>
          </a:xfrm>
          <a:prstGeom prst="ellipse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1042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74920" y="15179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Data API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056632" y="1828800"/>
            <a:ext cx="131673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1883664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query, returns JSON result set (avg 1.2s for mart queries)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55664" y="2423160"/>
            <a:ext cx="82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37960" y="960120"/>
            <a:ext cx="146304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537960" y="960120"/>
            <a:ext cx="54864" cy="354787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68312" y="1042416"/>
            <a:ext cx="402336" cy="402336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68312" y="1042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629400" y="15179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— Format Response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611112" y="1828800"/>
            <a:ext cx="131673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29400" y="1883664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table, calculates variance vs plan, adds narrative: "EMEA Q3 GM was 74.2%, −3.1pp vs budget. Primary driver: hosting cost overrun in…"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RCA — Automated Root-Cause Analysis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variance_rca Lambda: fct_gl_entries vs stg_epm__plan_line. Returns ranked driver list in &lt;5s.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3566160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24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3716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FP&amp;A asks: "Why is EMEA R&amp;D over-budget in Q3?"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17007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Bedrock Agent calls variance_rca Lambda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029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Lambda queries fct_gl_entries (actuals) vs stg_epm__plan_line (budget)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3591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Calculates variance = actuals − plan for each GL account × cost center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26883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Ranks top N drivers by absolute variance magnitude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3017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Agent formats ranked list + generates commentary draft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33467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FP&amp;A edits and approves — no manual lookup required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37490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30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saved: 2–3 analyst-days → 5 minutes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960120"/>
            <a:ext cx="420624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960120"/>
            <a:ext cx="54864" cy="356616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024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13533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Q3 FY2024 — R&amp;D Variance Analysis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over-budget: +$4.2M (+18.3% vs plan)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36592" y="1828800"/>
            <a:ext cx="274320" cy="329184"/>
          </a:xfrm>
          <a:prstGeom prst="rect">
            <a:avLst/>
          </a:prstGeom>
          <a:solidFill>
            <a:srgbClr val="1E2D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1828800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10912" y="1828800"/>
            <a:ext cx="1463040" cy="329184"/>
          </a:xfrm>
          <a:prstGeom prst="rect">
            <a:avLst/>
          </a:prstGeom>
          <a:solidFill>
            <a:srgbClr val="1E2D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182880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73952" y="1828800"/>
            <a:ext cx="914400" cy="329184"/>
          </a:xfrm>
          <a:prstGeom prst="rect">
            <a:avLst/>
          </a:prstGeom>
          <a:solidFill>
            <a:srgbClr val="1E2D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182880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388352" y="1828800"/>
            <a:ext cx="731520" cy="329184"/>
          </a:xfrm>
          <a:prstGeom prst="rect">
            <a:avLst/>
          </a:prstGeom>
          <a:solidFill>
            <a:srgbClr val="1E2D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24928" y="182880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119872" y="1828800"/>
            <a:ext cx="594360" cy="329184"/>
          </a:xfrm>
          <a:prstGeom prst="rect">
            <a:avLst/>
          </a:prstGeom>
          <a:solidFill>
            <a:srgbClr val="1E2D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56448" y="1828800"/>
            <a:ext cx="521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Plan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36592" y="2176272"/>
            <a:ext cx="27432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2176272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010912" y="2176272"/>
            <a:ext cx="146304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47488" y="217627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R&amp;D – Personnel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473952" y="2176272"/>
            <a:ext cx="91440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0528" y="217627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Eng-EMEA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388352" y="2176272"/>
            <a:ext cx="73152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24928" y="217627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+$2.8M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119872" y="2176272"/>
            <a:ext cx="59436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56448" y="2176272"/>
            <a:ext cx="521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+22%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36592" y="2523744"/>
            <a:ext cx="2743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73168" y="2523744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010912" y="2523744"/>
            <a:ext cx="14630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47488" y="25237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R&amp;D – Contractors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473952" y="2523744"/>
            <a:ext cx="9144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10528" y="2523744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Eng-EMEA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388352" y="2523744"/>
            <a:ext cx="7315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24928" y="252374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+$0.9M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119872" y="2523744"/>
            <a:ext cx="5943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56448" y="2523744"/>
            <a:ext cx="521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+45%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36592" y="2871216"/>
            <a:ext cx="27432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73168" y="2871216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010912" y="2871216"/>
            <a:ext cx="146304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47488" y="287121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R&amp;D – Software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473952" y="2871216"/>
            <a:ext cx="91440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10528" y="287121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CC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388352" y="2871216"/>
            <a:ext cx="73152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24928" y="287121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+$0.5M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119872" y="2871216"/>
            <a:ext cx="594360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56448" y="2871216"/>
            <a:ext cx="521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+12%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736592" y="2907792"/>
            <a:ext cx="3995928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91456" y="2944368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Commentary Draft: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"EMEA R&amp;D over-budget by $4.2M in Q3. Primary driver is personnel costs in Eng-EMEA (+$2.8M, +22%) due to 3 additional FTE hires vs plan approved in June board meeting. Recommend: reforecast Q4 R&amp;D +$1.4M."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 — Modelling Downstream P&amp;L Impact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whatif_sim Lambda: apply % change to any line → cascades through full P&amp;L in real time.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356616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24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33502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happens to operating margin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cut R&amp;D by 15%?"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1828800"/>
            <a:ext cx="23774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836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Parameters: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176272"/>
            <a:ext cx="23774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1762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line_item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572768" y="21762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R&amp;D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2523744"/>
            <a:ext cx="23774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52374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change_pct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572768" y="252374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2871216"/>
            <a:ext cx="23774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8712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base_period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72768" y="2871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FY2024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3218688"/>
            <a:ext cx="23774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2186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cascade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572768" y="32186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27248" y="9601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27248" y="960120"/>
            <a:ext cx="54864" cy="356616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1024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Impact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82112" y="1353312"/>
            <a:ext cx="26334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36976" y="13533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Expense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151376" y="13533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$355.3M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65776" y="1353312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−$62.7M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82112" y="1700784"/>
            <a:ext cx="2633472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36976" y="170078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OpEx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151376" y="170078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$1,509M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65776" y="1700784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−$62.7M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182112" y="2048256"/>
            <a:ext cx="26334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36976" y="204825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Income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151376" y="204825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−$107.7M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65776" y="2048256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+$62.7M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182112" y="2395728"/>
            <a:ext cx="2633472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36976" y="23957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Margin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151376" y="23957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−5.96%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65776" y="2395728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+348 bps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182112" y="2743200"/>
            <a:ext cx="26334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36976" y="27432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151376" y="27432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$1,401M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65776" y="2743200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6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change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182112" y="3090672"/>
            <a:ext cx="2633472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36976" y="30906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151376" y="30906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−$82.3M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065776" y="3090672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+$62.7M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035040" y="960120"/>
            <a:ext cx="2788920" cy="3566160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217920" y="10241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144768" y="1371600"/>
            <a:ext cx="257860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144768" y="1371600"/>
            <a:ext cx="54864" cy="69494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1426464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Margin Improvement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309360" y="162763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+348 bps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44768" y="2139696"/>
            <a:ext cx="257860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144768" y="2139696"/>
            <a:ext cx="54864" cy="69494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9360" y="219456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Income Improvement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309360" y="239572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+$62.9M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144768" y="2907792"/>
            <a:ext cx="257860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144768" y="2907792"/>
            <a:ext cx="54864" cy="694944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09360" y="2962656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Op Margin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309360" y="3163824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−5.96%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144768" y="3675888"/>
            <a:ext cx="257860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144768" y="3675888"/>
            <a:ext cx="54864" cy="69494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09360" y="3730752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Time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309360" y="393192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seconds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Report Automation — Day 3 of Close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preliminary revenue vs budget in the CFO inbox before day 5 of close.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356616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24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(Before AI)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3350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Day 3: CFO asks "Where are we vs budget?"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16824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Analyst: "I need a few hours to pull the data"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0299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Export GL data → paste into Excel → format pivot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Manually calculate variances by entity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27249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Copy into PowerPoint slide → email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307238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"Take 4 hours, sometimes I miss errors at 11pm"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3438144"/>
            <a:ext cx="37490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747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time: 4+ hours | Error rate: ~8% of submissions need correction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17720" y="96012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960120"/>
            <a:ext cx="54864" cy="356616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024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(After Phase 8)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13350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CFO asks same question in Streamlit chat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00600" y="16824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Agent routes to text_to_sql Lambda → mart_pl query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00600" y="20299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Fetches actual vs budget by entity in 1.2s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00600" y="2377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Formats comparison table with variance 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00600" y="27249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Agent adds 2-line narrative for each entity mismatch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00600" y="307238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Total: 3 seconds, available 24/7 during close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3438144"/>
            <a:ext cx="37490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4747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time: 3 seconds | Error rate: 0% (query on source-of-truth mart)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— How to Justify This Investment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 must land with the CFO. Focus on FP&amp;A capacity, not technology.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057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14173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51560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FP&amp;A Capacity Freed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1252728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" y="1655064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of wasted $1.9M recovered as analysis time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514600" y="960120"/>
            <a:ext cx="2057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960120"/>
            <a:ext cx="54864" cy="14173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1051560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Analysis ROI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51760" y="1252728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651760" y="1655064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$45K AWS cost vs $1.26M analyst hours saved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709160" y="960120"/>
            <a:ext cx="2057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960120"/>
            <a:ext cx="54864" cy="141732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51560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Acceleration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0" y="1252728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-2.9 days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846320" y="1655064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→ 3.5 days. Faster close = earlier decisions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903720" y="96012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03720" y="960120"/>
            <a:ext cx="54864" cy="141732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105156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 (Phase 1–8)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040880" y="1252728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040880" y="165506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dbt + Streamlit on managed services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0040" y="2523744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523744"/>
            <a:ext cx="54864" cy="193852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" y="25968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Benefits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2834640"/>
            <a:ext cx="2542032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" y="288950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$1.9M wasted FP&amp;A capacity → recover $1.2M via AI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48056" y="323697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Close 2.9 days shorter → board decisions 2.9 days earlier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48056" y="358444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Variance analysis: 2-day delay → 4-hour turnaround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48056" y="393192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Forecast accuracy: 11.4% → 6.2% MAPE (+$18M better decisions)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64408" y="2523744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64408" y="2523744"/>
            <a:ext cx="54864" cy="193852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92424" y="25968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Build &amp; Run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55848" y="2834640"/>
            <a:ext cx="2542032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92424" y="288950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AWS infrastructure (Bedrock, Lambda, Redshift): ~$45K/yr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92424" y="323697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Engineering build time: 6 weeks × 2 engineers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92424" y="358444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Ongoing maintenance: 0.25 FTE per year estimated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392424" y="393192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Total 3-year TCO: ~$350K vs $5.7M benefit over 3 years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208776" y="2523744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08776" y="2523744"/>
            <a:ext cx="54864" cy="193852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6792" y="25968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Framing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00216" y="2834640"/>
            <a:ext cx="2542032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36792" y="288950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"We are buying back analyst time from data wrangling"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336792" y="323697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"Not replacing FP&amp;A — amplifying their strategic capacity"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336792" y="358444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"Payback period: 3.4 months from go-live"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336792" y="393192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"Risk: low — all AWS managed services, no custom models"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Cost Model — What Does This Actually Cost to Run?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costs are consumption-based. Low-usage months (e.g. between closes) cost near zero.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1554480" cy="338328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987552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74520" y="960120"/>
            <a:ext cx="2651760" cy="338328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38528" y="987552"/>
            <a:ext cx="2523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Pattern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26280" y="960120"/>
            <a:ext cx="1463040" cy="338328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987552"/>
            <a:ext cx="1335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Monthly Cost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89320" y="960120"/>
            <a:ext cx="2286000" cy="338328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53328" y="987552"/>
            <a:ext cx="2157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1298448"/>
            <a:ext cx="155448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325880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(Claude Sonnet)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74520" y="1298448"/>
            <a:ext cx="265176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38528" y="1325880"/>
            <a:ext cx="2523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agent invocations/mo @ 4K tokens avg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26280" y="1298448"/>
            <a:ext cx="14630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1325880"/>
            <a:ext cx="1335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~$180/mo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89320" y="1298448"/>
            <a:ext cx="228600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53328" y="1325880"/>
            <a:ext cx="2157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$3/M + Output $15/M tokens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1636776"/>
            <a:ext cx="15544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1664208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74520" y="1636776"/>
            <a:ext cx="26517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38528" y="1664208"/>
            <a:ext cx="2523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routing for 500 invocations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26280" y="1636776"/>
            <a:ext cx="14630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0288" y="1664208"/>
            <a:ext cx="1335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~$10/mo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989320" y="1636776"/>
            <a:ext cx="22860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53328" y="1664208"/>
            <a:ext cx="2157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Per-invocation pricing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1975104"/>
            <a:ext cx="155448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2002536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Memory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874520" y="1975104"/>
            <a:ext cx="265176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38528" y="2002536"/>
            <a:ext cx="2523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memory for 20 analysts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26280" y="1975104"/>
            <a:ext cx="14630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90288" y="2002536"/>
            <a:ext cx="1335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~$25/mo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989320" y="1975104"/>
            <a:ext cx="228600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53328" y="2002536"/>
            <a:ext cx="2157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GB stored + retrieval ops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0040" y="2313432"/>
            <a:ext cx="15544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2340864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(5 tools)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874520" y="2313432"/>
            <a:ext cx="26517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38528" y="2340864"/>
            <a:ext cx="2523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invocations × avg 8s × 1GB memory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26280" y="2313432"/>
            <a:ext cx="14630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90288" y="2340864"/>
            <a:ext cx="1335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~$15/mo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989320" y="2313432"/>
            <a:ext cx="22860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53328" y="2340864"/>
            <a:ext cx="2157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Lambda: $0.0000166667/GB-sec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20040" y="2651760"/>
            <a:ext cx="155448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2679192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Serverless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74520" y="2651760"/>
            <a:ext cx="265176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38528" y="2679192"/>
            <a:ext cx="2523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queries/day, RPU-based billing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26280" y="2651760"/>
            <a:ext cx="14630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90288" y="2679192"/>
            <a:ext cx="1335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~$180/mo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989320" y="2651760"/>
            <a:ext cx="228600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53328" y="2679192"/>
            <a:ext cx="2157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$0.375/RPU-hr, scales to zero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20040" y="2990088"/>
            <a:ext cx="15544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4048" y="3017520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(artifacts)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874520" y="2990088"/>
            <a:ext cx="26517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938528" y="3017520"/>
            <a:ext cx="2523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logs, PPTX artifacts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526280" y="2990088"/>
            <a:ext cx="14630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90288" y="3017520"/>
            <a:ext cx="1335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~$2/mo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989320" y="2990088"/>
            <a:ext cx="22860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53328" y="3017520"/>
            <a:ext cx="2157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 at this scale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20040" y="3328416"/>
            <a:ext cx="155448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4048" y="3355848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on ECS Fargate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874520" y="3328416"/>
            <a:ext cx="265176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38528" y="3355848"/>
            <a:ext cx="2523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vCPU / 0.5GB, always-on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526280" y="3328416"/>
            <a:ext cx="14630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90288" y="3355848"/>
            <a:ext cx="1335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~$12/mo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989320" y="3328416"/>
            <a:ext cx="228600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53328" y="3355848"/>
            <a:ext cx="2157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Lambda URL for lower cost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20040" y="3666744"/>
            <a:ext cx="15544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84048" y="3694176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874520" y="3666744"/>
            <a:ext cx="26517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938528" y="3694176"/>
            <a:ext cx="2523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526280" y="3666744"/>
            <a:ext cx="14630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90288" y="3694176"/>
            <a:ext cx="1335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~$424/mo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989320" y="3666744"/>
            <a:ext cx="22860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053328" y="3694176"/>
            <a:ext cx="2157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$5,088/year for full platform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20040" y="4297680"/>
            <a:ext cx="8503920" cy="384048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502920" y="433425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Actual costs scale with usage. Typical close-month (heavy): ~$650. Off-month (light): ~$180. Annual blended: ~$5,100.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Component Reference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deployed via Terraform. IaC in infra/modules/bedrock/ and infra/envs/dev/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1371600" cy="31089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98755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91640" y="960120"/>
            <a:ext cx="1097280" cy="31089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55648" y="98755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88920" y="960120"/>
            <a:ext cx="2194560" cy="31089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52928" y="98755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83480" y="960120"/>
            <a:ext cx="3291840" cy="31089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98755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Config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1271016"/>
            <a:ext cx="13716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298448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691640" y="1271016"/>
            <a:ext cx="10972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55648" y="129844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app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88920" y="1271016"/>
            <a:ext cx="21945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52928" y="1298448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dashboard UI + chat interface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983480" y="1271016"/>
            <a:ext cx="329184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129844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st.session_state for memoryId; tabs: P&amp;L, ARR, AR, Chat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1581912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160934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691640" y="1581912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55648" y="160934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REST API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88920" y="1581912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52928" y="160934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between Streamlit and AWS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983480" y="1581912"/>
            <a:ext cx="3291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160934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 invokes Bedrock Agent; GET /metrics/* queries Redshift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1892808"/>
            <a:ext cx="13716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192024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691640" y="1892808"/>
            <a:ext cx="10972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55648" y="19202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88920" y="1892808"/>
            <a:ext cx="21945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52928" y="192024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orchestration + ReAct loop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983480" y="1892808"/>
            <a:ext cx="329184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47488" y="192024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claude-sonnet-4; action groups → Gateway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0040" y="2203704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223113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691640" y="2203704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55648" y="223113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88920" y="2203704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52928" y="2231136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registry + routing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983480" y="2203704"/>
            <a:ext cx="3291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47488" y="223113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Lambda targets; auth via IAM; rate limiting built-in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20040" y="2514600"/>
            <a:ext cx="13716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254203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Memory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691640" y="2514600"/>
            <a:ext cx="10972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55648" y="254203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managed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88920" y="2514600"/>
            <a:ext cx="21945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52928" y="254203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analyst context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983480" y="2514600"/>
            <a:ext cx="329184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47488" y="254203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strategy; memoryId = analyst user ID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20040" y="2825496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4048" y="2852928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text_to_sql Lambda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691640" y="2825496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55648" y="285292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Python/Node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788920" y="2825496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52928" y="2852928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SQL → Redshift query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983480" y="2825496"/>
            <a:ext cx="3291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47488" y="285292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Bedrock for SQL gen; Redshift Data API for exec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20040" y="3136392"/>
            <a:ext cx="13716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4048" y="316382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variance_rca Lambda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691640" y="3136392"/>
            <a:ext cx="10972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55648" y="316382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788920" y="3136392"/>
            <a:ext cx="21945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852928" y="316382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root-cause analysis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983480" y="3136392"/>
            <a:ext cx="329184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47488" y="316382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fct_gl_entries + stg_epm__plan_line; ranks drivers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20040" y="3447288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84048" y="347472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Lambda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691640" y="3447288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755648" y="347472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788920" y="3447288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852928" y="347472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Revenue/expense forecasting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983480" y="3447288"/>
            <a:ext cx="3291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47488" y="347472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statsforecast library; 4-quarter horizon; entity-level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20040" y="3758184"/>
            <a:ext cx="13716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84048" y="378561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whatif_sim Lambda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691640" y="3758184"/>
            <a:ext cx="10972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755648" y="378561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2788920" y="3758184"/>
            <a:ext cx="219456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852928" y="3785616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scenario modelling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983480" y="3758184"/>
            <a:ext cx="329184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047488" y="378561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% delta; cascades through mart_pl structure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20040" y="4069080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84048" y="409651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describe_metric Lambda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1691640" y="4069080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755648" y="409651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2788920" y="4069080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852928" y="409651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metric definitions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983480" y="4069080"/>
            <a:ext cx="3291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047488" y="409651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glossary lookup; returns definition + formula + ACME location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3.9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 + Lambda Tools — The Core Loop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loop: Reason → Act (call tool) → Observe (read result) → Reason again.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219456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6696" y="1042416"/>
            <a:ext cx="658368" cy="658368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10424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9768" y="1792224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reads question + context. Plans which tool to call and with what args.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340864" y="1874520"/>
            <a:ext cx="82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14600" y="96012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14600" y="960120"/>
            <a:ext cx="54864" cy="219456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91256" y="1042416"/>
            <a:ext cx="658368" cy="658368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91256" y="10424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24328" y="1792224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AgentCore Gateway → routes to correct Lambda. Passes structured args.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35424" y="1874520"/>
            <a:ext cx="82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960120"/>
            <a:ext cx="54864" cy="219456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85816" y="1042416"/>
            <a:ext cx="658368" cy="658368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85816" y="10424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18888" y="1792224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Lambda result (JSON). Reads the data. Decides: answer now or call next tool?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729984" y="1874520"/>
            <a:ext cx="82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03720" y="96012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03720" y="960120"/>
            <a:ext cx="54864" cy="219456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0376" y="1042416"/>
            <a:ext cx="658368" cy="658368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0376" y="10424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013448" y="1792224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final response. Cites data sources. Stores context in AgentCore Memory.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291840"/>
            <a:ext cx="8503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33649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Tool Reference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" y="3639312"/>
            <a:ext cx="1645920" cy="731520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365760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text_to_sql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38912" y="387705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SQL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38912" y="405993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+ boto3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075688" y="3639312"/>
            <a:ext cx="1645920" cy="731520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30552" y="365760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variance_rca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130552" y="387705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drivers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130552" y="405993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+ pandas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767328" y="3639312"/>
            <a:ext cx="1645920" cy="731520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22192" y="365760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22192" y="387705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4Q projection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822192" y="405993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+ statsforecast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458968" y="3639312"/>
            <a:ext cx="1645920" cy="731520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5760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whatif_sim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513832" y="387705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delta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513832" y="405993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+ numpy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150608" y="3639312"/>
            <a:ext cx="1645920" cy="731520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05472" y="365760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describe_metric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205472" y="387705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205472" y="405993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3.9 cont.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 &amp; Memory — What They Add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is GA (Oct 2025). Gateway and Memory replace Lambda action groups + session workarounds.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356616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24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387705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3716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it solves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99616" y="1371600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Lambda needed its own action group wired to each agent. Maintenance nightmare with 5+ tools.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1719072"/>
            <a:ext cx="3877056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17190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99616" y="1719072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MCP-compatible tool registry. Agent calls Gateway → Gateway routes to correct Lambda.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066544"/>
            <a:ext cx="387705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06654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99616" y="2066544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IAM + OAuth. Replaces per-Lambda invocation policies.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414016"/>
            <a:ext cx="3877056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499616" y="2414016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Per-tool throttle config. Protects Redshift from burst queries.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761488"/>
            <a:ext cx="387705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2761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499616" y="276148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CloudWatch namespace for all tool invocations. One dashboard for all 5 tools.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3108960"/>
            <a:ext cx="3877056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31089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config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499616" y="3108960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targets: text_to_sql, variance_rca, forecast, whatif_sim, describe_metric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17720" y="96012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960120"/>
            <a:ext cx="54864" cy="356616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024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Memory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1371600"/>
            <a:ext cx="405993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8304" y="13716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it solves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797296" y="137160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Bedrock Agent: no memory between sessions. Analyst re-explains context every conversation.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63440" y="1719072"/>
            <a:ext cx="4059936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17190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797296" y="1719072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persistent memory. Semantic + episodic stores per analyst.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63440" y="2066544"/>
            <a:ext cx="405993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18304" y="20665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strategy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797296" y="2066544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SEMANTIC: understands "last week we discussed EMEA margin"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63440" y="2414016"/>
            <a:ext cx="4059936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18304" y="241401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model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797296" y="2414016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sessionId = per-browser-session (ephemeral). memoryId = per-analyst user ID (persistent).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63440" y="2761488"/>
            <a:ext cx="405993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7614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change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797296" y="2761488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memoryId alongside sessionId in invoke_agent() calls.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663440" y="3108960"/>
            <a:ext cx="4059936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31089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recall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797296" y="310896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"Last month you asked about EMEA R&amp;D variance. Q3 trend continued into Q4: +$1.8M."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REFERENCE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From Zero to Phase 8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2 engineers (1 BE + 1 ML/data). All phases use Terraform for IaC.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011680" cy="36576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60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P1–2  ·  Wk 1–2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32588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" y="140817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" y="1773936"/>
            <a:ext cx="182880" cy="18288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75564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+ dbt setup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8056" y="2249424"/>
            <a:ext cx="182880" cy="18288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2311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mart_pl schema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8056" y="2724912"/>
            <a:ext cx="182880" cy="18288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7066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text_to_sql Lambda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8056" y="3200400"/>
            <a:ext cx="182880" cy="18288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1821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 v1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14600" y="960120"/>
            <a:ext cx="2011680" cy="36576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14600" y="960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P3–4  ·  Wk 3–4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14600" y="132588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37A7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624328" y="140817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42616" y="1773936"/>
            <a:ext cx="182880" cy="18288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175564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fct_arr + ARR tab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42616" y="2249424"/>
            <a:ext cx="182880" cy="18288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0360" y="22311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mart_ar_aging + AR tab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642616" y="2724912"/>
            <a:ext cx="182880" cy="18288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27066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v1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42616" y="3200400"/>
            <a:ext cx="182880" cy="18288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80360" y="31821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proxy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960120"/>
            <a:ext cx="2011680" cy="36576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960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P5–6  ·  Wk 5–6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132588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18888" y="140817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37176" y="1773936"/>
            <a:ext cx="182880" cy="18288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175564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variance_rca Lambda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37176" y="2249424"/>
            <a:ext cx="182880" cy="18288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22311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whatif_sim Lambda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37176" y="2724912"/>
            <a:ext cx="182880" cy="18288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27066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Lambda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37176" y="3200400"/>
            <a:ext cx="182880" cy="18288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4920" y="31821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describe_metric Lambda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903720" y="960120"/>
            <a:ext cx="2011680" cy="36576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03720" y="960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P7–8  ·  Wk 7–8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03720" y="132588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013448" y="140817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031736" y="1773936"/>
            <a:ext cx="182880" cy="18288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69480" y="175564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 v2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031736" y="2249424"/>
            <a:ext cx="182880" cy="18288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69480" y="22311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031736" y="2724912"/>
            <a:ext cx="182880" cy="18288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69480" y="27066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Memory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031736" y="3200400"/>
            <a:ext cx="182880" cy="18288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69480" y="31821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QA + go-live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20040" y="4434840"/>
            <a:ext cx="8503920" cy="347472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02920" y="447141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8 phases complete as of Phase 8 delivery. Phase 9 (commentary automation) targets Q3 FY2026. Phase 10 (board package) targets Q4 FY2026.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REFERENCE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Governance &amp; Production Readiness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finance AI requires audit trails, accuracy validation, and fallback procedures.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74320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354787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Monitor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280160"/>
            <a:ext cx="2542032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" y="133502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Bedrock Agent: latency P50/P95/P99 per tool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8056" y="170078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Lambda: error rate, timeout %, cold start frequency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8056" y="206654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Redshift: query execution time, slot utilization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8056" y="243230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AgentCore Memory: hit rate, recall relevance scores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8056" y="279806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 satisfaction: thumbs up/down on chat responses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8056" y="316382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freshness: last fct_gl_entries load timestamp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64408" y="960120"/>
            <a:ext cx="274320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64408" y="960120"/>
            <a:ext cx="54864" cy="354787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92424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Controls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55848" y="1280160"/>
            <a:ext cx="2542032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92424" y="133502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Validation queries: compare AI answer vs direct Redshift query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92424" y="170078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FP&amp;A sign-off required before AI output enters board materials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92424" y="206654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Hallucination guard: agent must cite source mart + period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92424" y="243230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Numeric validation: ±0.5% tolerance vs direct mart query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92424" y="279806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Monthly accuracy audit: sample 20 responses for correctness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92424" y="316382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Alert if answer deviates from mart_pl by &gt;1%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08776" y="960120"/>
            <a:ext cx="274320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08776" y="960120"/>
            <a:ext cx="54864" cy="354787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6792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0216" y="1280160"/>
            <a:ext cx="2542032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133502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IAM: per-user Redshift permissions via AgentCore Identity (Phase 10)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36792" y="170078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 log: every agent invocation logged to CloudTrail + S3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36792" y="206654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PII: no customer names in mart layer — entity/account IDs only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36792" y="243230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retention: agent sessions 90 days, memory 12 months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36792" y="279806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Change control: Lambda version pinned; Bedrock model version locked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336792" y="316382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Incident runbook: fallback to direct Streamlit query if agent fails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RECAP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— What You Can Build After This Course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3 complete. You now have the strategy, the architecture, and the domain knowledge.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71576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60120"/>
            <a:ext cx="54864" cy="162763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05156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" y="130759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Is Proven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563624"/>
            <a:ext cx="251460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1618488"/>
            <a:ext cx="2478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AgentCore + Lambda + dbt + Streamlit is production-tested at ACME. You can replicate it in 6–8 weeks.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27248" y="960120"/>
            <a:ext cx="271576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27248" y="960120"/>
            <a:ext cx="54864" cy="1627632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5264" y="105156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55264" y="130759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Is the Moat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18688" y="1563624"/>
            <a:ext cx="251460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55264" y="1618488"/>
            <a:ext cx="2478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AI fails when architects don't know FP&amp;A. You now understand variance, close cycles, and why NRR matters.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34456" y="960120"/>
            <a:ext cx="271576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34456" y="960120"/>
            <a:ext cx="54864" cy="162763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62472" y="105156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62472" y="130759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Use Case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25896" y="1563624"/>
            <a:ext cx="251460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62472" y="1618488"/>
            <a:ext cx="2478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querying (text_to_sql) has the lowest effort and highest FP&amp;A adoption. Start there. Prove value. Then add tools.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2679192"/>
            <a:ext cx="271576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679192"/>
            <a:ext cx="54864" cy="162763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" y="277063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8056" y="3026664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= Trust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3282696"/>
            <a:ext cx="251460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" y="3337560"/>
            <a:ext cx="2478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will abandon the tool after one wrong number. Build validation queries, cite sources, never hallucinate account names.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127248" y="2679192"/>
            <a:ext cx="271576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27248" y="2679192"/>
            <a:ext cx="54864" cy="162763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55264" y="277063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55264" y="3026664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It as Capacity, Not Replacement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18688" y="3282696"/>
            <a:ext cx="251460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55264" y="3337560"/>
            <a:ext cx="2478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CFO cares about reclaiming $1.9M in wasted analyst time. Lead with the business case, not the technology.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934456" y="2679192"/>
            <a:ext cx="271576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34456" y="2679192"/>
            <a:ext cx="54864" cy="1627632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62472" y="277063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62472" y="3026664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Is the Accelerator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25896" y="3282696"/>
            <a:ext cx="251460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62472" y="3337560"/>
            <a:ext cx="2478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removes action-group wiring overhead. Memory makes the agent genuinely useful for follow-up questions. Use both.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548640"/>
            <a:ext cx="1828800" cy="1828800"/>
          </a:xfrm>
          <a:prstGeom prst="rect">
            <a:avLst/>
          </a:prstGeom>
          <a:solidFill>
            <a:srgbClr val="0D1E3A"/>
          </a:solidFill>
          <a:ln w="12700">
            <a:solidFill>
              <a:srgbClr val="172A4A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50608" y="749808"/>
            <a:ext cx="1426464" cy="14264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16368" y="1115568"/>
            <a:ext cx="694944" cy="694944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16368" y="11155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90688" y="868680"/>
            <a:ext cx="128016" cy="128016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008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enough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domain knowledge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AI systems that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real FP&amp;A problems.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2340864"/>
            <a:ext cx="4754880" cy="2743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3230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technically correct ones.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sections completed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25526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41 slides  ·  ~110 minutes narrated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58444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Strategy, domain knowledge, and architecture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9136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 Lambda tools  ·  Bedrock Agent  ·  AgentCore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4187952"/>
            <a:ext cx="8275320" cy="548640"/>
          </a:xfrm>
          <a:prstGeom prst="rect">
            <a:avLst/>
          </a:prstGeom>
          <a:solidFill>
            <a:srgbClr val="0D1E3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2245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Build the labs. Start with Phase 1 — the text_to_sql Lambda and your first NL query against mart_pl.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46177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Back to Contents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878324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Finance Transformation: Strategy to Working Agents on AWS — Course Complete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Finance Transformation: Strategy to Working Agents on AWS</dc:title>
  <dc:subject>PptxGenJS Presentation</dc:subject>
  <dc:creator>ACME Finance Course</dc:creator>
  <cp:lastModifiedBy>ACME Finance Course</cp:lastModifiedBy>
  <cp:revision>1</cp:revision>
  <dcterms:created xsi:type="dcterms:W3CDTF">2026-05-09T07:00:04Z</dcterms:created>
  <dcterms:modified xsi:type="dcterms:W3CDTF">2026-05-09T07:00:04Z</dcterms:modified>
</cp:coreProperties>
</file>