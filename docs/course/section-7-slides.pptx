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0" y="0"/>
            <a:ext cx="45720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0" b="1" dirty="0">
                <a:solidFill>
                  <a:srgbClr val="13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0" dirty="0"/>
          </a:p>
        </p:txBody>
      </p:sp>
      <p:sp>
        <p:nvSpPr>
          <p:cNvPr id="4" name="Shape 2"/>
          <p:cNvSpPr/>
          <p:nvPr/>
        </p:nvSpPr>
        <p:spPr>
          <a:xfrm>
            <a:off x="502920" y="640080"/>
            <a:ext cx="54864" cy="173736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4008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58368" y="886968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Build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58368" y="155448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full ACME Finance AI stack — end to end.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58368" y="2011680"/>
            <a:ext cx="5120640" cy="13716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1031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  Setup &amp; Prerequisites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58368" y="246888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  Deploy the Data Layer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58368" y="283464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  Deploy Bedrock Agent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58368" y="32004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  Wire AgentCore Gateway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58368" y="35661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  Wire AgentCore Memory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58368" y="39319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  Lambda Analysis Tools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663440" y="21031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7.6  FastAPI Layer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663440" y="246888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7.7  Streamlit Dashboard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663440" y="283464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  End-to-End Test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663440" y="32004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7.9  Commentary &amp; Board Pack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663440" y="35661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7.10  Use Cases &amp; Testing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58368" y="446227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~150 min  ·  11 modules  ·  40 slides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80F1C"/>
          </a:solidFill>
          <a:ln w="12700">
            <a:solidFill>
              <a:srgbClr val="080F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— Hands-On Build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40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  ·  Setup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 Checklist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32688"/>
            <a:ext cx="2286000" cy="347472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56" y="960120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670048" y="932688"/>
            <a:ext cx="3255264" cy="347472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34056" y="96012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/ Command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925312" y="932688"/>
            <a:ext cx="2468880" cy="347472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89320" y="960120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84048" y="1280160"/>
            <a:ext cx="22860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" y="1307592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CLI v2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670048" y="1280160"/>
            <a:ext cx="3255264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34056" y="1307592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--version  →  2.x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925312" y="1280160"/>
            <a:ext cx="246888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89320" y="1307592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auth + Bedrock calls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84048" y="1627632"/>
            <a:ext cx="22860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" y="1655064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670048" y="1627632"/>
            <a:ext cx="3255264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34056" y="1655064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-version  →  ≥1.5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925312" y="1627632"/>
            <a:ext cx="2468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89320" y="1655064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provisioning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84048" y="1975104"/>
            <a:ext cx="22860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8056" y="2002536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670048" y="1975104"/>
            <a:ext cx="3255264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34056" y="2002536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python3 --version  →  3.11+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925312" y="1975104"/>
            <a:ext cx="246888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89320" y="2002536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Lambda, FastAPI, Streamlit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84048" y="2322576"/>
            <a:ext cx="22860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8056" y="2350008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670048" y="2322576"/>
            <a:ext cx="3255264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34056" y="2350008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--version  →  18+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925312" y="2322576"/>
            <a:ext cx="2468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89320" y="2350008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scripts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84048" y="2670048"/>
            <a:ext cx="22860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8056" y="2697480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670048" y="2670048"/>
            <a:ext cx="3255264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34056" y="269748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install -g @anthropic-ai/claude-code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925312" y="2670048"/>
            <a:ext cx="246888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89320" y="2697480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pair-programmer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84048" y="3017520"/>
            <a:ext cx="22860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8056" y="3044952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Core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670048" y="3017520"/>
            <a:ext cx="3255264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34056" y="3044952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--version  →  1.7+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925312" y="3017520"/>
            <a:ext cx="2468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89320" y="3044952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transformation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84048" y="3364992"/>
            <a:ext cx="22860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48056" y="3392424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profile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670048" y="3364992"/>
            <a:ext cx="3255264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34056" y="3392424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sso login --profile acme-admin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925312" y="3364992"/>
            <a:ext cx="246888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989320" y="3392424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profile for all resources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84048" y="3895344"/>
            <a:ext cx="8375904" cy="658368"/>
          </a:xfrm>
          <a:prstGeom prst="rect">
            <a:avLst/>
          </a:prstGeom>
          <a:solidFill>
            <a:srgbClr val="E2F3E9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384048" y="3895344"/>
            <a:ext cx="54864" cy="658368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66928" y="395020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tools pre-installed on the lab AMI. Run setup-check.sh to validate before starting.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 Setup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40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  ·  Setup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the Environment Running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32688"/>
            <a:ext cx="5120640" cy="2048256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014984"/>
            <a:ext cx="4864608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https://github.com/acme/acme-finance-ai.git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acme-finance-ai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sso login --profile acme-admin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infrastructure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init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plan -out=tfplan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apply tfplan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Apply time ~12 min. Redshift cold start ~60 s first query.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687568" y="932688"/>
            <a:ext cx="3063240" cy="204825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87568" y="932688"/>
            <a:ext cx="54864" cy="2048256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33872" y="10058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creates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1371600"/>
            <a:ext cx="91440" cy="91440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98464" y="1280160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Redshift Serverless workgroup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833872" y="1700784"/>
            <a:ext cx="91440" cy="91440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98464" y="1609344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Agent + IAM roles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833872" y="2029968"/>
            <a:ext cx="91440" cy="91440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98464" y="1938528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functions (3)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833872" y="2359152"/>
            <a:ext cx="91440" cy="91440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98464" y="2267712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Gateway + Memory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33872" y="2688336"/>
            <a:ext cx="91440" cy="91440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98464" y="2596896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buckets + KMS keys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84048" y="3108960"/>
            <a:ext cx="8375904" cy="621792"/>
          </a:xfrm>
          <a:prstGeom prst="rect">
            <a:avLst/>
          </a:prstGeom>
          <a:solidFill>
            <a:srgbClr val="FCEFD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84048" y="3108960"/>
            <a:ext cx="54864" cy="621792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3163824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6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apply fails on Bedrock: confirm acme-admin profile has bedrock:CreateAgent permission and Claude Sonnet model access is enabled in us-east-1.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 Setup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40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  ·  Setup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AI to Build AI — Claude Code Workflow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87552"/>
            <a:ext cx="1591056" cy="2615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987552"/>
            <a:ext cx="54864" cy="2615184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1097280"/>
            <a:ext cx="438912" cy="438912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0972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" y="1645920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1975104"/>
            <a:ext cx="1408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Claude what you need in plain English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084832" y="987552"/>
            <a:ext cx="1591056" cy="2615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84832" y="987552"/>
            <a:ext cx="54864" cy="2615184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60904" y="1097280"/>
            <a:ext cx="438912" cy="438912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60904" y="10972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176272" y="1645920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76272" y="1975104"/>
            <a:ext cx="1408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writes the code — Lambda, SQL, Terraform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785616" y="987552"/>
            <a:ext cx="1591056" cy="2615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85616" y="987552"/>
            <a:ext cx="54864" cy="2615184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61688" y="1097280"/>
            <a:ext cx="438912" cy="438912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61688" y="10972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877056" y="1645920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77056" y="1975104"/>
            <a:ext cx="1408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it. You are still the architect.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486400" y="987552"/>
            <a:ext cx="1591056" cy="2615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0" y="987552"/>
            <a:ext cx="54864" cy="2615184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62472" y="1097280"/>
            <a:ext cx="438912" cy="438912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62472" y="10972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577840" y="1645920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577840" y="1975104"/>
            <a:ext cx="1408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Execute. Claude reads errors and self-corrects.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187184" y="987552"/>
            <a:ext cx="1591056" cy="2615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187184" y="987552"/>
            <a:ext cx="54864" cy="2615184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63256" y="1097280"/>
            <a:ext cx="438912" cy="438912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63256" y="10972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278624" y="1645920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278624" y="1975104"/>
            <a:ext cx="1408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own the output. Git tracks every change.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84048" y="3749040"/>
            <a:ext cx="8375904" cy="731520"/>
          </a:xfrm>
          <a:prstGeom prst="rect">
            <a:avLst/>
          </a:prstGeom>
          <a:solidFill>
            <a:srgbClr val="E7F0FF"/>
          </a:solidFill>
          <a:ln w="12700">
            <a:solidFill>
              <a:srgbClr val="0B6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66928" y="3822192"/>
            <a:ext cx="8046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"Claude Code wrote ~60% of the Lambda and SQL in this section. Every line was reviewed and tested before merge."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 Setup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40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0" y="45720"/>
            <a:ext cx="40233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13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</a:t>
            </a:r>
            <a:endParaRPr lang="en-US" sz="19000" dirty="0"/>
          </a:p>
        </p:txBody>
      </p:sp>
      <p:sp>
        <p:nvSpPr>
          <p:cNvPr id="4" name="Shape 2"/>
          <p:cNvSpPr/>
          <p:nvPr/>
        </p:nvSpPr>
        <p:spPr>
          <a:xfrm>
            <a:off x="502920" y="713232"/>
            <a:ext cx="54864" cy="137160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71323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58368" y="950976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Data Layer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58368" y="1609344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+ Redshift: the foundation every tool queries.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80F1C"/>
          </a:solidFill>
          <a:ln w="12700">
            <a:solidFill>
              <a:srgbClr val="080F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— Hands-On Build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40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  ·  Deploy the Data Layer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dbt: Transforming Raw Finance Data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32688"/>
            <a:ext cx="4937760" cy="1956816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014984"/>
            <a:ext cx="4681728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dbt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dbt deps      # install packages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dbt run       # execute all models (~60 s cold start)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Expected output: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Completed successfully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Done. PASS=18 WARN=0 ERROR=0 SKIP=0 TOTAL=18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Redshift workgroup: acme-finance-dev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Database: dev  Schema: analytics_dev_marts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504688" y="932688"/>
            <a:ext cx="3246120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504688" y="932688"/>
            <a:ext cx="54864" cy="1956816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50992" y="100584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mart tables created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50992" y="1280160"/>
            <a:ext cx="1792224" cy="274320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15000" y="1307592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443216" y="1280160"/>
            <a:ext cx="1271016" cy="274320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07224" y="1307592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650992" y="1554480"/>
            <a:ext cx="1792224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15000" y="1581912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mart_pl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443216" y="1554480"/>
            <a:ext cx="1271016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07224" y="1581912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variance_rca, whatif_sim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650992" y="1828800"/>
            <a:ext cx="179222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15000" y="1856232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mart_arr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443216" y="1828800"/>
            <a:ext cx="1271016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07224" y="1856232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waterfall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650992" y="2103120"/>
            <a:ext cx="1792224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15000" y="2130552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mart_ar_aging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443216" y="2103120"/>
            <a:ext cx="1271016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2130552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aging buckets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650992" y="2377440"/>
            <a:ext cx="179222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15000" y="2404872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mart_revenue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443216" y="2377440"/>
            <a:ext cx="1271016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07224" y="2404872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forecast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650992" y="2651760"/>
            <a:ext cx="1792224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15000" y="2679192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mart_forecast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443216" y="2651760"/>
            <a:ext cx="1271016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07224" y="2679192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4-qtr projections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84048" y="29992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 note: first dbt run takes ~60 s. Subsequent runs are fast.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 Deploy the Data Layer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40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  ·  Deploy the Data Layer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Tests Pass, Marts Populated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32688"/>
            <a:ext cx="4937760" cy="1243584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014984"/>
            <a:ext cx="468172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dbt test   # PASS=42 WARN=0 ERROR=0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Spot-check in Redshift Query Editor: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COUNT(*) FROM analytics_dev_marts.mart_pl;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Result: 1,248  (rows &gt; 0 = success)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504688" y="932688"/>
            <a:ext cx="146304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504688" y="932688"/>
            <a:ext cx="54864" cy="969264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41848" y="1005840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models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641848" y="1207008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641848" y="1591056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green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7095744" y="932688"/>
            <a:ext cx="1481328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095744" y="932688"/>
            <a:ext cx="54864" cy="969264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32904" y="10058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tests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232904" y="1207008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232904" y="159105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PASS=42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504688" y="1993392"/>
            <a:ext cx="14630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504688" y="1993392"/>
            <a:ext cx="54864" cy="877824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41848" y="2066544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mart_pl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641848" y="226771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1,248 rows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641848" y="2651760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populated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7095744" y="1993392"/>
            <a:ext cx="1481328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095744" y="1993392"/>
            <a:ext cx="54864" cy="877824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32904" y="206654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mart_revenue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232904" y="226771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624 rows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232904" y="265176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populated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84048" y="2304288"/>
            <a:ext cx="4937760" cy="786384"/>
          </a:xfrm>
          <a:prstGeom prst="rect">
            <a:avLst/>
          </a:prstGeom>
          <a:solidFill>
            <a:srgbClr val="E2F3E9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84048" y="2304288"/>
            <a:ext cx="54864" cy="786384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2359152"/>
            <a:ext cx="4663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complete. All 5 mart tables populated. Every downstream tool queries these marts — get this right before moving on.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 Deploy the Data Layer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40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  ·  Deploy Bedrock Agent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Creates the Bedrock Agent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32688"/>
            <a:ext cx="4937760" cy="2048256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014984"/>
            <a:ext cx="4681728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infrastructure/modules/bedrock_agent/main.tf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"aws_bedrockagent_agent" "finance"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agent_name      = "acme-finance-agent"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foundation_model= "anthropic.claude-sonnet-4-5"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agent_resource_role_arn = aws_iam_role.bedrock.arn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instruction     = file("undefined/system_prompt.txt")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idle_session_ttl_in_seconds = 1800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"aws_bedrockagent_agent_alias" "live"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agent_id         = aws_bedrockagent_agent.finance.id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agent_alias_name = "live"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Deploy: terraform apply -target=module.bedrock_agent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Agent ID provisioned: LUUHZWRDA4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504688" y="932688"/>
            <a:ext cx="3246120" cy="204825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504688" y="932688"/>
            <a:ext cx="54864" cy="2048256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50992" y="100584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teaches: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50992" y="1371600"/>
            <a:ext cx="91440" cy="91440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15584" y="1280160"/>
            <a:ext cx="2761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fiscal calendar (Oct–Sep)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650992" y="1700784"/>
            <a:ext cx="91440" cy="91440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15584" y="1609344"/>
            <a:ext cx="2761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hierarchy (US, EMEA, APAC)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650992" y="2029968"/>
            <a:ext cx="91440" cy="91440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15584" y="1938528"/>
            <a:ext cx="2761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tool to call per query type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650992" y="2359152"/>
            <a:ext cx="91440" cy="91440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15584" y="2267712"/>
            <a:ext cx="2761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format CFO-ready answers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650992" y="2688336"/>
            <a:ext cx="91440" cy="91440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15584" y="2596896"/>
            <a:ext cx="2761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say "I don't know"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 Deploy Bedrock Agent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40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  ·  Deploy Bedrock Agent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Agent PREPARED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32688"/>
            <a:ext cx="8375904" cy="1353312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014984"/>
            <a:ext cx="81198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bedrock-agent list-agents --profile acme-admin \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--query 'agentSummaries[?agentName==`acme-finance-agent`]'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 { "agentId": "LUUHZWRDA4",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"agentStatus": "PREPARED",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"foundationModel": "anthropic.claude-sonnet-4-5" } ]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2450592"/>
            <a:ext cx="2286000" cy="329184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" y="2478024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670048" y="2450592"/>
            <a:ext cx="2834640" cy="329184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34056" y="2478024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504688" y="2450592"/>
            <a:ext cx="2798064" cy="329184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68696" y="2478024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different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84048" y="2779776"/>
            <a:ext cx="228600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" y="2807208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670048" y="2779776"/>
            <a:ext cx="283464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34056" y="2807208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LUUHZWRDA4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504688" y="2779776"/>
            <a:ext cx="2798064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68696" y="2807208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matches outputs.tf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84048" y="3108960"/>
            <a:ext cx="22860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" y="3136392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670048" y="3108960"/>
            <a:ext cx="2834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34056" y="3136392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504688" y="3108960"/>
            <a:ext cx="279806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68696" y="3136392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CREATING — wait 2 min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84048" y="3438144"/>
            <a:ext cx="228600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8056" y="3465576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670048" y="3438144"/>
            <a:ext cx="283464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34056" y="3465576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anthropic.claude-sonnet-4-5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504688" y="3438144"/>
            <a:ext cx="2798064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68696" y="3465576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match system_prompt version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84048" y="3767328"/>
            <a:ext cx="22860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8056" y="379476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670048" y="3767328"/>
            <a:ext cx="2834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34056" y="3794760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arn:aws:iam::*:role/bedrock-agent-*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504688" y="3767328"/>
            <a:ext cx="279806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68696" y="3794760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allows Bedrock + Lambda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 Deploy Bedrock Agent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40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0" y="45720"/>
            <a:ext cx="40233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13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</a:t>
            </a:r>
            <a:endParaRPr lang="en-US" sz="19000" dirty="0"/>
          </a:p>
        </p:txBody>
      </p:sp>
      <p:sp>
        <p:nvSpPr>
          <p:cNvPr id="4" name="Shape 2"/>
          <p:cNvSpPr/>
          <p:nvPr/>
        </p:nvSpPr>
        <p:spPr>
          <a:xfrm>
            <a:off x="502920" y="713232"/>
            <a:ext cx="54864" cy="137160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71323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58368" y="950976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AgentCore Gateway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58368" y="1609344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the five analysis tools to the agent.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80F1C"/>
          </a:solidFill>
          <a:ln w="12700">
            <a:solidFill>
              <a:srgbClr val="080F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— Hands-On Build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40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  ·  Wire AgentCore Gateway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Pattern: Provider Hasn't Caught Up Yet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32688"/>
            <a:ext cx="5029200" cy="2560320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014984"/>
            <a:ext cx="4773168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infrastructure/modules/agentcore/main.tf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aws_bedrockagentcore_* are NOT in hashicorp/aws v5.x.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Production pattern: pin ARNs as locals, provision via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AWS CLI/SDK, Terraform tracks via data sources.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locals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gateway_id = "acme-finance-dev-finance-tools-rrlhpdtveg"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gateway_arn = join("", [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"arn:aws:bedrock:us-east-1::agent-core/gateway/",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local.gateway_id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targets =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text_to_sql     = module.lambda_sql.arn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forecast        = module.lambda_forecast.arn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variance_rca    = module.lambda_rca.arn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whatif_sim      = module.lambda_whatif.arn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describe_metric = module.lambda_describe.arn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596128" y="932688"/>
            <a:ext cx="3154680" cy="2560320"/>
          </a:xfrm>
          <a:prstGeom prst="rect">
            <a:avLst/>
          </a:prstGeom>
          <a:solidFill>
            <a:srgbClr val="FCEFDF"/>
          </a:solidFill>
          <a:ln w="12700">
            <a:solidFill>
              <a:srgbClr val="C4671B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596128" y="932688"/>
            <a:ext cx="54864" cy="2560320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42432" y="100584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46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pattern matters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742432" y="1353312"/>
            <a:ext cx="91440" cy="91440"/>
          </a:xfrm>
          <a:prstGeom prst="ellipse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07024" y="1261872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AWS services ship before provider support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742432" y="1755648"/>
            <a:ext cx="91440" cy="91440"/>
          </a:xfrm>
          <a:prstGeom prst="ellipse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07024" y="1664208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Pinning ARNs as locals is safe + auditable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742432" y="2157984"/>
            <a:ext cx="91440" cy="91440"/>
          </a:xfrm>
          <a:prstGeom prst="ellipse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07024" y="2066544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AWS CLI to provision; TF tracks via data{ }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742432" y="2560320"/>
            <a:ext cx="91440" cy="91440"/>
          </a:xfrm>
          <a:prstGeom prst="ellipse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07024" y="2468880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Re-adopt resource block once provider v6 ships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742432" y="2962656"/>
            <a:ext cx="91440" cy="91440"/>
          </a:xfrm>
          <a:prstGeom prst="ellipse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07024" y="2871216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"Version drift" = real engagement risk — document it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84048" y="3621024"/>
            <a:ext cx="8375904" cy="475488"/>
          </a:xfrm>
          <a:prstGeom prst="rect">
            <a:avLst/>
          </a:prstGeom>
          <a:solidFill>
            <a:srgbClr val="E7F0FF"/>
          </a:solidFill>
          <a:ln w="12700">
            <a:solidFill>
              <a:srgbClr val="0B6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66928" y="367588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hashicorp/aws v5.x  ·  Gateway: acme-finance-dev-finance-tools-rrlhpdtveg  ·  5 targets registered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 Wire AgentCore Gateway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40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  ·  Wire AgentCore Gateway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All 5 Gateway Targets Active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32688"/>
            <a:ext cx="8375904" cy="987552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014984"/>
            <a:ext cx="8119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bedrockagentcore list-gateway-targets \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--gateway-id acme-finance-dev-finance-tools-rrlhpdtveg --profile acme-admin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2029968"/>
            <a:ext cx="2377440" cy="329184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" y="205740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Name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61488" y="2029968"/>
            <a:ext cx="3840480" cy="329184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25496" y="2057400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function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601968" y="2029968"/>
            <a:ext cx="1426464" cy="329184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65976" y="205740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84048" y="2359152"/>
            <a:ext cx="237744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" y="2386584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text_to_sql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761488" y="2359152"/>
            <a:ext cx="384048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25496" y="2386584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acme-finance-dev-text-to-sql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601968" y="2359152"/>
            <a:ext cx="1426464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65976" y="2386584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84048" y="2688336"/>
            <a:ext cx="23774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" y="2715768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761488" y="2688336"/>
            <a:ext cx="38404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25496" y="2715768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acme-finance-dev-forecast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601968" y="2688336"/>
            <a:ext cx="142646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65976" y="2715768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84048" y="3017520"/>
            <a:ext cx="237744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8056" y="3044952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variance_rca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761488" y="3017520"/>
            <a:ext cx="384048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25496" y="3044952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acme-finance-dev-variance-rca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601968" y="3017520"/>
            <a:ext cx="1426464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65976" y="304495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84048" y="3346704"/>
            <a:ext cx="23774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8056" y="3374136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whatif_sim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761488" y="3346704"/>
            <a:ext cx="38404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825496" y="3374136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acme-finance-dev-whatif-sim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601968" y="3346704"/>
            <a:ext cx="142646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65976" y="3374136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84048" y="3675888"/>
            <a:ext cx="237744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8056" y="370332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describe_metric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761488" y="3675888"/>
            <a:ext cx="384048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825496" y="3703320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acme-finance-dev-describe-metric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601968" y="3675888"/>
            <a:ext cx="1426464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65976" y="370332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84048" y="3822192"/>
            <a:ext cx="8375904" cy="512064"/>
          </a:xfrm>
          <a:prstGeom prst="rect">
            <a:avLst/>
          </a:prstGeom>
          <a:solidFill>
            <a:srgbClr val="E2F3E9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84048" y="3822192"/>
            <a:ext cx="54864" cy="512064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6928" y="3877056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targets ACTIVE. The Gateway maps each agent tool-call JSON to the correct Lambda ARN.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 Wire AgentCore Gateway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40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0" y="45720"/>
            <a:ext cx="40233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13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</a:t>
            </a:r>
            <a:endParaRPr lang="en-US" sz="19000" dirty="0"/>
          </a:p>
        </p:txBody>
      </p:sp>
      <p:sp>
        <p:nvSpPr>
          <p:cNvPr id="4" name="Shape 2"/>
          <p:cNvSpPr/>
          <p:nvPr/>
        </p:nvSpPr>
        <p:spPr>
          <a:xfrm>
            <a:off x="502920" y="713232"/>
            <a:ext cx="54864" cy="137160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71323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58368" y="950976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AgentCore Memory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58368" y="1609344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vs. semantic memory — what persists, what doesn't.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80F1C"/>
          </a:solidFill>
          <a:ln w="12700">
            <a:solidFill>
              <a:srgbClr val="080F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— Hands-On Build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40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  ·  Wire AgentCore Memory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IDs: sessionId vs memoryId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32688"/>
            <a:ext cx="41148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932688"/>
            <a:ext cx="54864" cy="2926080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4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sessionId  —  Ephemeral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1408176"/>
            <a:ext cx="91440" cy="91440"/>
          </a:xfrm>
          <a:prstGeom prst="ellipse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316736"/>
            <a:ext cx="3584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to one browser tab / API session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66928" y="1792224"/>
            <a:ext cx="91440" cy="91440"/>
          </a:xfrm>
          <a:prstGeom prst="ellipse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700784"/>
            <a:ext cx="3584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when session ends or TTL expires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66928" y="2176272"/>
            <a:ext cx="91440" cy="91440"/>
          </a:xfrm>
          <a:prstGeom prst="ellipse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084832"/>
            <a:ext cx="3584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Generated: uuid4() on each /chat call if omitted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66928" y="2560320"/>
            <a:ext cx="91440" cy="91440"/>
          </a:xfrm>
          <a:prstGeom prst="ellipse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468880"/>
            <a:ext cx="3584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the current conversation turn context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45152" y="932688"/>
            <a:ext cx="41148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45152" y="932688"/>
            <a:ext cx="54864" cy="292608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8032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memoryId  —  Persistent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28032" y="1408176"/>
            <a:ext cx="91440" cy="91440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92624" y="1316736"/>
            <a:ext cx="3584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to analyst (user identity)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28032" y="1792224"/>
            <a:ext cx="91440" cy="91440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92624" y="1700784"/>
            <a:ext cx="3584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Survives browser close, multi-day gaps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28032" y="2176272"/>
            <a:ext cx="91440" cy="91440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92624" y="2084832"/>
            <a:ext cx="3584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strategy: vector-indexed Q&amp;A pairs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28032" y="2560320"/>
            <a:ext cx="91440" cy="91440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2468880"/>
            <a:ext cx="3584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Recall: top-5 memory records injected pre-invoke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28032" y="2944368"/>
            <a:ext cx="91440" cy="91440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92624" y="2852928"/>
            <a:ext cx="3584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Storage: after every assistant response (30-day TTL)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84048" y="3968496"/>
            <a:ext cx="8375904" cy="493776"/>
          </a:xfrm>
          <a:prstGeom prst="rect">
            <a:avLst/>
          </a:prstGeom>
          <a:solidFill>
            <a:srgbClr val="E7F0FF"/>
          </a:solidFill>
          <a:ln w="12700">
            <a:solidFill>
              <a:srgbClr val="0B6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66928" y="402336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pass memoryId=analyst-{user_id} in every /chat call. Agent remembers entity focus and past answers across sessions.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 Wire AgentCore Memory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40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  ·  Wire AgentCore Memory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Pattern &amp; Cross-Session Verification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32688"/>
            <a:ext cx="5029200" cy="2322576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014984"/>
            <a:ext cx="4773168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Before invoke — retrieve memory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memories = bedrock_agentcore.retrieve_memory(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memoryId=f"analyst-{user_id}",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maxResults=5, strategyType="SEMANTIC")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memory_ctx = "\n".join([m["content"] for m in memories])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After invoke — store Q&amp;A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bedrock_agentcore.create_memory_record(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memoryId=f"analyst-{user_id}",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content={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"question": user_question,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"answer":   agent_response,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"entity":   entity,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"timestamp": iso_now()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596128" y="932688"/>
            <a:ext cx="3154680" cy="232257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596128" y="932688"/>
            <a:ext cx="54864" cy="2322576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42432" y="100584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cross-session recall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742432" y="1353312"/>
            <a:ext cx="91440" cy="91440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07024" y="1261872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1: "Focus on EMEA" → ask revenue Q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742432" y="1737360"/>
            <a:ext cx="91440" cy="91440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07024" y="1645920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browser / clear session state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742432" y="2121408"/>
            <a:ext cx="91440" cy="91440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07024" y="2029968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2: same memoryId → ask follow-up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742432" y="2505456"/>
            <a:ext cx="91440" cy="91440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07024" y="2414016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answers with EMEA context — no re-prompt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742432" y="2889504"/>
            <a:ext cx="91440" cy="91440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07024" y="2798064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TTL: 30 days (configurable)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84048" y="3383280"/>
            <a:ext cx="8375904" cy="530352"/>
          </a:xfrm>
          <a:prstGeom prst="rect">
            <a:avLst/>
          </a:prstGeom>
          <a:solidFill>
            <a:srgbClr val="E2F3E9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84048" y="3383280"/>
            <a:ext cx="54864" cy="530352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343814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verified when agent recalls entity focus across session boundary without being re-told.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 Wire AgentCore Memory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40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0" y="45720"/>
            <a:ext cx="40233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13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</a:t>
            </a:r>
            <a:endParaRPr lang="en-US" sz="19000" dirty="0"/>
          </a:p>
        </p:txBody>
      </p:sp>
      <p:sp>
        <p:nvSpPr>
          <p:cNvPr id="4" name="Shape 2"/>
          <p:cNvSpPr/>
          <p:nvPr/>
        </p:nvSpPr>
        <p:spPr>
          <a:xfrm>
            <a:off x="502920" y="713232"/>
            <a:ext cx="54864" cy="137160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71323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58368" y="950976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Analysis Tools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58368" y="1609344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tools that turn SQL into CFO-ready answers.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80F1C"/>
          </a:solidFill>
          <a:ln w="12700">
            <a:solidFill>
              <a:srgbClr val="080F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— Hands-On Build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40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  ·  Lambda Analysis Tools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Pattern: All Three Tools Follow This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32688"/>
            <a:ext cx="5029200" cy="2487168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014984"/>
            <a:ext cx="4773168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handler(event, context):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params   = event["parameters"]        # typed input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sql      = build_sql(params)          # parameterised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stmt_id  = redshift.execute_statement(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WorkgroupName="acme-finance-dev",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Database="dev", Sql=sql)["Id"]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wait_for_completion(stmt_id)          # poll ~2 s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rows = redshift.get_statement_result(Id=stmt_id)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{"statusCode":200,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"body": json.dumps(format_result(rows))}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596128" y="932688"/>
            <a:ext cx="315468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596128" y="932688"/>
            <a:ext cx="54864" cy="2487168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42432" y="100584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Redshift Data API benefits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742432" y="1353312"/>
            <a:ext cx="91440" cy="91440"/>
          </a:xfrm>
          <a:prstGeom prst="ellipse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07024" y="1261872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VPC or JDBC driver needed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742432" y="1755648"/>
            <a:ext cx="91440" cy="91440"/>
          </a:xfrm>
          <a:prstGeom prst="ellipse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07024" y="1664208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IAM-authenticated — no DB creds in code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742432" y="2157984"/>
            <a:ext cx="91440" cy="91440"/>
          </a:xfrm>
          <a:prstGeom prst="ellipse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07024" y="2066544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polling: Lambda waits, not the agent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742432" y="2560320"/>
            <a:ext cx="91440" cy="91440"/>
          </a:xfrm>
          <a:prstGeom prst="ellipse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07024" y="2468880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start: ~60 s first, ~2 s warm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742432" y="2962656"/>
            <a:ext cx="91440" cy="91440"/>
          </a:xfrm>
          <a:prstGeom prst="ellipse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07024" y="2871216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Schema: analytics_dev_marts (5 tables)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84048" y="3566160"/>
            <a:ext cx="2011680" cy="301752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" y="3593592"/>
            <a:ext cx="18836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395728" y="3566160"/>
            <a:ext cx="6547104" cy="301752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59736" y="3593592"/>
            <a:ext cx="6419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output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84048" y="3867912"/>
            <a:ext cx="2011680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8056" y="3895344"/>
            <a:ext cx="18836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variance_rca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395728" y="3867912"/>
            <a:ext cx="6547104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59736" y="3895344"/>
            <a:ext cx="6419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drivers[] sorted by |variance|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84048" y="4169664"/>
            <a:ext cx="20116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8056" y="4197096"/>
            <a:ext cx="18836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whatif_sim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395728" y="4169664"/>
            <a:ext cx="654710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59736" y="4197096"/>
            <a:ext cx="6419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new_margin_bps, op_income_delta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84048" y="4471416"/>
            <a:ext cx="2011680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8056" y="4498848"/>
            <a:ext cx="18836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395728" y="4471416"/>
            <a:ext cx="6547104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59736" y="4498848"/>
            <a:ext cx="6419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projections[] by quarter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 Lambda Analysis Tools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40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  ·  Lambda Analysis Tools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variance_rca: Root-Cause the Budget Gap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32688"/>
            <a:ext cx="5029200" cy="1792224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014984"/>
            <a:ext cx="4773168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Core SQL: fct_gl_entries vs stg_epm__plan_line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gl.line_item, gl.cost_center,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SUM(gl.actual_amount)                  AS actual,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SUM(ep.plan_amount)                    AS plan,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SUM(gl.actual_amount - ep.plan_amount) AS variance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analytics_dev_marts.fct_gl_entries gl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analytics_dev_marts.stg_epm__plan_line ep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gl.line_item=ep.line_item AND gl.period=ep.period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gl.entity=%(entity)s AND gl.fiscal_year=%(year)s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1,2 ORDER BY ABS(variance) DESC LIMIT %(n)s;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2834640"/>
            <a:ext cx="457200" cy="329184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" y="286207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841248" y="2834640"/>
            <a:ext cx="2011680" cy="329184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5256" y="286207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Item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852928" y="2834640"/>
            <a:ext cx="1828800" cy="329184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16936" y="2862072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Center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81728" y="2834640"/>
            <a:ext cx="1188720" cy="329184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45736" y="286207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84048" y="3163824"/>
            <a:ext cx="45720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" y="3191256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41248" y="3163824"/>
            <a:ext cx="201168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5256" y="3191256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Personnel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852928" y="3163824"/>
            <a:ext cx="182880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16936" y="3191256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EMEA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681728" y="3163824"/>
            <a:ext cx="118872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45736" y="3191256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−$4.2M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84048" y="3493008"/>
            <a:ext cx="4572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8056" y="352044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841248" y="3493008"/>
            <a:ext cx="20116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5256" y="3520440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Infra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852928" y="3493008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16936" y="3520440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EMEA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681728" y="3493008"/>
            <a:ext cx="11887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45736" y="3520440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−$1.1M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84048" y="3822192"/>
            <a:ext cx="45720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8056" y="384962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841248" y="3822192"/>
            <a:ext cx="201168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5256" y="3849624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Comp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852928" y="3822192"/>
            <a:ext cx="182880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16936" y="3849624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EMEA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681728" y="3822192"/>
            <a:ext cx="118872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45736" y="3849624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−$0.8M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596128" y="932688"/>
            <a:ext cx="3154680" cy="1792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596128" y="932688"/>
            <a:ext cx="54864" cy="1792224"/>
          </a:xfrm>
          <a:prstGeom prst="rect">
            <a:avLst/>
          </a:prstGeom>
          <a:solidFill>
            <a:srgbClr val="C63232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42432" y="100584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output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742432" y="1353312"/>
            <a:ext cx="91440" cy="91440"/>
          </a:xfrm>
          <a:prstGeom prst="ellipse">
            <a:avLst/>
          </a:prstGeom>
          <a:solidFill>
            <a:srgbClr val="C63232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07024" y="1261872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entity=EMEA, fiscal_year=2024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742432" y="1682496"/>
            <a:ext cx="91440" cy="91440"/>
          </a:xfrm>
          <a:prstGeom prst="ellipse">
            <a:avLst/>
          </a:prstGeom>
          <a:solidFill>
            <a:srgbClr val="C63232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07024" y="1591056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driver: R&amp;D Personnel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742432" y="2011680"/>
            <a:ext cx="91440" cy="91440"/>
          </a:xfrm>
          <a:prstGeom prst="ellipse">
            <a:avLst/>
          </a:prstGeom>
          <a:solidFill>
            <a:srgbClr val="C63232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07024" y="1920240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center: Engineering EMEA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742432" y="2340864"/>
            <a:ext cx="91440" cy="91440"/>
          </a:xfrm>
          <a:prstGeom prst="ellipse">
            <a:avLst/>
          </a:prstGeom>
          <a:solidFill>
            <a:srgbClr val="C63232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907024" y="2249424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Variance: −$4.2M vs plan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742432" y="2670048"/>
            <a:ext cx="91440" cy="91440"/>
          </a:xfrm>
          <a:prstGeom prst="ellipse">
            <a:avLst/>
          </a:prstGeom>
          <a:solidFill>
            <a:srgbClr val="C63232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907024" y="2578608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E2E test expected answer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84048" y="4169664"/>
            <a:ext cx="8375904" cy="475488"/>
          </a:xfrm>
          <a:prstGeom prst="rect">
            <a:avLst/>
          </a:prstGeom>
          <a:solidFill>
            <a:srgbClr val="E2F3E9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384048" y="4169664"/>
            <a:ext cx="54864" cy="475488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66928" y="422452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Verified: top driver = R&amp;D Personnel, Engineering EMEA. Expected for all E2E tests.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 Lambda Analysis Tools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40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  ·  Lambda Analysis Tools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whatif_sim: Model a Cost Change — R&amp;D −15%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32688"/>
            <a:ext cx="5029200" cy="1645920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014984"/>
            <a:ext cx="477316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payload = {"line_item": "R&amp;D", "pct_change": -0.15}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Lambda re-rolls full P&amp;L via mart_pl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Response: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"base_revenue":     1807.9,  # $M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"base_op_income":     99.4,  # $M (5.50% margin)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"new_op_income":     162.3,  # $M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"op_income_delta":    62.9,  # +$62.9M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"new_margin_bps":      898,  # 8.98%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"margin_delta_bps":    348   # +348 bps }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596128" y="932688"/>
            <a:ext cx="1499616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596128" y="932688"/>
            <a:ext cx="54864" cy="950976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33288" y="100584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(base)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733288" y="1207008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$1,807.9M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733288" y="1591056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FY2024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7223760" y="932688"/>
            <a:ext cx="1527048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223760" y="932688"/>
            <a:ext cx="54864" cy="950976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60920" y="100584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Income +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360920" y="1207008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+$62.9M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360920" y="159105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−15%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596128" y="1975104"/>
            <a:ext cx="1499616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596128" y="1975104"/>
            <a:ext cx="54864" cy="91440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33288" y="2048256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delta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733288" y="2249424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+348 bps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733288" y="2633472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5.5% → 9.0%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7223760" y="1975104"/>
            <a:ext cx="152704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223760" y="1975104"/>
            <a:ext cx="54864" cy="91440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60920" y="204825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margin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360920" y="2249424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8.98%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360920" y="263347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5.50% base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84048" y="2999232"/>
            <a:ext cx="2377440" cy="329184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8056" y="3026664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scenario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761488" y="2999232"/>
            <a:ext cx="2011680" cy="329184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25496" y="3026664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income delta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73168" y="2999232"/>
            <a:ext cx="1645920" cy="329184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37176" y="302666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delta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419088" y="2999232"/>
            <a:ext cx="1609344" cy="329184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83096" y="3026664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Pass?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84048" y="3328416"/>
            <a:ext cx="237744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8056" y="3355848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−15%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761488" y="3328416"/>
            <a:ext cx="201168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25496" y="3355848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+$62.9M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773168" y="3328416"/>
            <a:ext cx="164592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37176" y="335584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+348 bps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419088" y="3328416"/>
            <a:ext cx="1609344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83096" y="335584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84048" y="3657600"/>
            <a:ext cx="23774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8056" y="3685032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+10%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761488" y="3657600"/>
            <a:ext cx="20116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825496" y="368503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+$32.5M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773168" y="3657600"/>
            <a:ext cx="16459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37176" y="3685032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+180 bps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419088" y="3657600"/>
            <a:ext cx="160934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83096" y="368503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84048" y="3986784"/>
            <a:ext cx="237744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48056" y="4014216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COGS +5%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2761488" y="3986784"/>
            <a:ext cx="201168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825496" y="4014216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−$39.8M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773168" y="3986784"/>
            <a:ext cx="164592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37176" y="4014216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−220 bps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419088" y="3986784"/>
            <a:ext cx="1609344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83096" y="4014216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384048" y="4206240"/>
            <a:ext cx="8375904" cy="475488"/>
          </a:xfrm>
          <a:prstGeom prst="rect">
            <a:avLst/>
          </a:prstGeom>
          <a:solidFill>
            <a:srgbClr val="E2F3E9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384048" y="4206240"/>
            <a:ext cx="54864" cy="475488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66928" y="4261104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−15%: op income $99.4M → $162.3M (+$62.9M). Margin 5.50% → 8.98% (+348 bps). These are the required E2E answers.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 Lambda Analysis Tools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40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  ·  Lambda Analysis Tools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forecast: 4-Quarter Forward Projections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32688"/>
            <a:ext cx="5029200" cy="1463040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014984"/>
            <a:ext cx="477316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payload = {"entity": "US", "quarters_ahead": 4}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Reads mart_forecast (pre-computed by dbt)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"projections": [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{"quarter":"Q1 FY25","revenue":478.2,"growth_pct":6.2},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{"quarter":"Q2 FY25","revenue":492.7,"growth_pct":7.1},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{"quarter":"Q3 FY25","revenue":501.3,"growth_pct":5.4},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{"quarter":"Q4 FY25","revenue":519.8,"growth_pct":8.0}]}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2542032"/>
            <a:ext cx="1188720" cy="329184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" y="2569464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572768" y="2542032"/>
            <a:ext cx="1280160" cy="329184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36776" y="2569464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$M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852928" y="2542032"/>
            <a:ext cx="1097280" cy="329184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16936" y="2569464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Growth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950208" y="2542032"/>
            <a:ext cx="4078224" cy="329184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14216" y="2569464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84048" y="2871216"/>
            <a:ext cx="118872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" y="2898648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FY25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572768" y="2871216"/>
            <a:ext cx="128016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36776" y="2898648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$478.2M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852928" y="2871216"/>
            <a:ext cx="109728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16936" y="2898648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+6.2%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950208" y="2871216"/>
            <a:ext cx="4078224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14216" y="2898648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(actuals through Q4 FY24)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84048" y="3200400"/>
            <a:ext cx="11887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8056" y="322783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FY25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572768" y="3200400"/>
            <a:ext cx="12801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36776" y="3227832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$492.7M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852928" y="3200400"/>
            <a:ext cx="10972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16936" y="3227832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+7.1%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950208" y="3200400"/>
            <a:ext cx="407822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14216" y="3227832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84048" y="3529584"/>
            <a:ext cx="118872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8056" y="3557016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FY25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572768" y="3529584"/>
            <a:ext cx="128016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636776" y="3557016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$501.3M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852928" y="3529584"/>
            <a:ext cx="109728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16936" y="3557016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+5.4%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950208" y="3529584"/>
            <a:ext cx="4078224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14216" y="3557016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(extrapolation)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84048" y="3858768"/>
            <a:ext cx="11887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8056" y="3886200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FY25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572768" y="3858768"/>
            <a:ext cx="12801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636776" y="3886200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$519.8M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852928" y="3858768"/>
            <a:ext cx="10972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916936" y="3886200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+8.0%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950208" y="3858768"/>
            <a:ext cx="407822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014216" y="3886200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596128" y="932688"/>
            <a:ext cx="31546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5596128" y="932688"/>
            <a:ext cx="54864" cy="1463040"/>
          </a:xfrm>
          <a:prstGeom prst="rect">
            <a:avLst/>
          </a:prstGeom>
          <a:solidFill>
            <a:srgbClr val="3093A8"/>
          </a:solidFill>
          <a:ln w="12700">
            <a:solidFill>
              <a:srgbClr val="3093A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742432" y="100584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742432" y="1316736"/>
            <a:ext cx="91440" cy="91440"/>
          </a:xfrm>
          <a:prstGeom prst="ellipse">
            <a:avLst/>
          </a:prstGeom>
          <a:solidFill>
            <a:srgbClr val="3093A8"/>
          </a:solidFill>
          <a:ln w="12700">
            <a:solidFill>
              <a:srgbClr val="3093A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907024" y="1225296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Historical: fct_revenue 8 quarters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742432" y="1645920"/>
            <a:ext cx="91440" cy="91440"/>
          </a:xfrm>
          <a:prstGeom prst="ellipse">
            <a:avLst/>
          </a:prstGeom>
          <a:solidFill>
            <a:srgbClr val="3093A8"/>
          </a:solidFill>
          <a:ln w="12700">
            <a:solidFill>
              <a:srgbClr val="3093A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07024" y="1554480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dbt: 4-qtr rolling avg + seasonal index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5742432" y="1975104"/>
            <a:ext cx="91440" cy="91440"/>
          </a:xfrm>
          <a:prstGeom prst="ellipse">
            <a:avLst/>
          </a:prstGeom>
          <a:solidFill>
            <a:srgbClr val="3093A8"/>
          </a:solidFill>
          <a:ln w="12700">
            <a:solidFill>
              <a:srgbClr val="3093A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907024" y="1883664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mart_forecast pre-computed on dbt run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5742432" y="2304288"/>
            <a:ext cx="91440" cy="91440"/>
          </a:xfrm>
          <a:prstGeom prst="ellipse">
            <a:avLst/>
          </a:prstGeom>
          <a:solidFill>
            <a:srgbClr val="3093A8"/>
          </a:solidFill>
          <a:ln w="12700">
            <a:solidFill>
              <a:srgbClr val="3093A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907024" y="2212848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reads — no live calculation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5742432" y="2633472"/>
            <a:ext cx="91440" cy="91440"/>
          </a:xfrm>
          <a:prstGeom prst="ellipse">
            <a:avLst/>
          </a:prstGeom>
          <a:solidFill>
            <a:srgbClr val="3093A8"/>
          </a:solidFill>
          <a:ln w="12700">
            <a:solidFill>
              <a:srgbClr val="3093A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907024" y="2542032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Entities: US, EMEA, APAC, Consolidated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 Lambda Analysis Tools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40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0" y="45720"/>
            <a:ext cx="40233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13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7.6</a:t>
            </a:r>
            <a:endParaRPr lang="en-US" sz="19000" dirty="0"/>
          </a:p>
        </p:txBody>
      </p:sp>
      <p:sp>
        <p:nvSpPr>
          <p:cNvPr id="4" name="Shape 2"/>
          <p:cNvSpPr/>
          <p:nvPr/>
        </p:nvSpPr>
        <p:spPr>
          <a:xfrm>
            <a:off x="502920" y="713232"/>
            <a:ext cx="54864" cy="137160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71323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58368" y="950976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FastAPI Layer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58368" y="1609344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 that connects everything.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80F1C"/>
          </a:solidFill>
          <a:ln w="12700">
            <a:solidFill>
              <a:srgbClr val="080F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— Hands-On Build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40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7.6  ·  Build FastAPI Layer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Endpoints — One API for All Consumers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32688"/>
            <a:ext cx="1737360" cy="347472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56" y="960120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121408" y="932688"/>
            <a:ext cx="914400" cy="347472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85416" y="960120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035808" y="932688"/>
            <a:ext cx="5175504" cy="347472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99816" y="960120"/>
            <a:ext cx="5047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84048" y="1280160"/>
            <a:ext cx="173736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" y="1307592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/chat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121408" y="1280160"/>
            <a:ext cx="9144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85416" y="1307592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035808" y="1280160"/>
            <a:ext cx="5175504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99816" y="1307592"/>
            <a:ext cx="5047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question → Bedrock Agent → answer + citations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84048" y="1627632"/>
            <a:ext cx="1737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" y="1655064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/commentary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121408" y="1627632"/>
            <a:ext cx="914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85416" y="1655064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035808" y="1627632"/>
            <a:ext cx="5175504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99816" y="1655064"/>
            <a:ext cx="5047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+ period → 4-paragraph CFO narrative (Claude)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84048" y="1975104"/>
            <a:ext cx="173736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8056" y="2002536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/boardpack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121408" y="1975104"/>
            <a:ext cx="9144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85416" y="2002536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035808" y="1975104"/>
            <a:ext cx="5175504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99816" y="2002536"/>
            <a:ext cx="5047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PDF: P&amp;L, ARR, AR aging, commentary (reportlab)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84048" y="2322576"/>
            <a:ext cx="1737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8056" y="2350008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/metrics/pl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121408" y="2322576"/>
            <a:ext cx="914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85416" y="2350008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035808" y="2322576"/>
            <a:ext cx="5175504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99816" y="2350008"/>
            <a:ext cx="5047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actuals from mart_pl (entity, fiscal_year)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84048" y="2670048"/>
            <a:ext cx="173736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8056" y="2697480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/metrics/arr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121408" y="2670048"/>
            <a:ext cx="9144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85416" y="2697480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035808" y="2670048"/>
            <a:ext cx="5175504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99816" y="2697480"/>
            <a:ext cx="5047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waterfall from mart_arr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84048" y="3017520"/>
            <a:ext cx="1737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8056" y="3044952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/metrics/ar_aging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121408" y="3017520"/>
            <a:ext cx="914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185416" y="3044952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035808" y="3017520"/>
            <a:ext cx="5175504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99816" y="3044952"/>
            <a:ext cx="5047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aging buckets from mart_ar_aging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84048" y="3364992"/>
            <a:ext cx="173736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48056" y="3392424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/metrics/revenue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121408" y="3364992"/>
            <a:ext cx="9144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185416" y="3392424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035808" y="3364992"/>
            <a:ext cx="5175504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099816" y="3392424"/>
            <a:ext cx="5047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time series from mart_revenue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84048" y="3712464"/>
            <a:ext cx="1737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48056" y="3739896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/health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2121408" y="3712464"/>
            <a:ext cx="914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185416" y="3739896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3035808" y="3712464"/>
            <a:ext cx="5175504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099816" y="3739896"/>
            <a:ext cx="5047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{"status":"ok"} — ALB health check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384048" y="3803904"/>
            <a:ext cx="8375904" cy="548640"/>
          </a:xfrm>
          <a:prstGeom prst="rect">
            <a:avLst/>
          </a:prstGeom>
          <a:solidFill>
            <a:srgbClr val="E7F0FF"/>
          </a:solidFill>
          <a:ln w="12700">
            <a:solidFill>
              <a:srgbClr val="0B6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566928" y="385876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8000  ·  Auth: AWS Cognito JWT (lab skips auth)  ·  CORS: localhost:8501 allowed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7.6 Build FastAPI Layer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40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7.6  ·  Build FastAPI Layer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&amp; Verify the API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32688"/>
            <a:ext cx="5029200" cy="2487168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014984"/>
            <a:ext cx="4773168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uvicorn ui.api.main:app --port 8000 --reload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Health check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localhost:8000/health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{"status":"ok"}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Metrics test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"localhost:8000/metrics/pl?entity=US&amp;fiscal_year=2024"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{"rows":[{"period":"Oct-24","revenue":152.4,...}]}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Chat test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-X POST localhost:8000/chat \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-H "Content-Type: application/json" \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-d '{"question":"Total revenue FY2024?",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"memoryId":"analyst-test-01"}'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{"answer":"$1,807.9M","source":"mart_revenue"}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596128" y="932688"/>
            <a:ext cx="315468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596128" y="932688"/>
            <a:ext cx="54864" cy="2487168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42432" y="100584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checklist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742432" y="1353312"/>
            <a:ext cx="91440" cy="91440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07024" y="1261872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/health → 200 {"status":"ok"}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742432" y="1755648"/>
            <a:ext cx="91440" cy="91440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07024" y="1664208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/metrics/pl returns rows &gt; 0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742432" y="2157984"/>
            <a:ext cx="91440" cy="91440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07024" y="2066544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/chat → answer text + source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742432" y="2560320"/>
            <a:ext cx="91440" cy="91440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07024" y="2468880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/commentary → 4 paragraphs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742432" y="2962656"/>
            <a:ext cx="91440" cy="91440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07024" y="2871216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/metrics/arr → waterfall data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84048" y="3547872"/>
            <a:ext cx="8375904" cy="475488"/>
          </a:xfrm>
          <a:prstGeom prst="rect">
            <a:avLst/>
          </a:prstGeom>
          <a:solidFill>
            <a:srgbClr val="FCEFD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84048" y="3547872"/>
            <a:ext cx="54864" cy="475488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3602736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6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/chat 500: check BEDROCK_AGENT_ID=LUUHZWRDA4 env var and IAM role has bedrock:InvokeAgent.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7.6 Build FastAPI Layer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40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0" y="45720"/>
            <a:ext cx="40233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13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7.7</a:t>
            </a:r>
            <a:endParaRPr lang="en-US" sz="19000" dirty="0"/>
          </a:p>
        </p:txBody>
      </p:sp>
      <p:sp>
        <p:nvSpPr>
          <p:cNvPr id="4" name="Shape 2"/>
          <p:cNvSpPr/>
          <p:nvPr/>
        </p:nvSpPr>
        <p:spPr>
          <a:xfrm>
            <a:off x="502920" y="713232"/>
            <a:ext cx="54864" cy="137160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71323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58368" y="950976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Streamlit Dashboard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58368" y="1609344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FP&amp;A will actually use.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80F1C"/>
          </a:solidFill>
          <a:ln w="12700">
            <a:solidFill>
              <a:srgbClr val="080F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— Hands-On Build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40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7.7  ·  Build Streamlit Dashboard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Tabs — One Dashboard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69264"/>
            <a:ext cx="3822192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969264"/>
            <a:ext cx="54864" cy="1133856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10424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3504" y="1344168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chart: revenue, gross profit, op income by quarter. Sidebar: entity + fiscal year.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84048" y="2212848"/>
            <a:ext cx="3822192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4048" y="2212848"/>
            <a:ext cx="54864" cy="1133856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" y="2286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3504" y="2587752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Waterfall: new, expansion, churn, contraction, ending ARR. Toggle entity.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4048" y="3456432"/>
            <a:ext cx="3822192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4048" y="3456432"/>
            <a:ext cx="54864" cy="1133856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" y="35295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Aging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3504" y="3831336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table: current, 30d, 60d, 90d+. Colour-coded. Drill by customer segment.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700016" y="969264"/>
            <a:ext cx="3822192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0016" y="969264"/>
            <a:ext cx="54864" cy="1133856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10424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19472" y="1344168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chat → /chat API. Shows citations. Stores memoryId in session state.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700016" y="2212848"/>
            <a:ext cx="3822192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0016" y="2212848"/>
            <a:ext cx="54864" cy="1133856"/>
          </a:xfrm>
          <a:prstGeom prst="rect">
            <a:avLst/>
          </a:prstGeom>
          <a:solidFill>
            <a:srgbClr val="3093A8"/>
          </a:solidFill>
          <a:ln w="12700">
            <a:solidFill>
              <a:srgbClr val="3093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9472" y="2286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Commentary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19472" y="2587752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/commentary → 4-para CFO narrative. Copy-to-clipboard button.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700016" y="3456432"/>
            <a:ext cx="3822192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0016" y="3456432"/>
            <a:ext cx="54864" cy="1133856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35295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Pack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19472" y="3831336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/boardpack → PDF download. All sections one click. ~8 s generation.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84048" y="4663440"/>
            <a:ext cx="8375904" cy="438912"/>
          </a:xfrm>
          <a:prstGeom prst="rect">
            <a:avLst/>
          </a:prstGeom>
          <a:solidFill>
            <a:srgbClr val="E7F0FF"/>
          </a:solidFill>
          <a:ln w="12700">
            <a:solidFill>
              <a:srgbClr val="0B6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66928" y="4718304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ui/app.py  ·  Streamlit 1.35+  ·  port 8501  ·  Charts: Plotly  ·  Theme: custom CSS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7.7 Build Streamlit Dashboard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40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7.7  ·  Build Streamlit Dashboard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&amp; Verify the Dashboard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32688"/>
            <a:ext cx="5029200" cy="1828800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014984"/>
            <a:ext cx="477316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Terminal 2 (API already running on 8000)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 run ui/app.py --server.port 8501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Open: http://localhost:8501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Smoke test — AI Analyst tab: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"What was ACME total revenue in 2024?"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Expected: $1,807.9M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Source: mart_revenue (acme-finance-dev)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596128" y="932688"/>
            <a:ext cx="1463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596128" y="932688"/>
            <a:ext cx="54864" cy="91440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33288" y="1005840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answer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733288" y="1207008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$1,807.9M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733288" y="1591056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FY2024  ✓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7187184" y="932688"/>
            <a:ext cx="1472184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87184" y="932688"/>
            <a:ext cx="54864" cy="91440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24344" y="1005840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324344" y="1207008"/>
            <a:ext cx="1271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4 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324344" y="1591056"/>
            <a:ext cx="1271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Redshift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596128" y="1938528"/>
            <a:ext cx="14630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596128" y="1938528"/>
            <a:ext cx="54864" cy="82296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33288" y="2011680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Tabs loading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733288" y="2212848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733288" y="2596896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green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7187184" y="1938528"/>
            <a:ext cx="1472184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187184" y="1938528"/>
            <a:ext cx="54864" cy="82296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24344" y="2011680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324344" y="2212848"/>
            <a:ext cx="1271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324344" y="2596896"/>
            <a:ext cx="1271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analyst-test-01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84048" y="2944368"/>
            <a:ext cx="1828800" cy="310896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8056" y="2971800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212848" y="2944368"/>
            <a:ext cx="3108960" cy="310896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76856" y="2971800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with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84048" y="3255264"/>
            <a:ext cx="182880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8056" y="3282696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212848" y="3255264"/>
            <a:ext cx="310896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76856" y="3282696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Entity=US, FY=2024 → bar chart renders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84048" y="3566160"/>
            <a:ext cx="18288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8056" y="3593592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212848" y="3566160"/>
            <a:ext cx="31089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76856" y="3593592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EMEA → waterfall updates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84048" y="3877056"/>
            <a:ext cx="182880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8056" y="3904488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Analyst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212848" y="3877056"/>
            <a:ext cx="310896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276856" y="3904488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was revenue?" → $1,807.9M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84048" y="4187952"/>
            <a:ext cx="18288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8056" y="4215384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Pack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212848" y="4187952"/>
            <a:ext cx="31089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276856" y="4215384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Download → PDF opens correctly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84048" y="4224528"/>
            <a:ext cx="8375904" cy="475488"/>
          </a:xfrm>
          <a:prstGeom prst="rect">
            <a:avLst/>
          </a:prstGeom>
          <a:solidFill>
            <a:srgbClr val="FCEFD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384048" y="4224528"/>
            <a:ext cx="54864" cy="475488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6928" y="427939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6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P&amp;L tab empty: confirm dbt run completed. If AI Analyst errors: confirm API is running on port 8000.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7.7 Build Streamlit Dashboard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40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0" y="45720"/>
            <a:ext cx="40233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13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</a:t>
            </a:r>
            <a:endParaRPr lang="en-US" sz="19000" dirty="0"/>
          </a:p>
        </p:txBody>
      </p:sp>
      <p:sp>
        <p:nvSpPr>
          <p:cNvPr id="4" name="Shape 2"/>
          <p:cNvSpPr/>
          <p:nvPr/>
        </p:nvSpPr>
        <p:spPr>
          <a:xfrm>
            <a:off x="502920" y="713232"/>
            <a:ext cx="54864" cy="137160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71323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58368" y="950976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58368" y="1609344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whole system works before the client sees it.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80F1C"/>
          </a:solidFill>
          <a:ln w="12700">
            <a:solidFill>
              <a:srgbClr val="080F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— Hands-On Build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40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  ·  End-to-End Test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Queries — Six Expected Answers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32688"/>
            <a:ext cx="365760" cy="347472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56" y="960120"/>
            <a:ext cx="237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49808" y="932688"/>
            <a:ext cx="2926080" cy="347472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960120"/>
            <a:ext cx="2798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75888" y="932688"/>
            <a:ext cx="1828800" cy="347472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39896" y="96012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504688" y="932688"/>
            <a:ext cx="2743200" cy="347472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68696" y="960120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84048" y="1280160"/>
            <a:ext cx="36576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" y="1307592"/>
            <a:ext cx="237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49808" y="1280160"/>
            <a:ext cx="292608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3816" y="1307592"/>
            <a:ext cx="2798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total revenue FY2024?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675888" y="1280160"/>
            <a:ext cx="18288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39896" y="1307592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text_to_sql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504688" y="1280160"/>
            <a:ext cx="27432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68696" y="1307592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$1,807.9M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84048" y="1627632"/>
            <a:ext cx="3657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" y="1655064"/>
            <a:ext cx="237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49808" y="1627632"/>
            <a:ext cx="29260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3816" y="1655064"/>
            <a:ext cx="2798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margin last 3 years?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675888" y="1627632"/>
            <a:ext cx="1828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39896" y="1655064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text_to_sql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504688" y="1627632"/>
            <a:ext cx="27432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68696" y="1655064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+8.9%, +5.5%, −9.4% (FY22–24)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84048" y="1975104"/>
            <a:ext cx="36576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8056" y="2002536"/>
            <a:ext cx="237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49808" y="1975104"/>
            <a:ext cx="292608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3816" y="2002536"/>
            <a:ext cx="2798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variance driver EMEA FY2024?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675888" y="1975104"/>
            <a:ext cx="18288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39896" y="2002536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variance_rca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504688" y="1975104"/>
            <a:ext cx="27432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68696" y="2002536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Personnel, Engineering EMEA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84048" y="2322576"/>
            <a:ext cx="3657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8056" y="2350008"/>
            <a:ext cx="237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49808" y="2322576"/>
            <a:ext cx="29260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3816" y="2350008"/>
            <a:ext cx="2798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R&amp;D cut 15%?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675888" y="2322576"/>
            <a:ext cx="1828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39896" y="2350008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whatif_sim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504688" y="2322576"/>
            <a:ext cx="27432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68696" y="2350008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+348 bps, +$62.9M op income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84048" y="2670048"/>
            <a:ext cx="36576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48056" y="2697480"/>
            <a:ext cx="237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749808" y="2670048"/>
            <a:ext cx="292608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13816" y="2697480"/>
            <a:ext cx="2798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forecast next 4 quarters?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675888" y="2670048"/>
            <a:ext cx="18288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739896" y="269748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504688" y="2670048"/>
            <a:ext cx="27432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68696" y="2697480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$478M, $493M, $501M, $520M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84048" y="3017520"/>
            <a:ext cx="3657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48056" y="3044952"/>
            <a:ext cx="237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749808" y="3017520"/>
            <a:ext cx="29260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13816" y="3044952"/>
            <a:ext cx="2798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[New session] Last focus area?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3675888" y="3017520"/>
            <a:ext cx="1828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739896" y="3044952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recall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5504688" y="3017520"/>
            <a:ext cx="27432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568696" y="3044952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EMEA (from session 1 memory)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384048" y="3218688"/>
            <a:ext cx="8375904" cy="512064"/>
          </a:xfrm>
          <a:prstGeom prst="rect">
            <a:avLst/>
          </a:prstGeom>
          <a:solidFill>
            <a:srgbClr val="E2F3E9"/>
          </a:solidFill>
          <a:ln w="12700">
            <a:solidFill>
              <a:srgbClr val="1A8754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566928" y="3273552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all 6 before declaring done. Queries 1–5 test tools. Query 6 tests memory. All 6 must pass.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 End-to-End Test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40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  ·  End-to-End Test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Troubleshooting: Systematic Debug Path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32688"/>
            <a:ext cx="1645920" cy="338328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56" y="960120"/>
            <a:ext cx="15179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029968" y="932688"/>
            <a:ext cx="3017520" cy="338328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93976" y="960120"/>
            <a:ext cx="28895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047488" y="932688"/>
            <a:ext cx="3163824" cy="338328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11496" y="960120"/>
            <a:ext cx="30358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fails → fix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84048" y="1271016"/>
            <a:ext cx="1645920" cy="338328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" y="1298448"/>
            <a:ext cx="15179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health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029968" y="1271016"/>
            <a:ext cx="3017520" cy="338328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93976" y="1298448"/>
            <a:ext cx="28895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localhost:8000/health → {"status":"ok"}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047488" y="1271016"/>
            <a:ext cx="3163824" cy="338328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11496" y="1298448"/>
            <a:ext cx="30358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uvicorn; check port 8000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84048" y="1609344"/>
            <a:ext cx="16459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" y="1636776"/>
            <a:ext cx="15179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models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029968" y="1609344"/>
            <a:ext cx="30175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93976" y="1636776"/>
            <a:ext cx="28895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test → PASS=42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047488" y="1609344"/>
            <a:ext cx="3163824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11496" y="1636776"/>
            <a:ext cx="30358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dbt run; check workgroup active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84048" y="1947672"/>
            <a:ext cx="1645920" cy="338328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8056" y="1975104"/>
            <a:ext cx="15179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status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029968" y="1947672"/>
            <a:ext cx="3017520" cy="338328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1975104"/>
            <a:ext cx="28895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bedrock-agent list-agents → PREPARED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047488" y="1947672"/>
            <a:ext cx="3163824" cy="338328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11496" y="1975104"/>
            <a:ext cx="30358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apply -target=module.bedrock_agent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84048" y="2286000"/>
            <a:ext cx="16459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8056" y="2313432"/>
            <a:ext cx="15179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targets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029968" y="2286000"/>
            <a:ext cx="30175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093976" y="2313432"/>
            <a:ext cx="28895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list-gateway-targets → 5 ACTIVE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047488" y="2286000"/>
            <a:ext cx="3163824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11496" y="2313432"/>
            <a:ext cx="30358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Re-apply agentcore; check Lambda ARNs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84048" y="2624328"/>
            <a:ext cx="1645920" cy="338328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8056" y="2651760"/>
            <a:ext cx="15179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logs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029968" y="2624328"/>
            <a:ext cx="3017520" cy="338328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093976" y="2651760"/>
            <a:ext cx="28895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logs tail /aws/lambda/acme-finance-dev-*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047488" y="2624328"/>
            <a:ext cx="3163824" cy="338328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11496" y="2651760"/>
            <a:ext cx="30358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import errors or IAM issues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84048" y="2962656"/>
            <a:ext cx="16459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8056" y="2990088"/>
            <a:ext cx="15179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recall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029968" y="2962656"/>
            <a:ext cx="30175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093976" y="2990088"/>
            <a:ext cx="28895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Cross-session follow-up → context recalled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047488" y="2962656"/>
            <a:ext cx="3163824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11496" y="2990088"/>
            <a:ext cx="30358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memoryId consistent; TTL not expired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84048" y="3621024"/>
            <a:ext cx="8375904" cy="621792"/>
          </a:xfrm>
          <a:prstGeom prst="rect">
            <a:avLst/>
          </a:prstGeom>
          <a:solidFill>
            <a:srgbClr val="FBE5E5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384048" y="3621024"/>
            <a:ext cx="54864" cy="621792"/>
          </a:xfrm>
          <a:prstGeom prst="rect">
            <a:avLst/>
          </a:prstGeom>
          <a:solidFill>
            <a:srgbClr val="C63232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6928" y="3675888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failure: Redshift cold start timeout. If Lambda returns 504, wait 60 s and retry. Redshift Serverless auto-resumes — it does not fail permanently.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 End-to-End Test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40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0" y="45720"/>
            <a:ext cx="40233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13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7.9</a:t>
            </a:r>
            <a:endParaRPr lang="en-US" sz="19000" dirty="0"/>
          </a:p>
        </p:txBody>
      </p:sp>
      <p:sp>
        <p:nvSpPr>
          <p:cNvPr id="4" name="Shape 2"/>
          <p:cNvSpPr/>
          <p:nvPr/>
        </p:nvSpPr>
        <p:spPr>
          <a:xfrm>
            <a:off x="502920" y="713232"/>
            <a:ext cx="54864" cy="137160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71323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58368" y="950976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Commentary &amp; Board Pack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58368" y="1609344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 to board-ready deliverables in one API call.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80F1C"/>
          </a:solidFill>
          <a:ln w="12700">
            <a:solidFill>
              <a:srgbClr val="080F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— Hands-On Build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40</a:t>
            </a:r>
            <a:endParaRPr lang="en-US" sz="7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7.9  ·  Commentary &amp; Board Pack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/commentary — CFO Narrative in 4 Paragraphs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32688"/>
            <a:ext cx="4206240" cy="1408176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014984"/>
            <a:ext cx="395020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/commentary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{"entity":"EMEA","period":"Sep-2024","fiscal_year":2024}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Returns 4-paragraph narrative (~6 s)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Claude uses mart_pl actuals as grounding data.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4773168" y="932688"/>
            <a:ext cx="39776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73168" y="932688"/>
            <a:ext cx="54864" cy="3291840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9472" y="100584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structure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919472" y="1353312"/>
            <a:ext cx="91440" cy="91440"/>
          </a:xfrm>
          <a:prstGeom prst="ellipse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84064" y="1261872"/>
            <a:ext cx="3401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 Executive summary — revenue, margin, key call-out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919472" y="1901952"/>
            <a:ext cx="91440" cy="91440"/>
          </a:xfrm>
          <a:prstGeom prst="ellipse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84064" y="1810512"/>
            <a:ext cx="3401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 Revenue drivers — geography, product mix, FX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19472" y="2450592"/>
            <a:ext cx="91440" cy="91440"/>
          </a:xfrm>
          <a:prstGeom prst="ellipse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84064" y="2359152"/>
            <a:ext cx="3401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 Cost drivers — headcount, R&amp;D, OpEx vs plan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919472" y="2999232"/>
            <a:ext cx="91440" cy="91440"/>
          </a:xfrm>
          <a:prstGeom prst="ellipse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84064" y="2907792"/>
            <a:ext cx="3401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 Outlook — next quarter risks + opportunities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84048" y="2468880"/>
            <a:ext cx="4206240" cy="877824"/>
          </a:xfrm>
          <a:prstGeom prst="rect">
            <a:avLst/>
          </a:prstGeom>
          <a:solidFill>
            <a:srgbClr val="EDE9F7"/>
          </a:solidFill>
          <a:ln w="12700">
            <a:solidFill>
              <a:srgbClr val="6C4AD9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66928" y="2523744"/>
            <a:ext cx="3840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C4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"EMEA reported revenue of $412.3M for Sep-2024, achieving 94% of plan. R&amp;D Personnel variance of −$4.2M was the largest miss, driven by Engineering EMEA headcount additions…"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84048" y="3474720"/>
            <a:ext cx="4206240" cy="749808"/>
          </a:xfrm>
          <a:prstGeom prst="rect">
            <a:avLst/>
          </a:prstGeom>
          <a:solidFill>
            <a:srgbClr val="E2F3E9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84048" y="3474720"/>
            <a:ext cx="54864" cy="749808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3529584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POST EMEA Sep-2024 → 4 paragraphs → all numbers match mart_pl → no hallucinations.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7.9 Commentary &amp; Board Pack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40</a:t>
            </a:r>
            <a:endParaRPr lang="en-US" sz="7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7.9  ·  Commentary &amp; Board Pack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/boardpack — One-Click Board PDF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32688"/>
            <a:ext cx="4572000" cy="1243584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014984"/>
            <a:ext cx="431596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/boardpack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{"entity":"EMEA","period":"Sep-2024","fiscal_year":2024}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Returns application/pdf (~350 KB, ~8 s generation)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Streamlit: st.download_button("Download", pdf_bytes)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2304288"/>
            <a:ext cx="2560320" cy="329184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" y="233172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944368" y="2304288"/>
            <a:ext cx="3657600" cy="329184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08376" y="2331720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601968" y="2304288"/>
            <a:ext cx="1426464" cy="329184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65976" y="233172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84048" y="2633472"/>
            <a:ext cx="256032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" y="2660904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Actuals vs Plan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944368" y="2633472"/>
            <a:ext cx="365760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08376" y="2660904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mart_pl (Redshift)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601968" y="2633472"/>
            <a:ext cx="1426464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65976" y="2660904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84048" y="2962656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" y="299008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Waterfall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944368" y="2962656"/>
            <a:ext cx="3657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08376" y="2990088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mart_arr (Redshift)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601968" y="2962656"/>
            <a:ext cx="142646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65976" y="2990088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84048" y="3291840"/>
            <a:ext cx="256032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8056" y="3319272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Aging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944368" y="3291840"/>
            <a:ext cx="365760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08376" y="3319272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mart_ar_aging (Redshift)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601968" y="3291840"/>
            <a:ext cx="1426464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65976" y="331927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84048" y="3621024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8056" y="3648456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Commentary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944368" y="3621024"/>
            <a:ext cx="3657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08376" y="3648456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via /commentary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601968" y="3621024"/>
            <a:ext cx="142646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65976" y="3648456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84048" y="3950208"/>
            <a:ext cx="256032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8056" y="397764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+ Appendix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944368" y="3950208"/>
            <a:ext cx="365760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08376" y="3977640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template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601968" y="3950208"/>
            <a:ext cx="1426464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65976" y="397764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138928" y="932688"/>
            <a:ext cx="365760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138928" y="932688"/>
            <a:ext cx="54864" cy="1243584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285232" y="1133856"/>
            <a:ext cx="91440" cy="91440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49824" y="1042416"/>
            <a:ext cx="3218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actuals (3 pages)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285232" y="1353312"/>
            <a:ext cx="91440" cy="91440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49824" y="1261872"/>
            <a:ext cx="3218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waterfall (1 page)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285232" y="1572768"/>
            <a:ext cx="91440" cy="91440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49824" y="1481328"/>
            <a:ext cx="3218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aging table (1 page)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285232" y="1792224"/>
            <a:ext cx="91440" cy="91440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49824" y="1700784"/>
            <a:ext cx="3218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commentary (1 page)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5285232" y="2011680"/>
            <a:ext cx="91440" cy="91440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449824" y="1920240"/>
            <a:ext cx="3218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~8 pages, ~350 KB PDF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384048" y="4114800"/>
            <a:ext cx="8375904" cy="530352"/>
          </a:xfrm>
          <a:prstGeom prst="rect">
            <a:avLst/>
          </a:prstGeom>
          <a:solidFill>
            <a:srgbClr val="E7F0FF"/>
          </a:solidFill>
          <a:ln w="12700">
            <a:solidFill>
              <a:srgbClr val="0B6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566928" y="416966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EMEA Sep-2024 PDF downloads, opens without error, correct revenue and commentary match /metrics/pl.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7.9 Commentary &amp; Board Pack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40</a:t>
            </a:r>
            <a:endParaRPr lang="en-US" sz="7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0" y="45720"/>
            <a:ext cx="40233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13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7.10</a:t>
            </a:r>
            <a:endParaRPr lang="en-US" sz="19000" dirty="0"/>
          </a:p>
        </p:txBody>
      </p:sp>
      <p:sp>
        <p:nvSpPr>
          <p:cNvPr id="4" name="Shape 2"/>
          <p:cNvSpPr/>
          <p:nvPr/>
        </p:nvSpPr>
        <p:spPr>
          <a:xfrm>
            <a:off x="502920" y="713232"/>
            <a:ext cx="54864" cy="137160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71323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58368" y="950976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&amp; Testing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58368" y="1609344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against real FP&amp;A use cases before calling it done.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80F1C"/>
          </a:solidFill>
          <a:ln w="12700">
            <a:solidFill>
              <a:srgbClr val="080F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— Hands-On Build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40</a:t>
            </a:r>
            <a:endParaRPr lang="en-US" sz="7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7.10  ·  Use Cases &amp; Testing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Use Cases — Run All Before Done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32688"/>
            <a:ext cx="365760" cy="347472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56" y="960120"/>
            <a:ext cx="237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49808" y="932688"/>
            <a:ext cx="2926080" cy="347472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960120"/>
            <a:ext cx="2798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75888" y="932688"/>
            <a:ext cx="3931920" cy="347472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39896" y="960120"/>
            <a:ext cx="3803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607808" y="932688"/>
            <a:ext cx="786384" cy="347472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71816" y="96012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Pass?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84048" y="1280160"/>
            <a:ext cx="36576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" y="1307592"/>
            <a:ext cx="237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UC-1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49808" y="1280160"/>
            <a:ext cx="292608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3816" y="1307592"/>
            <a:ext cx="2798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NL: "FY2024 total revenue?"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675888" y="1280160"/>
            <a:ext cx="393192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39896" y="1307592"/>
            <a:ext cx="3803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$1,807.9M from mart_revenue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607808" y="1280160"/>
            <a:ext cx="786384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71816" y="130759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84048" y="1627632"/>
            <a:ext cx="3657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" y="1655064"/>
            <a:ext cx="237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UC-2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49808" y="1627632"/>
            <a:ext cx="29260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3816" y="1655064"/>
            <a:ext cx="2798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NL: "Op margin last 3 years?"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675888" y="1627632"/>
            <a:ext cx="3931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39896" y="1655064"/>
            <a:ext cx="3803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FY22 +8.9%, FY23 +5.5%, FY24 −9.4%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607808" y="1627632"/>
            <a:ext cx="786384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71816" y="1655064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84048" y="1975104"/>
            <a:ext cx="36576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8056" y="2002536"/>
            <a:ext cx="237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UC-3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49808" y="1975104"/>
            <a:ext cx="292608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3816" y="2002536"/>
            <a:ext cx="2798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NL: "Top EMEA cost overrun?"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675888" y="1975104"/>
            <a:ext cx="393192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39896" y="2002536"/>
            <a:ext cx="3803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Personnel, Eng EMEA −$4.2M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607808" y="1975104"/>
            <a:ext cx="786384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71816" y="2002536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84048" y="2322576"/>
            <a:ext cx="3657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8056" y="2350008"/>
            <a:ext cx="237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UC-4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49808" y="2322576"/>
            <a:ext cx="29260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3816" y="2350008"/>
            <a:ext cx="2798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NL: "R&amp;D cut 15%?"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675888" y="2322576"/>
            <a:ext cx="3931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39896" y="2350008"/>
            <a:ext cx="3803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+348 bps, +$62.9M op income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607808" y="2322576"/>
            <a:ext cx="786384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71816" y="235000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84048" y="2670048"/>
            <a:ext cx="36576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48056" y="2697480"/>
            <a:ext cx="237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UC-5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749808" y="2670048"/>
            <a:ext cx="292608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13816" y="2697480"/>
            <a:ext cx="2798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/commentary EMEA Sep-24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675888" y="2670048"/>
            <a:ext cx="393192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739896" y="2697480"/>
            <a:ext cx="3803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4-para CFO narrative, no hallucinations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607808" y="2670048"/>
            <a:ext cx="786384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671816" y="269748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84048" y="3017520"/>
            <a:ext cx="3657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48056" y="3044952"/>
            <a:ext cx="237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UC-6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749808" y="3017520"/>
            <a:ext cx="29260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13816" y="3044952"/>
            <a:ext cx="2798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Cross-session follow-up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3675888" y="3017520"/>
            <a:ext cx="3931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739896" y="3044952"/>
            <a:ext cx="3803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recalls entity from prior session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7607808" y="3017520"/>
            <a:ext cx="786384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671816" y="304495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384048" y="3218688"/>
            <a:ext cx="8375904" cy="585216"/>
          </a:xfrm>
          <a:prstGeom prst="rect">
            <a:avLst/>
          </a:prstGeom>
          <a:solidFill>
            <a:srgbClr val="FCEFDF"/>
          </a:solidFill>
          <a:ln w="12700">
            <a:solidFill>
              <a:srgbClr val="C4671B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384048" y="3218688"/>
            <a:ext cx="54864" cy="585216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66928" y="327355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6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must pass. If UC-3 or UC-4 fail → check Lambda CloudWatch logs. If UC-6 fails → verify memoryId consistent across sessions.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7.10 Use Cases &amp; Testing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40</a:t>
            </a:r>
            <a:endParaRPr lang="en-US" sz="7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7.10  ·  Use Cases &amp; Testing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This Architecture for Your Engagement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32688"/>
            <a:ext cx="2697480" cy="325526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932688"/>
            <a:ext cx="54864" cy="3255264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00584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data layer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0352" y="1371600"/>
            <a:ext cx="91440" cy="91440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1280160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ACME dbt models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30352" y="1773936"/>
            <a:ext cx="91440" cy="91440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682496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to client Redshift schema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30352" y="2176272"/>
            <a:ext cx="91440" cy="91440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" y="2084832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mart names in Lambda SQL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30352" y="2578608"/>
            <a:ext cx="91440" cy="91440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" y="2487168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tests become your data SLA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64408" y="932688"/>
            <a:ext cx="2697480" cy="325526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64408" y="932688"/>
            <a:ext cx="54864" cy="3255264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10712" y="100584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3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the system prompt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10712" y="1371600"/>
            <a:ext cx="91440" cy="91440"/>
          </a:xfrm>
          <a:prstGeom prst="ellipse">
            <a:avLst/>
          </a:prstGeom>
          <a:solidFill>
            <a:srgbClr val="3B475A"/>
          </a:solidFill>
          <a:ln w="12700">
            <a:solidFill>
              <a:srgbClr val="3B47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75304" y="1280160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fiscal calendar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10712" y="1773936"/>
            <a:ext cx="91440" cy="91440"/>
          </a:xfrm>
          <a:prstGeom prst="ellipse">
            <a:avLst/>
          </a:prstGeom>
          <a:solidFill>
            <a:srgbClr val="3B475A"/>
          </a:solidFill>
          <a:ln w="12700">
            <a:solidFill>
              <a:srgbClr val="3B47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75304" y="1682496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hierarchy (BU names)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410712" y="2176272"/>
            <a:ext cx="91440" cy="91440"/>
          </a:xfrm>
          <a:prstGeom prst="ellipse">
            <a:avLst/>
          </a:prstGeom>
          <a:solidFill>
            <a:srgbClr val="3B475A"/>
          </a:solidFill>
          <a:ln w="12700">
            <a:solidFill>
              <a:srgbClr val="3B47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75304" y="2084832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definitions (their ARR)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410712" y="2578608"/>
            <a:ext cx="91440" cy="91440"/>
          </a:xfrm>
          <a:prstGeom prst="ellipse">
            <a:avLst/>
          </a:prstGeom>
          <a:solidFill>
            <a:srgbClr val="3B475A"/>
          </a:solidFill>
          <a:ln w="12700">
            <a:solidFill>
              <a:srgbClr val="3B47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75304" y="2487168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Tone: board vs. operational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144768" y="932688"/>
            <a:ext cx="2615184" cy="325526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44768" y="932688"/>
            <a:ext cx="54864" cy="3255264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91072" y="10058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C4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stays fixed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291072" y="1371600"/>
            <a:ext cx="91440" cy="91440"/>
          </a:xfrm>
          <a:prstGeom prst="ellipse">
            <a:avLst/>
          </a:prstGeom>
          <a:solidFill>
            <a:srgbClr val="3B475A"/>
          </a:solidFill>
          <a:ln w="12700">
            <a:solidFill>
              <a:srgbClr val="3B47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55664" y="128016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ID changes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291072" y="1773936"/>
            <a:ext cx="91440" cy="91440"/>
          </a:xfrm>
          <a:prstGeom prst="ellipse">
            <a:avLst/>
          </a:prstGeom>
          <a:solidFill>
            <a:srgbClr val="3B475A"/>
          </a:solidFill>
          <a:ln w="12700">
            <a:solidFill>
              <a:srgbClr val="3B475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55664" y="1682496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targets update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291072" y="2176272"/>
            <a:ext cx="91440" cy="91440"/>
          </a:xfrm>
          <a:prstGeom prst="ellipse">
            <a:avLst/>
          </a:prstGeom>
          <a:solidFill>
            <a:srgbClr val="3B475A"/>
          </a:solidFill>
          <a:ln w="12700">
            <a:solidFill>
              <a:srgbClr val="3B475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55664" y="2084832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unchanged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291072" y="2578608"/>
            <a:ext cx="91440" cy="91440"/>
          </a:xfrm>
          <a:prstGeom prst="ellipse">
            <a:avLst/>
          </a:prstGeom>
          <a:solidFill>
            <a:srgbClr val="3B475A"/>
          </a:solidFill>
          <a:ln w="12700">
            <a:solidFill>
              <a:srgbClr val="3B475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55664" y="2487168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unchanged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291072" y="2980944"/>
            <a:ext cx="91440" cy="91440"/>
          </a:xfrm>
          <a:prstGeom prst="ellipse">
            <a:avLst/>
          </a:prstGeom>
          <a:solidFill>
            <a:srgbClr val="3B475A"/>
          </a:solidFill>
          <a:ln w="12700">
            <a:solidFill>
              <a:srgbClr val="3B475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55664" y="2889504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 modules reused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84048" y="4297680"/>
            <a:ext cx="8375904" cy="457200"/>
          </a:xfrm>
          <a:prstGeom prst="rect">
            <a:avLst/>
          </a:prstGeom>
          <a:solidFill>
            <a:srgbClr val="E7F0FF"/>
          </a:solidFill>
          <a:ln w="12700">
            <a:solidFill>
              <a:srgbClr val="0B6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66928" y="435254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Re-platforming effort: 3–5 days for a new client with an existing dbt project. Architecture is the repeatable asset.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7.10 Use Cases &amp; Testing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40</a:t>
            </a:r>
            <a:endParaRPr lang="en-US" sz="7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Complete — What You Built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84048" y="676656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1005840"/>
            <a:ext cx="8375904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005840"/>
            <a:ext cx="54864" cy="1115568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0789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6928" y="1353312"/>
            <a:ext cx="8046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Redshift Serverless: acme-finance-dev  ·  dbt: 18 models → 5 mart tables  ·  Schema: analytics_dev_marts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84048" y="2286000"/>
            <a:ext cx="8375904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2286000"/>
            <a:ext cx="54864" cy="1115568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3591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Layer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2633472"/>
            <a:ext cx="8046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Agent LUUHZWRDA4 (Claude Sonnet)  ·  AgentCore Gateway: 5 targets  ·  AgentCore Memory: SEMANTIC, 30-day TTL  ·  3 Lambda tools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84048" y="3566160"/>
            <a:ext cx="8375904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84048" y="3566160"/>
            <a:ext cx="54864" cy="1115568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36393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4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6928" y="3913632"/>
            <a:ext cx="8046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FastAPI: 8 endpoints, port 8000  ·  Streamlit: 6 tabs, port 8501  ·  /boardpack: PDF (reportlab)  ·  /commentary: CFO narrative (Claude)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— Recap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40</a:t>
            </a:r>
            <a:endParaRPr lang="en-US" sz="7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Numbers — All Verified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84048" y="676656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932688"/>
            <a:ext cx="1956816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932688"/>
            <a:ext cx="54864" cy="100584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005840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FY2024 Revenue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21208" y="1207008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$1,807.9M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21208" y="1591056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 ✓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468880" y="932688"/>
            <a:ext cx="1956816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932688"/>
            <a:ext cx="54864" cy="1005840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1005840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Margin trend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606040" y="1207008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+8.9/+5.5/−9.4%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606040" y="1591056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FY22→FY24  ✓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553712" y="932688"/>
            <a:ext cx="1956816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53712" y="932688"/>
            <a:ext cx="54864" cy="1005840"/>
          </a:xfrm>
          <a:prstGeom prst="rect">
            <a:avLst/>
          </a:prstGeom>
          <a:solidFill>
            <a:srgbClr val="C63232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90872" y="1005840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EMEA top driver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690872" y="1207008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Personnel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690872" y="1591056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 EMEA −$4.2M  ✓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638544" y="932688"/>
            <a:ext cx="212140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38544" y="932688"/>
            <a:ext cx="54864" cy="100584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75704" y="10058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−15% sim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775704" y="120700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+348 bps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775704" y="159105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+$62.9M  ✓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84048" y="2066544"/>
            <a:ext cx="1956816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84048" y="2066544"/>
            <a:ext cx="54864" cy="914400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" y="2139696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recall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21208" y="2340864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21208" y="2724912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Cross-session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468880" y="2066544"/>
            <a:ext cx="1956816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468880" y="2066544"/>
            <a:ext cx="54864" cy="91440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06040" y="2139696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tests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606040" y="2340864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PASS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2606040" y="2724912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errors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553712" y="2066544"/>
            <a:ext cx="1956816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53712" y="2066544"/>
            <a:ext cx="54864" cy="91440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90872" y="2139696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targets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690872" y="2340864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ACTIVE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4690872" y="2724912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routed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638544" y="2066544"/>
            <a:ext cx="212140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638544" y="2066544"/>
            <a:ext cx="54864" cy="914400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75704" y="21396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Pack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775704" y="234086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✓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6775704" y="272491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EMEA Sep-24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384048" y="3127248"/>
            <a:ext cx="8375904" cy="1572768"/>
          </a:xfrm>
          <a:prstGeom prst="rect">
            <a:avLst/>
          </a:prstGeom>
          <a:solidFill>
            <a:srgbClr val="E2F3E9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84048" y="3127248"/>
            <a:ext cx="54864" cy="1572768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6928" y="321868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numbers come from the ACME seed data loaded during dbt run. If you see different values, run: dbt seed &amp;&amp; dbt run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66928" y="374904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numbers appear in: this slide deck, the narration script, the E2E test checklist, and the sample board pack. Consistency is intentional.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— Recap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/ 40</a:t>
            </a:r>
            <a:endParaRPr lang="en-US" sz="7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— Hours Saved During the Build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84048" y="676656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932688"/>
            <a:ext cx="2926080" cy="347472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48056" y="960120"/>
            <a:ext cx="2798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310128" y="932688"/>
            <a:ext cx="2011680" cy="347472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74136" y="960120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estimate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321808" y="932688"/>
            <a:ext cx="2011680" cy="347472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85816" y="960120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Claude Code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333488" y="932688"/>
            <a:ext cx="1792224" cy="347472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97496" y="960120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84048" y="1280160"/>
            <a:ext cx="292608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" y="1307592"/>
            <a:ext cx="2798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SQL (3 tools)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310128" y="1280160"/>
            <a:ext cx="201168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74136" y="1307592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hrs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321808" y="1280160"/>
            <a:ext cx="201168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85816" y="1307592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hrs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333488" y="1280160"/>
            <a:ext cx="1792224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97496" y="1307592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 hrs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84048" y="1627632"/>
            <a:ext cx="29260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" y="1655064"/>
            <a:ext cx="2798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modules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310128" y="1627632"/>
            <a:ext cx="2011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74136" y="1655064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hrs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321808" y="1627632"/>
            <a:ext cx="2011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85816" y="1655064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hr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333488" y="1627632"/>
            <a:ext cx="1792224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97496" y="1655064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hrs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84048" y="1975104"/>
            <a:ext cx="292608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8056" y="2002536"/>
            <a:ext cx="2798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endpoints (8)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310128" y="1975104"/>
            <a:ext cx="201168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74136" y="2002536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hrs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321808" y="1975104"/>
            <a:ext cx="201168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85816" y="2002536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hrs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333488" y="1975104"/>
            <a:ext cx="1792224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97496" y="2002536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 hrs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84048" y="2322576"/>
            <a:ext cx="29260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8056" y="2350008"/>
            <a:ext cx="2798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models (18)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310128" y="2322576"/>
            <a:ext cx="2011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74136" y="2350008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hrs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321808" y="2322576"/>
            <a:ext cx="2011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85816" y="2350008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hrs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333488" y="2322576"/>
            <a:ext cx="1792224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97496" y="2350008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hrs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84048" y="2670048"/>
            <a:ext cx="292608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8056" y="2697480"/>
            <a:ext cx="2798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 (6 tabs)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310128" y="2670048"/>
            <a:ext cx="201168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374136" y="2697480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hrs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321808" y="2670048"/>
            <a:ext cx="201168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385816" y="2697480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hrs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7333488" y="2670048"/>
            <a:ext cx="1792224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397496" y="2697480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hrs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84048" y="3017520"/>
            <a:ext cx="29260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48056" y="3044952"/>
            <a:ext cx="2798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+ E2E tests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3310128" y="3017520"/>
            <a:ext cx="2011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374136" y="3044952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hrs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321808" y="3017520"/>
            <a:ext cx="2011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385816" y="3044952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hr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7333488" y="3017520"/>
            <a:ext cx="1792224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397496" y="3044952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hrs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384048" y="3364992"/>
            <a:ext cx="292608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48056" y="3392424"/>
            <a:ext cx="2798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3310128" y="3364992"/>
            <a:ext cx="201168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374136" y="3392424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hrs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5321808" y="3364992"/>
            <a:ext cx="201168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385816" y="3392424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hrs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7333488" y="3364992"/>
            <a:ext cx="1792224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397496" y="3392424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~24 hrs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384048" y="3712464"/>
            <a:ext cx="8375904" cy="694944"/>
          </a:xfrm>
          <a:prstGeom prst="rect">
            <a:avLst/>
          </a:prstGeom>
          <a:solidFill>
            <a:srgbClr val="E7F0FF"/>
          </a:solidFill>
          <a:ln w="12700">
            <a:solidFill>
              <a:srgbClr val="0B66E4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566928" y="378561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"Claude Code is the fastest junior engineer I've worked with. It writes the boilerplate so I can focus on the architecture decisions that matter."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— Recap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40</a:t>
            </a:r>
            <a:endParaRPr lang="en-US" sz="7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Post-Lab Questions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84048" y="676656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932688"/>
            <a:ext cx="3108960" cy="566928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48056" y="960120"/>
            <a:ext cx="2980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493008" y="932688"/>
            <a:ext cx="5632704" cy="566928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57016" y="960120"/>
            <a:ext cx="5504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84048" y="1499616"/>
            <a:ext cx="310896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" y="1527048"/>
            <a:ext cx="2980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I add a new Lambda tool?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493008" y="1499616"/>
            <a:ext cx="5632704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57016" y="1527048"/>
            <a:ext cx="5504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target to agentcore locals. Write Lambda following the shared pattern (slide 17). Update Bedrock Agent action group with the new tool schema.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84048" y="2066544"/>
            <a:ext cx="3108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" y="2093976"/>
            <a:ext cx="2980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I change the system prompt?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493008" y="2066544"/>
            <a:ext cx="563270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57016" y="2093976"/>
            <a:ext cx="5504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infrastructure/modules/bedrock_agent/system_prompt.txt. Run terraform apply -target=module.bedrock_agent. Agent re-prepares in ~2 min.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84048" y="2633472"/>
            <a:ext cx="310896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" y="2660904"/>
            <a:ext cx="2980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I add a new entity?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493008" y="2633472"/>
            <a:ext cx="5632704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57016" y="2660904"/>
            <a:ext cx="5504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entity to Redshift seed data. Re-run dbt seed &amp;&amp; dbt run. Entity is queryable immediately — no agent changes needed.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84048" y="3200400"/>
            <a:ext cx="3108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" y="3227832"/>
            <a:ext cx="2980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use a different LLM?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493008" y="3200400"/>
            <a:ext cx="563270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57016" y="3227832"/>
            <a:ext cx="5504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change foundation_model in Terraform. Claude Sonnet recommended for finance: it follows structured output instructions most reliably.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84048" y="3767328"/>
            <a:ext cx="310896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8056" y="3794760"/>
            <a:ext cx="2980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I productionise this?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493008" y="3767328"/>
            <a:ext cx="5632704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57016" y="3794760"/>
            <a:ext cx="5504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Cognito auth to FastAPI. Move Streamlit to ECS Fargate. Add CloudWatch alarms for Lambda errors. Enable Redshift usage limits. See Section 8.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— Recap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/ 40</a:t>
            </a:r>
            <a:endParaRPr lang="en-US" sz="7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8368"/>
            <a:ext cx="54864" cy="1792224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836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COMPLETE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89611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Build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58368" y="1499616"/>
            <a:ext cx="5669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deployed a production-pattern finance AI stack: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→ intelligence → presentation → board-ready output.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" y="2286000"/>
            <a:ext cx="1792224" cy="384048"/>
          </a:xfrm>
          <a:prstGeom prst="rect">
            <a:avLst/>
          </a:prstGeom>
          <a:solidFill>
            <a:srgbClr val="1E2D45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286000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dbt models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96896" y="2286000"/>
            <a:ext cx="1792224" cy="384048"/>
          </a:xfrm>
          <a:prstGeom prst="rect">
            <a:avLst/>
          </a:prstGeom>
          <a:solidFill>
            <a:srgbClr val="1E2D45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96896" y="2286000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Lambda tools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35424" y="2286000"/>
            <a:ext cx="1792224" cy="384048"/>
          </a:xfrm>
          <a:prstGeom prst="rect">
            <a:avLst/>
          </a:prstGeom>
          <a:solidFill>
            <a:srgbClr val="1E2D45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35424" y="2286000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Gateway targets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58368" y="2779776"/>
            <a:ext cx="1792224" cy="384048"/>
          </a:xfrm>
          <a:prstGeom prst="rect">
            <a:avLst/>
          </a:prstGeom>
          <a:solidFill>
            <a:srgbClr val="1E2D45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779776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API endpoints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96896" y="2779776"/>
            <a:ext cx="1792224" cy="384048"/>
          </a:xfrm>
          <a:prstGeom prst="rect">
            <a:avLst/>
          </a:prstGeom>
          <a:solidFill>
            <a:srgbClr val="1E2D45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96896" y="2779776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Streamlit tabs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35424" y="2779776"/>
            <a:ext cx="1792224" cy="384048"/>
          </a:xfrm>
          <a:prstGeom prst="rect">
            <a:avLst/>
          </a:prstGeom>
          <a:solidFill>
            <a:srgbClr val="1E2D45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35424" y="2779776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deliverables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84048" y="3419856"/>
            <a:ext cx="8375904" cy="877824"/>
          </a:xfrm>
          <a:prstGeom prst="rect">
            <a:avLst/>
          </a:prstGeom>
          <a:solidFill>
            <a:srgbClr val="1E2D45"/>
          </a:solidFill>
          <a:ln w="12700">
            <a:solidFill>
              <a:srgbClr val="2A3D5A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4048" y="3419856"/>
            <a:ext cx="54864" cy="877824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529584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→  Section 8 — Execution: Roadmap, Operating Model &amp; ROI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393192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lab to production. Governance, change management, and proving the business case.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58368" y="46451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~150 min  ·  11 modules  ·  40 slides built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80F1C"/>
          </a:solidFill>
          <a:ln w="12700">
            <a:solidFill>
              <a:srgbClr val="080F1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— Hands-On Build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/ 40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Finance Transformation — Section 7: Hands-On Build</dc:title>
  <dc:subject>PptxGenJS Presentation</dc:subject>
  <dc:creator>ACME Finance Course</dc:creator>
  <cp:lastModifiedBy>ACME Finance Course</cp:lastModifiedBy>
  <cp:revision>1</cp:revision>
  <dcterms:created xsi:type="dcterms:W3CDTF">2026-05-10T03:36:10Z</dcterms:created>
  <dcterms:modified xsi:type="dcterms:W3CDTF">2026-05-10T03:36:10Z</dcterms:modified>
</cp:coreProperties>
</file>