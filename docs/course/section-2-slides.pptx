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9144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54864" cy="146304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Domain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Problem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Solving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2286000"/>
            <a:ext cx="1280160" cy="25603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min  ·  6 modules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46304" cy="1463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97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 Finance Basics 101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146304" cy="1463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81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CFO Pain Points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46304" cy="1463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65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Cost of Inaction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761488"/>
            <a:ext cx="146304" cy="1463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697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Why Now?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3145536"/>
            <a:ext cx="146304" cy="1463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3081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Three AI Capabilities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3529584"/>
            <a:ext cx="146304" cy="1463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3465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Maturity Model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Finance Domain and the Problem We're Solving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2.0 — Finance Basics 101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P&amp;L in 5 Minutes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3291840" cy="5120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969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3776" y="1170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44368" y="1060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609344"/>
            <a:ext cx="3291840" cy="512064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 of Goods Sold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−$406.8M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4368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286000"/>
            <a:ext cx="3291840" cy="5120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Gross Profit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$1,401.1M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44368" y="24140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 GM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962656"/>
            <a:ext cx="3291840" cy="5120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Operating Expenses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3776" y="3200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−$1,571.0M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44368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639312"/>
            <a:ext cx="3291840" cy="512064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Operating Income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−$169.9M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44368" y="3767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 OM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31920" y="932688"/>
            <a:ext cx="484632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31920" y="932688"/>
            <a:ext cx="54864" cy="336499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1005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Breakdown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78224" y="1335024"/>
            <a:ext cx="1828800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13624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07024" y="1335024"/>
            <a:ext cx="1371600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1362456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78624" y="1335024"/>
            <a:ext cx="868680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42632" y="136245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Rev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78224" y="1700784"/>
            <a:ext cx="18288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172821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(S&amp;M)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07024" y="1700784"/>
            <a:ext cx="13716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71032" y="1728216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$632.8M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78624" y="1700784"/>
            <a:ext cx="8686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42632" y="172821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78224" y="2066544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42232" y="209397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 (R&amp;D)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07024" y="2066544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71032" y="2093976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$578.5M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78624" y="2066544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42632" y="209397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078224" y="2432304"/>
            <a:ext cx="18288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42232" y="245973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&amp; Administrative (G&amp;A)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07024" y="2432304"/>
            <a:ext cx="13716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2459736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$359.7M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2432304"/>
            <a:ext cx="8686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42632" y="245973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078224" y="2798064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42232" y="28254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07024" y="2798064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71032" y="2825496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$1,571.0M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78624" y="2798064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42632" y="282549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931920" y="3703320"/>
            <a:ext cx="4846320" cy="53035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041648" y="3730752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FY2024: Strong 77.5% gross margin — but heavy investment spending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−9.4% operating margin. Classic high-growth SaaS profile.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2.0  ·  Finance Basics 101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2.0 — Finance Basics 101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Metrics That Matter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107899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332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61488" y="1069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value of all active subscriptions. The north-star top-line metric for SaaS.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216712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167128"/>
            <a:ext cx="54864" cy="107899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02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61488" y="2276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28254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existing customers this year vs last. &gt;100% means upsell outpaces churn — growth without new logos.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337413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374136"/>
            <a:ext cx="54864" cy="107899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472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 Revenue Churn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61488" y="34838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ann.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032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customers (logo churn) or revenue (rev churn) lost in a period. Low churn = durable business.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64608" y="9601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960120"/>
            <a:ext cx="54864" cy="107899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0332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42048" y="1069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$28.4K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0" y="1618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S&amp;M spend ÷ new customers acquired. Measures sales efficiency.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64608" y="216712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2167128"/>
            <a:ext cx="54864" cy="107899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2402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42048" y="2276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29200" y="28254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ARR per customer × gross margin ÷ churn rate. LTV:CAC &gt; 3× is healthy.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64608" y="3273552"/>
            <a:ext cx="3913632" cy="1408176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74336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SAs need to know this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74336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CFOs speak in ARR and NRR — not revenue lines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74336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Your solution's ROI maps to NRR improvement or churn reduction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74336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Budget conversations start with "what's the ARR impact?"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2.0  ·  Finance Basics 101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2.0 — Finance Basics 101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FP&amp;A Calendar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9080" y="640080"/>
            <a:ext cx="1005840" cy="10058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69080" y="868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86200" y="356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86200" y="740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9864" y="1385657"/>
            <a:ext cx="128016" cy="128016"/>
          </a:xfrm>
          <a:prstGeom prst="ellipse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4761" y="1394460"/>
            <a:ext cx="1005840" cy="10058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4761" y="16230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4990" y="13761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34990" y="17602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031736" y="2587752"/>
            <a:ext cx="128016" cy="128016"/>
          </a:xfrm>
          <a:prstGeom prst="ellipse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4761" y="2903220"/>
            <a:ext cx="1005840" cy="10058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4761" y="31318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990" y="34152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34990" y="37993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769864" y="3789847"/>
            <a:ext cx="128016" cy="128016"/>
          </a:xfrm>
          <a:prstGeom prst="ellipse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3657600"/>
            <a:ext cx="1005840" cy="100584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69080" y="3886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200" y="4434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86200" y="4818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46120" y="3789847"/>
            <a:ext cx="128016" cy="128016"/>
          </a:xfrm>
          <a:prstGeom prst="ellipse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3399" y="2903220"/>
            <a:ext cx="1005840" cy="1005840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93399" y="31318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7410" y="34152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7410" y="37993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6–8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984248" y="2587752"/>
            <a:ext cx="128016" cy="128016"/>
          </a:xfrm>
          <a:prstGeom prst="ellipse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3399" y="1394460"/>
            <a:ext cx="1005840" cy="10058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93399" y="16230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7410" y="13761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7410" y="17602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94760" y="2304288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041648"/>
            <a:ext cx="54864" cy="6583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29768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② → ④ (close → variance analysis) consume 3 of the 5 close days — mostly on data wrangling, not insight. That's what AI compresses.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2.0  ·  Finance Basics 101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2.0 — Finance Basics 101  ·  Recap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0120"/>
            <a:ext cx="256032" cy="25603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9601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COGS = Gross Profit. Gross Profit − OpEx = Operating Income. ACME runs at 77.5% GM / −9.4% OM.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527048"/>
            <a:ext cx="256032" cy="25603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5270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and NRR are the two metrics CFOs anchor every conversation to. NRR &gt; 100% = growth from existing customers.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093976"/>
            <a:ext cx="256032" cy="25603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0939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CAC, and LTV define the unit economics of the business — your solution's ROI connects here.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660904"/>
            <a:ext cx="256032" cy="25603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6609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FP&amp;A calendar runs in a monthly cycle: close → flash → variance → commentary → board pack.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227832"/>
            <a:ext cx="256032" cy="25603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2278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3-day data-wrangling bottleneck inside the close cycle is the primary target for AI compression.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431596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370832"/>
            <a:ext cx="8375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enough finance to build for finance teams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2.0 Complete  ·  Next: 2.1 CFO Pain Points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 — CFO Pain Points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We're Solving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80467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8046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8101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ACME CFO doesn't have a technology problem. She has five time-and-accuracy problems — all of which have the same root cause: data locked away from the people who need 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901952"/>
            <a:ext cx="438912" cy="80467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Takes Too Long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days avg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816352"/>
            <a:ext cx="438912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81635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Lag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236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 for root-cause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7307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730752"/>
            <a:ext cx="438912" cy="80467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3075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Drift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4151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error by Q3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901952"/>
            <a:ext cx="438912" cy="8046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0195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Bottleneck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76672" y="23225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per ad-hoc query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15184" y="3730752"/>
            <a:ext cx="3913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15184" y="3730752"/>
            <a:ext cx="54864" cy="8229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15184" y="3730752"/>
            <a:ext cx="438912" cy="8229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3730752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45536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Hours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45536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day for board pack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 ·  CFO Pain Points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 — CFO Pain Points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1–3: Time and Accuracy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457200" cy="118872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Takes Too Long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12710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days average close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4904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of 6.4 days spent on data wrangling — pulling, reconciling, formatting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32688" y="16916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Finance team is blocked: no answers until close completes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32688" y="1892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Every extra day = delayed decisions at board level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44768" y="1069848"/>
            <a:ext cx="2523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069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target: compress to &lt; 4 days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4048" y="2276856"/>
            <a:ext cx="8375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276856"/>
            <a:ext cx="457200" cy="11887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331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Lag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2587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 for root-cause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2807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Actuals vs plan gap surfaces on Day 1 — explanation takes 2–3 more days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32688" y="30083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Analysts manually cross-reference P&amp;L, headcount, and GL data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32688" y="32095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Board needs the "why" in hours, not days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44768" y="2386584"/>
            <a:ext cx="2523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2386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target: root-cause in minutes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3593592"/>
            <a:ext cx="8375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593592"/>
            <a:ext cx="457200" cy="1188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3648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Drift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2688" y="39044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forecast error by Q3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" y="41239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Spreadsheet models updated monthly — stale within weeks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32688" y="43251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Plan-vs-actuals diverge silently; no alert system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2688" y="45262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Q3 reforecasting is a fire drill every quarter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44768" y="3703320"/>
            <a:ext cx="2523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37033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target: continuous what-if simulation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 ·  CFO Pain Points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 — CFO Pain Points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4–5: Data Access and Communication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457200" cy="173736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033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Bottleneck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" y="13258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lag per ad-hoc question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1600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Every question from CFO/VP requires a SQL query or IT ticket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18470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Analysts spend 60% of time on data retrieval, not analysis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32688" y="20939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Business decisions wait days for numbers that should take seconds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32688" y="23408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"Can you pull EMEA bookings by segment?" = 2-day wait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0" y="1088136"/>
            <a:ext cx="22677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881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target: natural language → instant answer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2880360"/>
            <a:ext cx="837590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880360"/>
            <a:ext cx="457200" cy="17373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Hours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3246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day to write board pack narrative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" y="35204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80% of commentary time is formatting and pulling prior-period text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2688" y="37673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20% is actual insight — and that's the part that matters to the board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40142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Three analysts involved; version-control nightmare in Google Docs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Tone and accuracy vary by author — inconsistent board narrative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0" y="3008376"/>
            <a:ext cx="22677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083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target: draft commentary in minutes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 ·  CFO Pain Points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 — CFO Pain Points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Cost: $900K Not Spent on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40233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34015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FP&amp;A Team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371600"/>
            <a:ext cx="1737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371600"/>
            <a:ext cx="54864" cy="9326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46304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4088" y="16642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4088" y="2066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50592" y="1371600"/>
            <a:ext cx="1773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371600"/>
            <a:ext cx="54864" cy="932688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14630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87752" y="166420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587752" y="20665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analyst / year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" y="2414016"/>
            <a:ext cx="36210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2414016"/>
            <a:ext cx="54864" cy="93268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50545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Team Cost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" y="270662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04088" y="310896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headcount investment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6928" y="3419856"/>
            <a:ext cx="36210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45643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allocation breakdown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3730752"/>
            <a:ext cx="1953158" cy="20116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4950" y="3730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 60%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3986784"/>
            <a:ext cx="813816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3986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  25%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28" y="4242816"/>
            <a:ext cx="488290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0082" y="4242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formatting  15%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90288" y="960120"/>
            <a:ext cx="416966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90288" y="960120"/>
            <a:ext cx="54864" cy="340156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Waste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1371600"/>
            <a:ext cx="3749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1371600"/>
            <a:ext cx="54864" cy="93268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146304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Data Wrangling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10328" y="166420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$900K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4910328" y="206654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$1.5M team — zero insight value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73168" y="2414016"/>
            <a:ext cx="3749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73168" y="2414016"/>
            <a:ext cx="54864" cy="93268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2505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Capacity Available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10328" y="2706624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$375K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4910328" y="310896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25% of team time on actual analysis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73168" y="341985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3493008"/>
            <a:ext cx="3749040" cy="749808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3529584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$900K/year is spent by highly-skilled analysts doing work that software should do. That is the opportunity AI is here to recover.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 ·  CFO Pain Points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 — CFO Pain Points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05840"/>
            <a:ext cx="7498080" cy="1463040"/>
          </a:xfrm>
          <a:prstGeom prst="rect">
            <a:avLst/>
          </a:prstGeom>
          <a:solidFill>
            <a:srgbClr val="0D1E3A"/>
          </a:solidFill>
          <a:ln w="12700">
            <a:solidFill>
              <a:srgbClr val="172A4A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115568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 locked away from the people who need it."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root cause behind all five pain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1417320" cy="38404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lag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012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85416" y="2670048"/>
            <a:ext cx="1417320" cy="38404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85416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delay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42616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67912" y="2670048"/>
            <a:ext cx="1417320" cy="38404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67912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drift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25112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50408" y="2670048"/>
            <a:ext cx="1417320" cy="38404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0408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bottleneck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07608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32904" y="2670048"/>
            <a:ext cx="1417320" cy="38404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32904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hours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90104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364992"/>
            <a:ext cx="8138160" cy="4754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3649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can't query their own data without SQL or an IT ticket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we're going to fix. Next: the cost of doing nothing.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Complete  ·  Next: 2.2 Cost of Inaction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2.2 — Cost of Inaction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Staying Manual Actually Costs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6583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6583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8101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know they have a problem. Few know what it's costing them in dollars. Let's make that concrete — because the CFO will ask.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783080"/>
            <a:ext cx="26700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783080"/>
            <a:ext cx="54864" cy="263347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2024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quantified cost of manual FP&amp;A at ACME scale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36976" y="1783080"/>
            <a:ext cx="26700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783080"/>
            <a:ext cx="54864" cy="2633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92024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19856" y="265176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recoverable with AI — identified by category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904" y="1783080"/>
            <a:ext cx="26700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783080"/>
            <a:ext cx="54864" cy="2633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92024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72784" y="265176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variance root-cause alone — the single best payback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4572000"/>
            <a:ext cx="8375904" cy="20116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8114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 we build the business case — the document you bring into the CFO's office.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 ·  Cost of Inaction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2.2 — Cost of Inaction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Manual Finance: $1.9M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0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60704"/>
            <a:ext cx="1256097" cy="40233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82177" y="106070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Lag (opportunity cost)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1172357" cy="40233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98437" y="17373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Bottleneck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414016"/>
            <a:ext cx="1060704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86784" y="24140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Delay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3090672"/>
            <a:ext cx="1060704" cy="4023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86784" y="30906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&amp; Formatting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3767328"/>
            <a:ext cx="753658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79738" y="37673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44622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498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COST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34640" y="4480560"/>
            <a:ext cx="5303520" cy="2560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$1,900K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33488" y="1005840"/>
            <a:ext cx="1426464" cy="3401568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33488" y="12801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182880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24928" y="2779776"/>
            <a:ext cx="1207008" cy="137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3488" y="283464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ACME-scale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 ·  Cost of Inaction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2.2 — Cost of Inaction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Recoverable with AI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164592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8755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29968" y="960120"/>
            <a:ext cx="100584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3976" y="98755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5808" y="960120"/>
            <a:ext cx="100584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98755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41648" y="960120"/>
            <a:ext cx="91440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5656" y="987552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56048" y="960120"/>
            <a:ext cx="3438144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0056" y="98755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Driver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1362456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138988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Lag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29968" y="1362456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3976" y="138988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35808" y="1362456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9816" y="138988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41648" y="1362456"/>
            <a:ext cx="914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5656" y="138988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56048" y="1362456"/>
            <a:ext cx="3438144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0056" y="138988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→ &lt;1 day automation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6479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1792224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Delay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29968" y="1764792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93976" y="1792224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35808" y="1764792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9816" y="1792224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41648" y="176479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5656" y="179222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56048" y="1764792"/>
            <a:ext cx="3438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0056" y="17922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 ROI on RCA alone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2167128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219456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29968" y="2167128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93976" y="219456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35808" y="2167128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9816" y="219456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$320K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41648" y="2167128"/>
            <a:ext cx="914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05656" y="21945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56048" y="2167128"/>
            <a:ext cx="3438144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19456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sim replaces quarterly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2569464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259689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Bottleneck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029968" y="2569464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93976" y="2596896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035808" y="2569464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9816" y="2596896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041648" y="256946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05656" y="259689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56048" y="2569464"/>
            <a:ext cx="3438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0056" y="259689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queries cut 48hr → seconds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84048" y="2971800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056" y="299923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029968" y="2971800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93976" y="299923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035808" y="2971800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99816" y="299923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041648" y="2971800"/>
            <a:ext cx="914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05656" y="2999232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956048" y="2971800"/>
            <a:ext cx="3438144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0056" y="299923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 saves 80% formatting time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84048" y="337413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" y="34015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029968" y="3374136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93976" y="340156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$1,900K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035808" y="3374136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99816" y="340156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041648" y="337413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05656" y="340156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956048" y="3374136"/>
            <a:ext cx="3438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0056" y="34015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fully-loaded analyst cost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84048" y="3895344"/>
            <a:ext cx="4023360" cy="80467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84048" y="3895344"/>
            <a:ext cx="54864" cy="8046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6928" y="3950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recovered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566928" y="4279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80% of one additional FP&amp;A headcount freed to do analysis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590288" y="3895344"/>
            <a:ext cx="4169664" cy="80467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590288" y="3895344"/>
            <a:ext cx="54864" cy="8046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73168" y="39502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 ROI on Variance RCA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4773168" y="4279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$340K saved on 3-person-day bottleneck; agent solves in 4 minutes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 ·  Cost of Inaction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2.2 — Cost of Inaction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Conversation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914400"/>
            <a:ext cx="7498080" cy="1005840"/>
          </a:xfrm>
          <a:prstGeom prst="rect">
            <a:avLst/>
          </a:prstGeom>
          <a:solidFill>
            <a:srgbClr val="0D1E3A"/>
          </a:solidFill>
          <a:ln w="12700">
            <a:solidFill>
              <a:srgbClr val="172A4A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969264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"You're not selling technology.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selling $1.2M back to the finance team."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" y="2084832"/>
            <a:ext cx="4187952" cy="2487168"/>
          </a:xfrm>
          <a:prstGeom prst="rect">
            <a:avLst/>
          </a:prstGeom>
          <a:solidFill>
            <a:srgbClr val="1A0A0A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084832"/>
            <a:ext cx="4187952" cy="34747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say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We're implementing an AI agent on Bedrock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" y="3090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It uses Anthropic Claude with RAG and dbt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" y="3639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 architecture has Lambda and Redshift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084832"/>
            <a:ext cx="4187952" cy="2487168"/>
          </a:xfrm>
          <a:prstGeom prst="rect">
            <a:avLst/>
          </a:prstGeom>
          <a:solidFill>
            <a:srgbClr val="0A1A10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084832"/>
            <a:ext cx="4187952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4336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Your analysts spend $900K/yr on data wrangling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74336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analysts spend $900K/yr on data wrangling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74336" y="3090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 recover $1.2M — starting with your close 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74336" y="3090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 recover $1.2M — starting with your close cycle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74336" y="3639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First result in 6 weeks; board sees it in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74336" y="3639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result in 6 weeks; board sees it in 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Complete  ·  Next: 2.3 Why Now?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2.3 — Why Now?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Didn't Work in 2019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658368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6583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8101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has been tried before — and it failed. Understanding why it failed then, and why conditions are fundamentally different now, is what makes this a defensible architecture recommendation.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26700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28800"/>
            <a:ext cx="54864" cy="2633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38528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2064" y="24688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85292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Claude/GPT understand finance language out of the box — no custom training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36976" y="1828800"/>
            <a:ext cx="26700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828800"/>
            <a:ext cx="54864" cy="2633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1938528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64992" y="24688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85292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inference. No ML expertise needed. SOC 2 compliant. Pay-per-token.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1828800"/>
            <a:ext cx="26700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828800"/>
            <a:ext cx="54864" cy="2633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938528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Maturity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85292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semantic data layer. Finance marts are AI-ready. No raw SQL chaos.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  ·  Why Now?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2.3 — Why Now?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2019 Attempt: What Went Wrong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1993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98755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515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" y="12527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1208" y="16550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reach baseline accuracy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960120"/>
            <a:ext cx="1993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960120"/>
            <a:ext cx="54864" cy="98755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0515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97480" y="12527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97480" y="16550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model development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36592" y="960120"/>
            <a:ext cx="1993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960120"/>
            <a:ext cx="54864" cy="98755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0515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73752" y="12527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873752" y="16550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financial query understanding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12864" y="960120"/>
            <a:ext cx="1993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12864" y="960120"/>
            <a:ext cx="54864" cy="9875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10515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50024" y="12527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050024" y="16550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reverted to Excel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2084832"/>
            <a:ext cx="8375904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0352" y="2157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2468880"/>
            <a:ext cx="804672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" y="2651760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foundation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" y="2834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models had to learn financial language from scratch — "COGS", "OpEx", "variance to plan" are not in Wikipedia.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2064" y="3474720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wasn't ready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" y="3657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lived in 14 spreadsheets and a legacy ERP. No semantic layer. Every query was a custom ETL job.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18304" y="2651760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expertise gap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01184" y="2834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team couldn't maintain models. IT owned them. When queries drifted, retraining took months.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18304" y="3474720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success metric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01184" y="3657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accuracy sounds decent — until you realize a CFO will never trust a number with 38% error rate.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  ·  Why Now?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2.3 — Why Now?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Three-Shift Convergence: What Changed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960120"/>
            <a:ext cx="2798064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60120"/>
            <a:ext cx="54864" cy="373075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960120"/>
            <a:ext cx="2798064" cy="4389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960120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100584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8096" y="12435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GPT-4, Gemini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1481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Understand financial language without custom training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2029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"What's our Q3 EMEA variance?" → parsed correctly, first try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5786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Reasoning capability: can explain numbers, not just retrieve them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3127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ACME uses: Claude 3.5 Sonnet on Bedrock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36976" y="960120"/>
            <a:ext cx="2798064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960120"/>
            <a:ext cx="54864" cy="373075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36976" y="960120"/>
            <a:ext cx="2798064" cy="43891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960120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100584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12464" y="12435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2023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64992" y="1481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Managed inference — no GPU fleet to operate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64992" y="2029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 2 Type II, HIPAA eligible, VPC isolation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64992" y="25786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Pay-per-token; no minimum commitment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64992" y="3127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AgentCore launched 2024: managed agent orchestration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81344" y="960120"/>
            <a:ext cx="2798064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960120"/>
            <a:ext cx="54864" cy="3730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960120"/>
            <a:ext cx="2798064" cy="43891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960120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56832" y="100584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Semantic Layer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56832" y="12435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Finance-ready data marts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09360" y="1481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Clean, tested, documented SQL models — finance owns them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2029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mart_pl, mart_arr, mart_variance: AI-queryable out of the box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25786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Metric definitions locked in YAML — LLM can't hallucinate them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09360" y="3127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Version-controlled finance logic; reproducible results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2608" y="4736592"/>
            <a:ext cx="855878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  ·  Why Now?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2.3 — Why Now?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Timeline: From Failed Experiments to Working Agents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8046720" cy="73152"/>
          </a:xfrm>
          <a:prstGeom prst="rect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670048"/>
            <a:ext cx="347472" cy="347472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00784" y="2743200"/>
            <a:ext cx="36576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395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2395728" cy="27432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77393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176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NLP, $2M, 62% accuracy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abandoned it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33672" y="2670048"/>
            <a:ext cx="347472" cy="347472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9976" y="2834640"/>
            <a:ext cx="36576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2194560"/>
            <a:ext cx="2395728" cy="1170432"/>
          </a:xfrm>
          <a:prstGeom prst="rect">
            <a:avLst/>
          </a:prstGeom>
          <a:solidFill>
            <a:srgbClr val="EEF0F4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2194560"/>
            <a:ext cx="2395728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1945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250545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Emerge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29077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GPT-3.5, then GPT-4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language understood OOTB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12864" y="2670048"/>
            <a:ext cx="347472" cy="34747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59168" y="2743200"/>
            <a:ext cx="36576" cy="2560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1463040"/>
            <a:ext cx="23957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07024" y="1463040"/>
            <a:ext cx="2395728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7024" y="14630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98464" y="177393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GA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98464" y="2176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inference live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agent orchestration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592056" y="2670048"/>
            <a:ext cx="347472" cy="34747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38360" y="2834640"/>
            <a:ext cx="36576" cy="8046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86216" y="2194560"/>
            <a:ext cx="2395728" cy="1170432"/>
          </a:xfrm>
          <a:prstGeom prst="rect">
            <a:avLst/>
          </a:prstGeom>
          <a:solidFill>
            <a:srgbClr val="EEF0F4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86216" y="2194560"/>
            <a:ext cx="2395728" cy="2743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86216" y="21945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77656" y="250545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77656" y="29077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live on Bedrock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queries + RCA + what-if sim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  ·  Why Now?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2.3 — Why Now?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First-Mover Window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914400"/>
            <a:ext cx="7498080" cy="1207008"/>
          </a:xfrm>
          <a:prstGeom prst="rect">
            <a:avLst/>
          </a:prstGeom>
          <a:solidFill>
            <a:srgbClr val="0D1E3A"/>
          </a:solidFill>
          <a:ln w="12700">
            <a:solidFill>
              <a:srgbClr val="172A4A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969264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CFOs who deploy this in 2025–2026 will expect it everywhere by 2027. The window is open — but it won't stay open."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4048" y="2322576"/>
            <a:ext cx="2743200" cy="2212848"/>
          </a:xfrm>
          <a:prstGeom prst="rect">
            <a:avLst/>
          </a:prstGeom>
          <a:solidFill>
            <a:srgbClr val="0D1E3A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2395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" y="28346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314553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are already in pilot. Finance transformation is a board-level conversation at 40% of F500 companies right now (Gartner 2025).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10128" y="2322576"/>
            <a:ext cx="2743200" cy="2212848"/>
          </a:xfrm>
          <a:prstGeom prst="rect">
            <a:avLst/>
          </a:prstGeom>
          <a:solidFill>
            <a:srgbClr val="0D1E3A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2395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waiting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38144" y="314553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 of manual close = $475K in recoverable costs left on the table. Two more quarters = another analyst salary wasted.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36208" y="2322576"/>
            <a:ext cx="2743200" cy="2212848"/>
          </a:xfrm>
          <a:prstGeom prst="rect">
            <a:avLst/>
          </a:prstGeom>
          <a:solidFill>
            <a:srgbClr val="0D1E3A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2395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64224" y="28346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advantage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64224" y="314553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build the data foundation now — clean dbt marts, Bedrock wiring — will have a 12-month head start on every subsequent capability.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 Complete  ·  Next: 2.4 Three AI Capabilities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2.4 — Three AI Capabilities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AI Can Do for Finance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64008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6400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8101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ACME Finance Agent exposes three Lambda-backed tools. Each maps directly to a CFO pain point. Understanding what each tool does — and doesn't do — is core to your architecture conversations.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810512"/>
            <a:ext cx="2779776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10512"/>
            <a:ext cx="54864" cy="28895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20240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2064" y="24505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NL Understanding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2798064"/>
            <a:ext cx="2523744" cy="2194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7980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" y="3072384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 → SQL → answer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" y="3621024"/>
            <a:ext cx="252374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62102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Data bottleneck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10128" y="1810512"/>
            <a:ext cx="2779776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810512"/>
            <a:ext cx="54864" cy="288950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920240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38144" y="24505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Reasoning &amp; RCA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38144" y="2798064"/>
            <a:ext cx="2523744" cy="21945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27980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38144" y="3072384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 plan → ranked drivers → explanation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38144" y="3621024"/>
            <a:ext cx="252374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362102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Variance lag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36208" y="1810512"/>
            <a:ext cx="2779776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1810512"/>
            <a:ext cx="54864" cy="288950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920240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64224" y="24505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Simulation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64224" y="2798064"/>
            <a:ext cx="2523744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7980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64224" y="3072384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cut R&amp;D 15%?" → instant scenario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64224" y="3621024"/>
            <a:ext cx="252374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362102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Forecast drift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2.4  ·  Three AI Capabilities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2.4 — Three AI Capabilities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1 — NL Understanding: text_to_sql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05840"/>
            <a:ext cx="475488" cy="6400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10607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asks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50976" y="1316736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EMEA revenue in Q3 2024?"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6276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755648"/>
            <a:ext cx="6583680" cy="640080"/>
          </a:xfrm>
          <a:prstGeom prst="rect">
            <a:avLst/>
          </a:prstGeom>
          <a:solidFill>
            <a:srgbClr val="EEF0F4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755648"/>
            <a:ext cx="475488" cy="64008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5564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parses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50976" y="2066544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Identifies: dimension=region, filter=EMEA, period=Q3, metric=revenue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505456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505456"/>
            <a:ext cx="475488" cy="6400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0545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" y="2560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0976" y="2816352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SUM(revenue) FROM mart_pl WHERE region='EMEA' AND quarter='Q3'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1272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255264"/>
            <a:ext cx="6583680" cy="640080"/>
          </a:xfrm>
          <a:prstGeom prst="rect">
            <a:avLst/>
          </a:prstGeom>
          <a:solidFill>
            <a:srgbClr val="EEF0F4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255264"/>
            <a:ext cx="475488" cy="6400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255264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976" y="3310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query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50976" y="356616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against ACME mart_pl. Returns: $312.4M in 0.8s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387705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005072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4005072"/>
            <a:ext cx="475488" cy="6400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0050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0976" y="40599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delivered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50976" y="4315968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"EMEA Q3 revenue was $312.4M, +14.2% vs plan."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50608" y="1005840"/>
            <a:ext cx="1609344" cy="374904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0608" y="1005840"/>
            <a:ext cx="54864" cy="374904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10789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96912" y="153619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96912" y="2231136"/>
            <a:ext cx="1316736" cy="137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96912" y="2304288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lag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42048" y="325526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analyst. Any question. Zero tickets.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2.4  ·  Three AI Capabilities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2.4 — Three AI Capabilities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2 — Reasoning: variance_rca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475488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373075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2412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 Plan — October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1353312"/>
            <a:ext cx="164592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8074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84832" y="1353312"/>
            <a:ext cx="69494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38074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79776" y="1353312"/>
            <a:ext cx="69494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138074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0" y="1353312"/>
            <a:ext cx="78638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13807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61104" y="1353312"/>
            <a:ext cx="658368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5112" y="1380744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" y="1700784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72821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Personnel — Eng EMEA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84832" y="1700784"/>
            <a:ext cx="6949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17282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79776" y="1700784"/>
            <a:ext cx="6949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17282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$15.1M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1700784"/>
            <a:ext cx="78638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17282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+$3.1M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61104" y="1700784"/>
            <a:ext cx="65836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17282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8912" y="2048256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 — AWS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84832" y="2048256"/>
            <a:ext cx="6949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20756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79776" y="2048256"/>
            <a:ext cx="6949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20756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$5.9M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0" y="2048256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0756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61104" y="204825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25112" y="207568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8912" y="2395728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42316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— Events &amp; Field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84832" y="2395728"/>
            <a:ext cx="6949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48840" y="24231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79776" y="2395728"/>
            <a:ext cx="6949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43784" y="24231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474720" y="2395728"/>
            <a:ext cx="78638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38728" y="24231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61104" y="2395728"/>
            <a:ext cx="65836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5112" y="242316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8912" y="274320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27706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— Professional Svcs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84832" y="2743200"/>
            <a:ext cx="6949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48840" y="27706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79776" y="2743200"/>
            <a:ext cx="6949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7706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74720" y="2743200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38728" y="2770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61104" y="274320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25112" y="277063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8912" y="3090672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311810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OVER-PLAN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84832" y="3090672"/>
            <a:ext cx="6949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48840" y="31181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$31.3M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79776" y="3090672"/>
            <a:ext cx="6949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43784" y="31181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$26.4M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474720" y="3090672"/>
            <a:ext cx="78638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38728" y="31181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+$4.9M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61104" y="3090672"/>
            <a:ext cx="65836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25112" y="3118104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38912" y="3621024"/>
            <a:ext cx="45720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magnitude. Top driver identified in 4 minutes vs 3 analyst-days.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38912" y="4059936"/>
            <a:ext cx="4572000" cy="475488"/>
          </a:xfrm>
          <a:prstGeom prst="rect">
            <a:avLst/>
          </a:prstGeom>
          <a:solidFill>
            <a:srgbClr val="E1F4F4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0352" y="40965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 ROI: $340K saved on 3-analyst-day process → agent solves in 4 min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321808" y="960120"/>
            <a:ext cx="3438144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321808" y="960120"/>
            <a:ext cx="54864" cy="373075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68112" y="102412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Explanation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321808" y="1335024"/>
            <a:ext cx="343814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68112" y="1408176"/>
            <a:ext cx="146304" cy="1463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87568" y="1389888"/>
            <a:ext cx="2999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variance of +$4.9M vs plan is driven primarily by R&amp;D Personnel in Engineering EMEA (+$3.1M, 20.5% over).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468112" y="2176272"/>
            <a:ext cx="146304" cy="1463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87568" y="2157984"/>
            <a:ext cx="2999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 3 senior engineer hires accelerated from Q1 2025 into Q4 2024 following competitive retention pressure.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468112" y="2944368"/>
            <a:ext cx="146304" cy="1463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87568" y="2926080"/>
            <a:ext cx="2999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overage (+$0.9M) reflects prod environment scaling for the EMEA launch — expected to normalize.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468112" y="3712464"/>
            <a:ext cx="146304" cy="1463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87568" y="3694176"/>
            <a:ext cx="2999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update Q4 R&amp;D headcount assumption in model; present at next board cycle with revised full-year guidance.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2.4  ·  Three AI Capabilities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2.4 — Three AI Capabilities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3 — Simulation: whatif_sim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621792"/>
          </a:xfrm>
          <a:prstGeom prst="rect">
            <a:avLst/>
          </a:prstGeom>
          <a:solidFill>
            <a:srgbClr val="0E1525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877824" cy="62179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60120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asks: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35024" y="10058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cut R&amp;D spend by 15% in H2? What does that do to our operating margin?"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773936"/>
            <a:ext cx="1828800" cy="3474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0" y="1773936"/>
            <a:ext cx="1828800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14032" y="1773936"/>
            <a:ext cx="1828800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157984"/>
            <a:ext cx="2834640" cy="475488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15798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Annual Spend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0128" y="2157984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1579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$578.5M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0" y="2157984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1579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$491.7M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14032" y="2157984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21579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−$86.8M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2670048"/>
            <a:ext cx="2834640" cy="475488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6700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as % Revenue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2670048"/>
            <a:ext cx="1828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670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0" y="2670048"/>
            <a:ext cx="1828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670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14032" y="2670048"/>
            <a:ext cx="1828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2670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−4.8pp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3182112"/>
            <a:ext cx="2834640" cy="475488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1821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10128" y="318211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182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12080" y="318211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182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−6.1%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14032" y="318211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3182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+3.3pp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" y="3694176"/>
            <a:ext cx="2834640" cy="475488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6941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10128" y="3694176"/>
            <a:ext cx="1828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−$169.9M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12080" y="3694176"/>
            <a:ext cx="1828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−$107.0M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14032" y="3694176"/>
            <a:ext cx="1828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" y="4206240"/>
            <a:ext cx="4023360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" y="4206240"/>
            <a:ext cx="54864" cy="5669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 margin improvement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" y="4498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 operating income recovery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90288" y="4206240"/>
            <a:ext cx="4169664" cy="56692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90288" y="4206240"/>
            <a:ext cx="54864" cy="56692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answer: &lt; 3 seconds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73168" y="4498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2–3 hours for spreadsheet scenario build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2.4  ·  Three AI Capabilities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2.5 — Maturity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Levels of Finance AI Maturity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8375904" cy="640080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0120"/>
            <a:ext cx="54864" cy="6400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8101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enterprise is at the same starting point. This maturity model helps you position ACME's solution correctly — and helps your client see where they are vs where they're going.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3657600"/>
            <a:ext cx="2048256" cy="822960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373075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405993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4517136"/>
            <a:ext cx="204825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68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976" y="3328416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328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enterprises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96896" y="3182112"/>
            <a:ext cx="2048256" cy="129844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96896" y="3255264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96896" y="358444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96896" y="4517136"/>
            <a:ext cx="204825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63824" y="285292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enterprises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09744" y="2706624"/>
            <a:ext cx="2048256" cy="17739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9744" y="277977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9744" y="310896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9744" y="4517136"/>
            <a:ext cx="204825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76672" y="237744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of enterprises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022592" y="2231136"/>
            <a:ext cx="2048256" cy="224942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22592" y="230428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2592" y="263347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22592" y="4517136"/>
            <a:ext cx="204825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190195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enterprises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32304" y="1719072"/>
            <a:ext cx="2212848" cy="29260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171907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ACME is HERE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2.5  ·  Maturity Model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2.5 — Maturity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 Detail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960120"/>
            <a:ext cx="1828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60120"/>
            <a:ext cx="1828800" cy="402336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60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Assisted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444752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market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— including 68% of F500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2311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Tableau, Power BI, Excel, custom reports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29443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requires a human to write a query or build a chart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325526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34564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31136" y="960120"/>
            <a:ext cx="1828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31136" y="960120"/>
            <a:ext cx="1828800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1136" y="960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Augmented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22576" y="1444752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2576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market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304288" y="171907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304288" y="19202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— ahead of most peers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304288" y="22311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304288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(text_to_sql), AI commentary draft, variance RCA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04288" y="27432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304288" y="29443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assists but analyst owns the workflow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304288" y="325526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304288" y="34564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Bedrock + Lambda tools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69664" y="960120"/>
            <a:ext cx="1828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69664" y="960120"/>
            <a:ext cx="1828800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9664" y="960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Integrated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61104" y="1444752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1104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of market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42816" y="171907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242816" y="19202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 — typically tech-sector finance teams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242816" y="22311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242816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handles close checklist items, auto-reconciliation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242816" y="27432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242816" y="29443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review and approve; agent executes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242816" y="325526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42816" y="34564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+ multi-step workflows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08192" y="960120"/>
            <a:ext cx="1828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08192" y="960120"/>
            <a:ext cx="1828800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08192" y="960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Autonomous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99632" y="1444752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market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81344" y="171907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81344" y="19202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— emerging in 2026–2028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81344" y="22311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181344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closes books, flags anomalies, files regulatory reports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181344" y="27432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81344" y="29443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sets policy; agent operates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181344" y="325526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81344" y="34564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loop + human-in-the-loop governance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231136" y="4681728"/>
            <a:ext cx="1828800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31136" y="4681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is here  ▲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2.5  ·  Maturity Model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2.5 — Maturity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Distribution: Where Enterprises Actually Are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25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Assisted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87168" y="1170432"/>
            <a:ext cx="3730752" cy="402336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27648" y="11704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Augmented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1975104"/>
            <a:ext cx="1316736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13632" y="197510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Integrated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87168" y="2779776"/>
            <a:ext cx="384048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80944" y="277977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639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Autonomous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87168" y="3584448"/>
            <a:ext cx="54864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51760" y="358444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4279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2024 CFO Survey — Finance Technology Adoption (approximate)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19088" y="1005840"/>
            <a:ext cx="2340864" cy="340156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1005840"/>
            <a:ext cx="54864" cy="34015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107899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is ahead of the curve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65392" y="153619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enterprises are still at L1 or lower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65392" y="1993392"/>
            <a:ext cx="2048256" cy="137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066544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L1 → L2 in 10 weeks is the wedge. L3 follows naturally once the data foundation is in place.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65392" y="2907792"/>
            <a:ext cx="2048256" cy="137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2980944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positions itself for L3 by end of 2026 — putting it in the top 7% globally.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2.5  ·  Maturity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Complete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603504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03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structure: Revenue → GP (77.5%) → OpEx → Operating Income (−9.4%). ACME is a high-growth SaaS.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078992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0789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metrics: ARR, NRR (&gt;100% = growth from existing), Churn, CAC, LTV. Your ROI connects here.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554480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CFO pain points share one root cause: data locked away. $1.9M annual cost; $1.2M recoverable.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029968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0299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AI failed because of no foundation models, no clean data layer, and ML expertise gaps.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505456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250545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Three-shift convergence (foundation models + Bedrock GA + dbt) makes 2024–2026 structurally different.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980944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80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298094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Lambda tools: text_to_sql (NL → answer), variance_rca (28× ROI), whatif_sim (instant scenarios).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3456432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34564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at Level 2 (top 24%). Path to Level 3 by end of 2026 — top 7% globally.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437083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443984"/>
            <a:ext cx="8375904" cy="347472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44531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Section 3 — Transformation Strategy  →  Use cases, architecture, and the 10-week roadmap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Complete  ·  Finance Domain and the Problem We're Solving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2 — Finance Domain and the Problem We're Solving</dc:title>
  <dc:subject>PptxGenJS Presentation</dc:subject>
  <dc:creator>ACME Finance Course</dc:creator>
  <cp:lastModifiedBy>ACME Finance Course</cp:lastModifiedBy>
  <cp:revision>1</cp:revision>
  <dcterms:created xsi:type="dcterms:W3CDTF">2026-05-10T01:43:56Z</dcterms:created>
  <dcterms:modified xsi:type="dcterms:W3CDTF">2026-05-10T01:43:56Z</dcterms:modified>
</cp:coreProperties>
</file>