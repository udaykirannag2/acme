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0" y="9144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64008" cy="1828800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658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67512" y="89611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67512" y="1883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 ·  5 modules  ·  18 slides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2313432"/>
            <a:ext cx="256032" cy="256032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313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87552" y="22860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15968" y="22860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67512" y="2715768"/>
            <a:ext cx="256032" cy="256032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715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87552" y="26883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Path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15968" y="26883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7512" y="3118104"/>
            <a:ext cx="256032" cy="256032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87552" y="30906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Path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15968" y="30906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256032" cy="256032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987552" y="34930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15968" y="349300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7512" y="3922776"/>
            <a:ext cx="256032" cy="256032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922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87552" y="38953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Monitoring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15968" y="3895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Reference Architecture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Module 5.1 — Architecture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Finance: Full System Architecture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layers — Presentation · Orchestration · Data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914400"/>
            <a:ext cx="8631936" cy="804672"/>
          </a:xfrm>
          <a:prstGeom prst="rect">
            <a:avLst/>
          </a:prstGeom>
          <a:solidFill>
            <a:srgbClr val="EEF6FB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509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0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56032" y="1865376"/>
            <a:ext cx="8631936" cy="1664208"/>
          </a:xfrm>
          <a:prstGeom prst="rect">
            <a:avLst/>
          </a:prstGeom>
          <a:solidFill>
            <a:srgbClr val="EEF0F4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901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56032" y="3657600"/>
            <a:ext cx="8631936" cy="950976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6941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29184" y="1060704"/>
            <a:ext cx="8321040" cy="54864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8912" y="1097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13533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8501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901952" y="1170432"/>
            <a:ext cx="1042416" cy="329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01952" y="117043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035808" y="1170432"/>
            <a:ext cx="1042416" cy="329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35808" y="117043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69664" y="1170432"/>
            <a:ext cx="1042416" cy="329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9664" y="117043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303520" y="1170432"/>
            <a:ext cx="1042416" cy="329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17043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437376" y="1170432"/>
            <a:ext cx="1042416" cy="329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117043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571232" y="1170432"/>
            <a:ext cx="1042416" cy="329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71232" y="117043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9184" y="2322576"/>
            <a:ext cx="1389888" cy="713232"/>
          </a:xfrm>
          <a:prstGeom prst="rect">
            <a:avLst/>
          </a:prstGeom>
          <a:solidFill>
            <a:srgbClr val="EDE9F7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02336" y="236829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02336" y="27249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store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810512" y="2322576"/>
            <a:ext cx="1444752" cy="713232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883664" y="236829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883664" y="263347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LUUHZWRDA4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364992" y="2322576"/>
            <a:ext cx="144475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B2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38144" y="236829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38144" y="2633472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8000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 /metrics/*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919472" y="2322576"/>
            <a:ext cx="1554480" cy="713232"/>
          </a:xfrm>
          <a:prstGeom prst="rect">
            <a:avLst/>
          </a:prstGeom>
          <a:solidFill>
            <a:srgbClr val="E1F4F4"/>
          </a:solidFill>
          <a:ln w="12700">
            <a:solidFill>
              <a:srgbClr val="3093A8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992624" y="2368296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92624" y="27249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2025-03-26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6583680" y="2322576"/>
            <a:ext cx="2267712" cy="713232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675120" y="23591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Functions (5)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675120" y="2569464"/>
            <a:ext cx="20848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11696" y="2569464"/>
            <a:ext cx="202996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text_to_sql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6675120" y="2660904"/>
            <a:ext cx="20848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11696" y="2660904"/>
            <a:ext cx="202996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6675120" y="2752344"/>
            <a:ext cx="20848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11696" y="2752344"/>
            <a:ext cx="202996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variance_rca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6675120" y="2843784"/>
            <a:ext cx="20848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11696" y="2843784"/>
            <a:ext cx="202996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whatif_sim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6675120" y="2935224"/>
            <a:ext cx="2084832" cy="8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11696" y="2935224"/>
            <a:ext cx="202996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describe_metric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1645920" y="3822192"/>
            <a:ext cx="5669280" cy="640080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773936" y="3877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Serverless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773936" y="415137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acme-finance-dev  ·  analytics_dev_marts schema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071366" y="1719072"/>
            <a:ext cx="32004" cy="60350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42232" y="17739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3255264" y="2663190"/>
            <a:ext cx="109728" cy="3200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249631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1719072" y="2663190"/>
            <a:ext cx="91440" cy="32004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737360" y="24231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retrieve/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550" dirty="0"/>
          </a:p>
        </p:txBody>
      </p:sp>
      <p:sp>
        <p:nvSpPr>
          <p:cNvPr id="63" name="Shape 61"/>
          <p:cNvSpPr/>
          <p:nvPr/>
        </p:nvSpPr>
        <p:spPr>
          <a:xfrm>
            <a:off x="4809744" y="2663190"/>
            <a:ext cx="109728" cy="32004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46320" y="24963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30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6473952" y="2663190"/>
            <a:ext cx="109728" cy="3200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92240" y="24963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7701534" y="3035808"/>
            <a:ext cx="32004" cy="78638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0" y="312724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4071366" y="3035808"/>
            <a:ext cx="32004" cy="786384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42232" y="309067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Module 5.1 — Architecture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Inventory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components — 3 layers — every dependency is explicit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886968"/>
            <a:ext cx="1874520" cy="30175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14400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30552" y="886968"/>
            <a:ext cx="1143000" cy="30175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914400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73552" y="886968"/>
            <a:ext cx="1024128" cy="30175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914400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97680" y="886968"/>
            <a:ext cx="4389120" cy="30175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1688" y="914400"/>
            <a:ext cx="4261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Configuration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1188720"/>
            <a:ext cx="18745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216152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30552" y="1188720"/>
            <a:ext cx="11430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1216152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73552" y="1188720"/>
            <a:ext cx="102412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1615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97680" y="1188720"/>
            <a:ext cx="43891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61688" y="1216152"/>
            <a:ext cx="4261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8501  ·  6 tabs: P&amp;L, ARR, AR Aging, AI Analyst, Commentary, Board Pack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" y="1490472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517904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130552" y="1490472"/>
            <a:ext cx="11430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1517904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73552" y="1490472"/>
            <a:ext cx="102412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1517904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97680" y="1490472"/>
            <a:ext cx="43891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61688" y="1517904"/>
            <a:ext cx="4261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  ·  /chat /commentary /boardpack /metrics/* /health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1792224"/>
            <a:ext cx="18745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1819656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130552" y="1792224"/>
            <a:ext cx="11430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0" y="1819656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Orchestrator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73552" y="1792224"/>
            <a:ext cx="102412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1819656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297680" y="1792224"/>
            <a:ext cx="43891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61688" y="1819656"/>
            <a:ext cx="4261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 ·  Agent ID: LUUHZWRDA4  ·  ReAct loop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6032" y="2093976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121408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130552" y="2093976"/>
            <a:ext cx="11430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0" y="2121408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73552" y="2093976"/>
            <a:ext cx="102412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2121408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297680" y="2093976"/>
            <a:ext cx="43891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61688" y="2121408"/>
            <a:ext cx="4261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 2025-03-26  ·  routes calls to 5 Lambdas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56032" y="2395728"/>
            <a:ext cx="18745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2423160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text_to_sql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130552" y="2395728"/>
            <a:ext cx="11430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2423160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73552" y="2395728"/>
            <a:ext cx="102412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37560" y="2423160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297680" y="2395728"/>
            <a:ext cx="43891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61688" y="2423160"/>
            <a:ext cx="4261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SQL  ·  Redshift Data API  ·  schema-aware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56032" y="2697480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2724912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forecast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130552" y="2697480"/>
            <a:ext cx="11430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94560" y="2724912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273552" y="2697480"/>
            <a:ext cx="102412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37560" y="272491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297680" y="2697480"/>
            <a:ext cx="43891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61688" y="2724912"/>
            <a:ext cx="4261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4-quarter revenue &amp; expense projections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56032" y="2999232"/>
            <a:ext cx="18745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026664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variance_rca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130552" y="2999232"/>
            <a:ext cx="11430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94560" y="3026664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273552" y="2999232"/>
            <a:ext cx="102412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37560" y="3026664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297680" y="2999232"/>
            <a:ext cx="43891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61688" y="3026664"/>
            <a:ext cx="4261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vs plan  ·  ranked by cost center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56032" y="3300984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" y="3328416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whatif_sim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130552" y="3300984"/>
            <a:ext cx="11430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194560" y="3328416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273552" y="3300984"/>
            <a:ext cx="102412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37560" y="3328416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297680" y="3300984"/>
            <a:ext cx="43891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61688" y="3328416"/>
            <a:ext cx="4261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change simulations on P&amp;L lines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56032" y="3602736"/>
            <a:ext cx="18745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" y="3630168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describe_metric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130552" y="3602736"/>
            <a:ext cx="11430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194560" y="3630168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273552" y="3602736"/>
            <a:ext cx="102412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37560" y="3630168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297680" y="3602736"/>
            <a:ext cx="43891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61688" y="3630168"/>
            <a:ext cx="4261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glossary  ·  metric definitions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256032" y="3904488"/>
            <a:ext cx="1874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0040" y="3931920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2130552" y="3904488"/>
            <a:ext cx="11430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194560" y="3931920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Store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273552" y="3904488"/>
            <a:ext cx="102412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337560" y="3931920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297680" y="3904488"/>
            <a:ext cx="43891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361688" y="3931920"/>
            <a:ext cx="4261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analyst memory  ·  top-5 retrieval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256032" y="4206240"/>
            <a:ext cx="18745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20040" y="4233672"/>
            <a:ext cx="1746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Serverless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2130552" y="4206240"/>
            <a:ext cx="11430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194560" y="4233672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3273552" y="4206240"/>
            <a:ext cx="102412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337560" y="4233672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297680" y="4206240"/>
            <a:ext cx="43891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361688" y="4233672"/>
            <a:ext cx="4261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Workgroup: acme-finance-dev  ·  schema: analytics_dev_marts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Module 5.1 — Architecture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Design Principle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by design — every AI call is traceable end-to-end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987552"/>
            <a:ext cx="8138160" cy="1554480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987552"/>
            <a:ext cx="91440" cy="1554480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060704"/>
            <a:ext cx="7680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AI call goes through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→ Gateway → Lambda → Redshift.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DB access from the UI."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267004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761488"/>
            <a:ext cx="54864" cy="1719072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8346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" y="3200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3493008"/>
            <a:ext cx="237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logged. Bedrock traces every ReAct step. You can replay any conversation.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55848" y="2761488"/>
            <a:ext cx="267004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55848" y="2761488"/>
            <a:ext cx="54864" cy="17190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8346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20440" y="3200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3493008"/>
            <a:ext cx="237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Claude for another model, swap Lambda logic, swap Redshift — the contract stays the same.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08776" y="2761488"/>
            <a:ext cx="267004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8776" y="2761488"/>
            <a:ext cx="54864" cy="17190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28346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73368" y="3200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73368" y="3493008"/>
            <a:ext cx="237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has zero data permissions. Lambda roles are narrowly scoped. No surprise access paths.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0" y="9144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80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54864" cy="1463040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8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5.2 — The Data Path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89611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Dashboard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Flows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77393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the direct metrics path from browser to Redshift — no agent involved.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2304288"/>
            <a:ext cx="960120" cy="237744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30428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Reference Architecture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Module 5.2 — The Data Path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Metrics Path: The P&amp;L Tab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path bypasses the agent — optimised for speed and predictability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1115568"/>
            <a:ext cx="1261872" cy="100584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" y="1161288"/>
            <a:ext cx="274320" cy="27432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6616" y="14630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tab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" y="1847088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63624" y="1499616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64208" y="1115568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B2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700784" y="1161288"/>
            <a:ext cx="274320" cy="274320"/>
          </a:xfrm>
          <a:prstGeom prst="ellipse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0784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28216" y="14630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/metrics/pl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28216" y="1847088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935224" y="1499616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35808" y="1115568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B2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072384" y="1161288"/>
            <a:ext cx="274320" cy="274320"/>
          </a:xfrm>
          <a:prstGeom prst="ellipse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72384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99816" y="14630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99816" y="1847088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API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306824" y="1499616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07408" y="1115568"/>
            <a:ext cx="1261872" cy="1005840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43984" y="1161288"/>
            <a:ext cx="274320" cy="27432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71416" y="14630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runs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Redshift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71416" y="1847088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analytics_dev_marts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678424" y="1499616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79008" y="1115568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B2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815584" y="1161288"/>
            <a:ext cx="274320" cy="274320"/>
          </a:xfrm>
          <a:prstGeom prst="ellipse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15584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43016" y="14630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43016" y="1847088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rows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050024" y="1499616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50608" y="1115568"/>
            <a:ext cx="1261872" cy="1005840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187184" y="1161288"/>
            <a:ext cx="274320" cy="274320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7184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214616" y="14630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chart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14616" y="1847088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92608" y="2340864"/>
            <a:ext cx="8558784" cy="530352"/>
          </a:xfrm>
          <a:prstGeom prst="rect">
            <a:avLst/>
          </a:prstGeom>
          <a:solidFill>
            <a:srgbClr val="E1F4F4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" y="2340864"/>
            <a:ext cx="54864" cy="530352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23774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0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280160" y="2377440"/>
            <a:ext cx="7296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queries Redshift directly for all /metrics/* endpoints. No Bedrock, no Lambda, no agent loop. This gives sub-second response times for dashboard rendering.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92608" y="3072384"/>
            <a:ext cx="855878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38912" y="3127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latency: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783080" y="30906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overhead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783080" y="3291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 ms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474720" y="30906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query (warm)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474720" y="3291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200–800 ms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166360" y="30906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render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166360" y="3291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58000" y="30906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end-to-end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858000" y="3291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92608" y="3749040"/>
            <a:ext cx="855878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38912" y="37856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direct endpoints (no agent):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02920" y="4041648"/>
            <a:ext cx="1517904" cy="256032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7784" y="40416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/metrics/pl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130552" y="4041648"/>
            <a:ext cx="1517904" cy="256032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85416" y="40416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/metrics/arr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758184" y="4041648"/>
            <a:ext cx="1517904" cy="256032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13048" y="40416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/metrics/ar_aging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385816" y="4041648"/>
            <a:ext cx="1517904" cy="256032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40680" y="40416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/metrics/revenue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013448" y="4041648"/>
            <a:ext cx="1517904" cy="256032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68312" y="404164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Module 5.2 — The Data Path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Paths? Agent vs Direct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agent is for reasoning. The direct endpoints are for rendering."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932688"/>
            <a:ext cx="4114800" cy="3584448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932688"/>
            <a:ext cx="4114800" cy="3474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692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02336" y="15544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questions, complex analysis, What-If scenarios, multi-step reasoning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02336" y="1828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02336" y="20116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or /commentary — user types a question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02336" y="22860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02336" y="24688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→ Memory retrieve → Bedrock Agent → Gateway → Lambda → Redshift → answer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02336" y="2743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02336" y="29260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seconds (inference + Lambda + Redshift)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02336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path?: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02336" y="33832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reason, choose tools, iterate. You cannot pre-define every question a CFO might ask.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36592" y="932688"/>
            <a:ext cx="4114800" cy="358444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932688"/>
            <a:ext cx="4114800" cy="3474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9692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46320" y="15544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rendering, chart data, KPI tiles, health checks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46320" y="1828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46320" y="20116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/metrics/* — called on tab load or page refresh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46320" y="22860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46320" y="24688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→ Redshift Data API → JSON → Plotly chart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46320" y="2743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46320" y="29260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second (no inference, warm Redshift)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46320" y="3200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path?: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46320" y="338328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queries are predictable. Pre-defined SQL is faster, cheaper, and easier to cache.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279392" y="2432304"/>
            <a:ext cx="566928" cy="566928"/>
          </a:xfrm>
          <a:prstGeom prst="ellipse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279392" y="2432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2608" y="4608576"/>
            <a:ext cx="8558784" cy="201168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60857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30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agent is for reasoning.  The direct endpoints are for rendering."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0" y="9144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180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54864" cy="1463040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8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5.3 — The Request Path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89611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Natural Language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Flows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77393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NL query trace — ReAct loop, memory, tool routing, and response.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2304288"/>
            <a:ext cx="960120" cy="237744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30428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Reference Architecture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Module 5.3 — The Request Path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Query: 7-Step End-to-End Flow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→ Agent → Gateway → Lambda → Redshift → Memory → Response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36576" cy="21945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969264"/>
            <a:ext cx="310896" cy="310896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969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96926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question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115214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AI Analyst tab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48640" y="1792224"/>
            <a:ext cx="36576" cy="21945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81328"/>
            <a:ext cx="310896" cy="310896"/>
          </a:xfrm>
          <a:prstGeom prst="ellipse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14813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" y="16642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receives request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8640" y="2304288"/>
            <a:ext cx="36576" cy="21945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1993392"/>
            <a:ext cx="310896" cy="310896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" y="1993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memory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217627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top-5 records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" y="2816352"/>
            <a:ext cx="36576" cy="21945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505456"/>
            <a:ext cx="310896" cy="310896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" y="250545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Bedrock Agent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" y="268833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memory context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48640" y="3328416"/>
            <a:ext cx="36576" cy="21945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3017520"/>
            <a:ext cx="310896" cy="310896"/>
          </a:xfrm>
          <a:prstGeom prst="ellipse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" y="3017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" y="32004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48640" y="3840480"/>
            <a:ext cx="36576" cy="21945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3529584"/>
            <a:ext cx="310896" cy="310896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" y="352958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to memory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" y="37124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Q&amp;A record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84048" y="4041648"/>
            <a:ext cx="310896" cy="310896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" y="40416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UI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" y="4224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renders answer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224528" y="950976"/>
            <a:ext cx="4590288" cy="3438144"/>
          </a:xfrm>
          <a:prstGeom prst="rect">
            <a:avLst/>
          </a:prstGeom>
          <a:solidFill>
            <a:srgbClr val="FFFFFF"/>
          </a:solidFill>
          <a:ln w="12700">
            <a:solidFill>
              <a:srgbClr val="3093A8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224528" y="950976"/>
            <a:ext cx="4590288" cy="292608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15968" y="978408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Detail — The ReAct Loop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34256" y="1316736"/>
            <a:ext cx="658368" cy="21945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34256" y="13167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5047488" y="132588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 do I need? The user asked about variance — I should call variance_rca.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334256" y="1755648"/>
            <a:ext cx="658368" cy="219456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34256" y="17556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047488" y="176479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AgentCore Gateway: variance_rca(quarter="Q4", region="EMEA")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334256" y="2194560"/>
            <a:ext cx="658368" cy="21945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34256" y="21945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047488" y="220370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routes to Lambda. Lambda queries fct_gl_entries vs stg_epm__plan_line. Returns ranked list.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334256" y="2633472"/>
            <a:ext cx="658368" cy="21945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34256" y="26334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047488" y="264261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the data. Let me compose a clear answer with the top 3 variances.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334256" y="3072384"/>
            <a:ext cx="658368" cy="21945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34256" y="30723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5047488" y="308152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structured answer with values, context, and follow-up suggestions.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Module 5.3 — The Request Path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Loop: One Full Cycle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"What was EMEA variance in Q4?" — end-to-end through variance_rca Lambda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950976"/>
            <a:ext cx="8558784" cy="420624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950976"/>
            <a:ext cx="54864" cy="420624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005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asks: 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44752" y="10058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was the EMEA variance in Q4?"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" y="1481328"/>
            <a:ext cx="4133088" cy="1481328"/>
          </a:xfrm>
          <a:prstGeom prst="rect">
            <a:avLst/>
          </a:prstGeom>
          <a:solidFill>
            <a:srgbClr val="E7F0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2608" y="1481328"/>
            <a:ext cx="4133088" cy="31089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50876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REASON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2336" y="1847088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reads question + memory context. Identifies need: variance analysis, EMEA region, Q4. Selects tool: variance_rca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18304" y="1481328"/>
            <a:ext cx="4133088" cy="1481328"/>
          </a:xfrm>
          <a:prstGeom prst="rect">
            <a:avLst/>
          </a:prstGeom>
          <a:solidFill>
            <a:srgbClr val="E1F4F4"/>
          </a:solidFill>
          <a:ln w="12700">
            <a:solidFill>
              <a:srgbClr val="3093A8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18304" y="1481328"/>
            <a:ext cx="4133088" cy="310896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50876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28032" y="1847088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AgentCore Gateway via MCP. Payload: {tool:"variance_rca", quarter:"Q4", region:"EMEA"}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2608" y="3163824"/>
            <a:ext cx="4133088" cy="1481328"/>
          </a:xfrm>
          <a:prstGeom prst="rect">
            <a:avLst/>
          </a:prstGeom>
          <a:solidFill>
            <a:srgbClr val="E2F3E9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3163824"/>
            <a:ext cx="4133088" cy="31089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19125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OBSERVE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2336" y="3529584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routes to Lambda. Lambda runs: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cost_center, SUM(actual-plan) AS variance FROM fct_gl_entries … ORDER BY variance DESC. Returns top-10 rows.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18304" y="3163824"/>
            <a:ext cx="4133088" cy="1481328"/>
          </a:xfrm>
          <a:prstGeom prst="rect">
            <a:avLst/>
          </a:prstGeom>
          <a:solidFill>
            <a:srgbClr val="EDE9F7"/>
          </a:solidFill>
          <a:ln w="12700">
            <a:solidFill>
              <a:srgbClr val="6C4AD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18304" y="3163824"/>
            <a:ext cx="4133088" cy="31089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319125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REASON + ANSWER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28032" y="3529584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receives ranked list. Composes: "EMEA Q4 variance was -$2.1M. Top drivers: Cloud Infra (-$0.8M), Headcount (-$0.6M)…" Returns with follow-up suggestions.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34256" y="212140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86000" y="29443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34256" y="354787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Module 5.3 — The Request Path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Budget: Complex NL Query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under 6 seconds for a multi-step ReAct query — optimise the hot path first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92608" y="1005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retrieve (AgentCore)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0" y="1014984"/>
            <a:ext cx="212141" cy="25603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0205" y="1014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ms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2608" y="14264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invocation start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0" y="1435608"/>
            <a:ext cx="106070" cy="25603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4134" y="1435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ms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2608" y="18470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inference (per ReAct turn)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0" y="1856232"/>
            <a:ext cx="1166774" cy="25603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64838" y="1856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~1,200 ms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2608" y="2267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routing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0" y="2276856"/>
            <a:ext cx="79553" cy="256032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77617" y="22768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0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ms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2608" y="2688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cold start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0" y="2697480"/>
            <a:ext cx="477317" cy="25603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5381" y="2697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ms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608" y="31089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query (warm)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0" y="3118104"/>
            <a:ext cx="1166774" cy="25603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64838" y="3118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 ms–2 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608" y="35295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serialisation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0" y="3538728"/>
            <a:ext cx="73152" cy="256032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71216" y="3538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2608" y="3931920"/>
            <a:ext cx="8558784" cy="566928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92608" y="3931920"/>
            <a:ext cx="54864" cy="566928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86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end-to-end: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40864" y="39319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seconds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608576" y="3986784"/>
            <a:ext cx="4078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complex multi-step query — acceptable for analysis; stream tokens for UX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2608" y="4572000"/>
            <a:ext cx="8558784" cy="256032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590288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thresholds: Bedrock &gt; 10 s · Lambda &gt; 30 s · Redshift &gt; 5 s (see Module 5.5)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0" y="9144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180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54864" cy="1463040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8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5.4 — Security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89611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What's In,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Deferred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77393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architecture, permission scoping, and what stays out of scope until production.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2304288"/>
            <a:ext cx="960120" cy="237744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30428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Reference Architecture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Module 5.4 — Security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Architecture: Permission Flow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chain — each layer can only call the next, not skip ahead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969264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6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969264"/>
            <a:ext cx="2057400" cy="29260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96696"/>
            <a:ext cx="1929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Bedrock Agent Role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" y="1316736"/>
            <a:ext cx="1892808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316736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bedrock-agentcore:InvokeTool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50008" y="1371600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59736" y="969264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093A8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9736" y="969264"/>
            <a:ext cx="2057400" cy="292608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2888" y="996696"/>
            <a:ext cx="1929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AgentCore Gateway Role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51176" y="1316736"/>
            <a:ext cx="1892808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1316736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lambda:InvokeFunction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551176" y="1554480"/>
            <a:ext cx="1892808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7752" y="155448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 specific ARNs only)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17136" y="1371600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26864" y="969264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754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969264"/>
            <a:ext cx="2057400" cy="29260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996696"/>
            <a:ext cx="1929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 Lambda Execution Roles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18304" y="1316736"/>
            <a:ext cx="1892808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316736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redshift-data:ExecuteStatement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718304" y="1554480"/>
            <a:ext cx="1892808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55448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redshift-data:GetStatementResult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718304" y="1792224"/>
            <a:ext cx="1892808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79222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(specific workgroup only)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684264" y="1371600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93992" y="969264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671B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93992" y="969264"/>
            <a:ext cx="2057400" cy="29260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67144" y="996696"/>
            <a:ext cx="1929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FastAPI (Dev)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85432" y="1316736"/>
            <a:ext cx="1892808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2008" y="1316736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bedrock-agent-runtime:InvokeAgent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885432" y="1554480"/>
            <a:ext cx="1892808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22008" y="155448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redshift-data:*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885432" y="1792224"/>
            <a:ext cx="1892808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22008" y="179222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B47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(analytics_dev_marts only)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92608" y="2139696"/>
            <a:ext cx="8558784" cy="25603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21671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Data-layer permission scoping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92608" y="2450592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4871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Lambdas can do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157984" y="2450592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31136" y="248716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queries only on analytics_dev_marts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303520" y="2450592"/>
            <a:ext cx="34930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76672" y="248716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INSERT, UPDATE, DELETE. No access to staging.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92608" y="2834640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287121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can access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157984" y="2834640"/>
            <a:ext cx="3108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31136" y="2871216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returned by Lambdas only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03520" y="2834640"/>
            <a:ext cx="3493008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76672" y="287121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Redshift connection from Bedrock.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92608" y="3218688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325526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UI can access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157984" y="3218688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31136" y="325526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from FastAPI only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303520" y="3218688"/>
            <a:ext cx="34930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76672" y="325526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database credentials in browser.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92608" y="3602736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363931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57984" y="3602736"/>
            <a:ext cx="3108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31136" y="363931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reachable from any component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303520" y="3602736"/>
            <a:ext cx="3493008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76672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is the single access point for data.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Module 5.4 — Security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What's In Scope Now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Lab-ready security — tight enough to ship to internal analysts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1042416"/>
            <a:ext cx="274320" cy="27432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042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656" y="10241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scoped to analytics_dev_marts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6656" y="12618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execution roles only grant access to the marts schema. Staging tables (stg_*) and raw tables are not reachable. Views are the public API.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" y="1737360"/>
            <a:ext cx="274320" cy="27432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6656" y="171907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is read-only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6656" y="195681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IAM policies include redshift-data:ExecuteStatement and redshift-data:GetStatementResult only. No write path exists — the agent cannot modify financial data.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2432304"/>
            <a:ext cx="274320" cy="27432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" y="24140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DB access from the UI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6656" y="2651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has zero database credentials. All data flows through FastAPI. A compromised browser cannot access Redshift directly.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2608" y="3127248"/>
            <a:ext cx="274320" cy="27432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" y="310896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cannot reach source systems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" y="33467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can only call tools registered in AgentCore Gateway. No internet access, no external API calls, no source ERP connections.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2608" y="3822192"/>
            <a:ext cx="274320" cy="27432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" y="380390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limits blast radius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" y="40416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only routes to 5 explicitly registered Lambda functions. The agent cannot invoke arbitrary AWS resources even with a prompt injection attempt.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Module 5.4 — Security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What's Deferred to Production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Phase 11 territory — important for production, not needed for the lab."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932688"/>
            <a:ext cx="8558784" cy="438912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932688"/>
            <a:ext cx="54864" cy="43891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692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items are out of scope for this course. They are Phase 11 (Production Hardening) work.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2608" y="1499616"/>
            <a:ext cx="416966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499616"/>
            <a:ext cx="54864" cy="8046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50208" y="1554480"/>
            <a:ext cx="457200" cy="201168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0208" y="15544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11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38912" y="155448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Identity / Workload Tokens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8912" y="181051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identity scoping. Needed for multi-tenant deployments where different users should see different data.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26864" y="1499616"/>
            <a:ext cx="416966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499616"/>
            <a:ext cx="54864" cy="8046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4464" y="1554480"/>
            <a:ext cx="457200" cy="201168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4464" y="15544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11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773168" y="155448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Endpoints for Redshift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73168" y="181051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Redshift may be reachable over public internet (with auth). VPC endpoints remove that exposure entirely.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92608" y="2377440"/>
            <a:ext cx="416966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2377440"/>
            <a:ext cx="54864" cy="8046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50208" y="2432304"/>
            <a:ext cx="457200" cy="201168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0208" y="24323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11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38912" y="243230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for FastAPI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8912" y="268833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OWASP rule sets, IP allowlisting. Required before any external-facing deployment.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26864" y="2377440"/>
            <a:ext cx="416966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26864" y="2377440"/>
            <a:ext cx="54864" cy="8046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84464" y="2432304"/>
            <a:ext cx="457200" cy="201168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24323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11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773168" y="243230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for Credentials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73168" y="268833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currently uses dev IAM credentials or env vars. Secrets Manager enables rotation and audit.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92608" y="3255264"/>
            <a:ext cx="416966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2608" y="3255264"/>
            <a:ext cx="54864" cy="8046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50208" y="3310128"/>
            <a:ext cx="457200" cy="201168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50208" y="33101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11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38912" y="331012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+ GuardDuty integration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8912" y="35661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on anomalous Bedrock invocation patterns, unusual Lambda call volumes, Redshift data exfiltration signals.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26864" y="3255264"/>
            <a:ext cx="416966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26864" y="3255264"/>
            <a:ext cx="54864" cy="8046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84464" y="3310128"/>
            <a:ext cx="457200" cy="201168"/>
          </a:xfrm>
          <a:prstGeom prst="rect">
            <a:avLst/>
          </a:prstGeom>
          <a:solidFill>
            <a:srgbClr val="FCEFDF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84464" y="33101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11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773168" y="331012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for Bedrock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773168" y="35661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Bedrock API calls within AWS network. Removes external traffic for sensitive inference workloads.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0" y="9144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18000" dirty="0"/>
          </a:p>
        </p:txBody>
      </p:sp>
      <p:sp>
        <p:nvSpPr>
          <p:cNvPr id="5" name="Shape 3"/>
          <p:cNvSpPr/>
          <p:nvPr/>
        </p:nvSpPr>
        <p:spPr>
          <a:xfrm>
            <a:off x="502920" y="658368"/>
            <a:ext cx="54864" cy="1463040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8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0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 — Observability &amp; Monitoring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89611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Monitor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177393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CloudWatch metrics, alert thresholds, and AgentCore telemetry for production readiness.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2304288"/>
            <a:ext cx="960120" cy="237744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30428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Reference Architecture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Module 5.5 — Observability &amp; Monitoring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to Track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CloudWatch signals + 2 AgentCore signals — monitor these from day one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932688"/>
            <a:ext cx="8558784" cy="274320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50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Metrics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" y="1261872"/>
            <a:ext cx="73152" cy="329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1261872"/>
            <a:ext cx="23591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29844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InvocationLatency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61488" y="1261872"/>
            <a:ext cx="12984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98064" y="1298448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if &gt; 10 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059936" y="1261872"/>
            <a:ext cx="87782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12984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invocation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937760" y="1261872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92624" y="129844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slow ReAct loops or model timeouts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92608" y="1636776"/>
            <a:ext cx="73152" cy="32918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" y="1636776"/>
            <a:ext cx="2359152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67335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Duration (all 5 functions)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61488" y="1636776"/>
            <a:ext cx="1298448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98064" y="167335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if &gt; 30 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059936" y="1636776"/>
            <a:ext cx="87782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96512" y="16733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invocation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937760" y="1636776"/>
            <a:ext cx="38404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1673352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+ SQL query time combined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92608" y="2011680"/>
            <a:ext cx="73152" cy="329184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" y="2011680"/>
            <a:ext cx="23591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0482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Errors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61488" y="2011680"/>
            <a:ext cx="12984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98064" y="204825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ANY failure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059936" y="2011680"/>
            <a:ext cx="87782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96512" y="20482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invocation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937760" y="2011680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92624" y="2048256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watch for cold-start out-of-memory errors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92608" y="2386584"/>
            <a:ext cx="73152" cy="32918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" y="2386584"/>
            <a:ext cx="2359152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4231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Query Duration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61488" y="2386584"/>
            <a:ext cx="1298448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98064" y="242316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if &gt; 5 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059936" y="2386584"/>
            <a:ext cx="87782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96512" y="24231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937760" y="2386584"/>
            <a:ext cx="38404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92624" y="242316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acme-finance-dev workgroup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92608" y="2761488"/>
            <a:ext cx="73152" cy="32918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" y="2761488"/>
            <a:ext cx="23591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279806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/health (custom)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61488" y="2761488"/>
            <a:ext cx="12984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98064" y="279806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if DOWN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059936" y="2761488"/>
            <a:ext cx="87782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96512" y="27980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60 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937760" y="2761488"/>
            <a:ext cx="3840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92624" y="279806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monitor — canary every minute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92608" y="3163824"/>
            <a:ext cx="8558784" cy="256032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31821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Telemetry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92608" y="3474720"/>
            <a:ext cx="73152" cy="329184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2336" y="3474720"/>
            <a:ext cx="23591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351129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retrieve latency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98064" y="3474720"/>
            <a:ext cx="12984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34640" y="351129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0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if &gt; 2 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133088" y="3474720"/>
            <a:ext cx="471830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87952" y="3511296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should be fast; latency indicates index size or config issue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92608" y="3858768"/>
            <a:ext cx="73152" cy="329184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2336" y="3858768"/>
            <a:ext cx="2359152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389534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tool invocation success rate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798064" y="3858768"/>
            <a:ext cx="1298448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34640" y="389534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0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if &lt; 99%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133088" y="3858768"/>
            <a:ext cx="4718304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87952" y="3895344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tool failures reach the user as degraded answers — catch early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Reference Architecture — Recap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475488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749808"/>
            <a:ext cx="237744" cy="237744"/>
          </a:xfrm>
          <a:prstGeom prst="ellipse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49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749808"/>
            <a:ext cx="8028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components across 3 layers: Presentation (Streamlit), Orchestration (FastAPI + Bedrock + AgentCore + 5 Lambdas), Data (Redshift)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84048" y="1298448"/>
            <a:ext cx="237744" cy="237744"/>
          </a:xfrm>
          <a:prstGeom prst="ellipse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98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49808" y="1298448"/>
            <a:ext cx="8028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request paths: Agent path for NL queries (3–6 s, reasoning-first) and Direct path for dashboard metrics (&lt; 1 s, rendering-first)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1847088"/>
            <a:ext cx="237744" cy="237744"/>
          </a:xfrm>
          <a:prstGeom prst="ellipse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847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9808" y="1847088"/>
            <a:ext cx="8028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loop: Reason → Act (Gateway → Lambda → Redshift) → Observe → Reason → Answer — typically 1–2 turns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395728"/>
            <a:ext cx="237744" cy="237744"/>
          </a:xfrm>
          <a:prstGeom prst="ellipse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95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9808" y="2395728"/>
            <a:ext cx="8028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permission chain: Bedrock Agent Role → Gateway Role → Lambda Execution Roles → Redshift Data API (read-only, scoped schema)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2944368"/>
            <a:ext cx="237744" cy="237744"/>
          </a:xfrm>
          <a:prstGeom prst="ellipse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44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2944368"/>
            <a:ext cx="8028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CloudWatch signals + 2 AgentCore signals — Bedrock &gt; 10 s, Lambda &gt; 30 s, Redshift &gt; 5 s are your primary alert thresholds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3493008"/>
            <a:ext cx="237744" cy="237744"/>
          </a:xfrm>
          <a:prstGeom prst="ellipse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93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49808" y="3493008"/>
            <a:ext cx="8028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deferred to production: AgentCore Identity, VPC endpoints, WAF, Secrets Manager, PrivateLink (Phase 11)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4048" y="4279392"/>
            <a:ext cx="5029200" cy="310896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" y="42793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Section 6 — Agent Design  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46360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whiteboard the ACME Finance system for a client.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Reference Architecture  ·  Complete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5 — Reference Architecture</dc:title>
  <dc:subject>PptxGenJS Presentation</dc:subject>
  <dc:creator>ACME Finance Course</dc:creator>
  <cp:lastModifiedBy>ACME Finance Course</cp:lastModifiedBy>
  <cp:revision>1</cp:revision>
  <dcterms:created xsi:type="dcterms:W3CDTF">2026-05-10T01:40:25Z</dcterms:created>
  <dcterms:modified xsi:type="dcterms:W3CDTF">2026-05-10T01:40:25Z</dcterms:modified>
</cp:coreProperties>
</file>