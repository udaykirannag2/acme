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731520"/>
            <a:ext cx="64008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7724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Glossary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Finance Transformation: Strategy to Working Agents on AWS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25603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320040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Artifact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Finance Course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487832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open while working through the course labs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Finance Organization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49808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68096"/>
            <a:ext cx="150876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68096"/>
            <a:ext cx="15087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768096"/>
            <a:ext cx="278892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768096"/>
            <a:ext cx="27889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0" y="768096"/>
            <a:ext cx="3904488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768096"/>
            <a:ext cx="390448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to AI Build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1115568"/>
            <a:ext cx="1508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20240" y="1115568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115568"/>
            <a:ext cx="390448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" y="1152144"/>
            <a:ext cx="1399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75104" y="1152144"/>
            <a:ext cx="2679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strategy,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reporting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01184" y="1152144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sponsor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1773936"/>
            <a:ext cx="150876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0240" y="1773936"/>
            <a:ext cx="2788920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1773936"/>
            <a:ext cx="3904488" cy="621792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" y="1810512"/>
            <a:ext cx="1399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(Financial Planning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975104" y="1810512"/>
            <a:ext cx="2679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Budgeting, forecasting,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analysis,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reporting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01184" y="181051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 of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" y="2432304"/>
            <a:ext cx="1508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20240" y="2432304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2432304"/>
            <a:ext cx="390448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2468880"/>
            <a:ext cx="1399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75104" y="2468880"/>
            <a:ext cx="2679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books,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entries, compliance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01184" y="246888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actuals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(fct_gl_entries)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7472" y="3090672"/>
            <a:ext cx="150876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20240" y="3090672"/>
            <a:ext cx="2788920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3090672"/>
            <a:ext cx="3904488" cy="62179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3127248"/>
            <a:ext cx="1399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975104" y="3127248"/>
            <a:ext cx="2679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management,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collection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01184" y="312724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47472" y="3749040"/>
            <a:ext cx="1508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20240" y="3749040"/>
            <a:ext cx="2788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749040"/>
            <a:ext cx="390448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" y="3785616"/>
            <a:ext cx="1399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975104" y="3785616"/>
            <a:ext cx="26791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provision, filings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01184" y="3785616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 for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1–8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7472" y="4869180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building for FP&amp;A. Everything else is context.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Financial Statements Every Architect Should Know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49808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68096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768096"/>
            <a:ext cx="2743200" cy="40233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7680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/ Income Statement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20700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449324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Cost of Goods Sold (COGS)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Gross Profit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933956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Operating Expenses (OpEx)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217627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Sales &amp; Marketing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57200" y="241858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R&amp;D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7200" y="2660904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G&amp;A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57200" y="29032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Operating Income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389120"/>
            <a:ext cx="2743200" cy="310896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438912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ACME mart: mart_pl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55264" y="768096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55264" y="768096"/>
            <a:ext cx="2743200" cy="40233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46704" y="7680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64992" y="120700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at a point in time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64992" y="1449324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vs Liabilities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64992" y="169164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64992" y="1933956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Assets: Cash, AR, Property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64992" y="217627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Liabilities: AP, Debt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64992" y="241858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Equity: Assets − Liabilities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64992" y="2660904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64992" y="29032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AR balance, DSO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55264" y="4389120"/>
            <a:ext cx="2743200" cy="310896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28416" y="438912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ACME mart: mart_ar_aging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163056" y="768096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63056" y="768096"/>
            <a:ext cx="2743200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768096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Statement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72784" y="120700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cash actually moves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72784" y="1449324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(differs from P&amp;L recognition)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272784" y="169164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72784" y="1933956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Operating: Cash from core biz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72784" y="2176272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Investing: CapEx, acquisitions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72784" y="2418588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Financing: Debt, equity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272784" y="2660904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72784" y="2903220"/>
            <a:ext cx="2523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Free Cash Flow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163056" y="4389120"/>
            <a:ext cx="274320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36208" y="4389120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ACME mart: Not modeled Phase 1–8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7472" y="4869180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is the primary report for Phases 1–8.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P&amp;L Metrics — Memorize These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49808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68096"/>
            <a:ext cx="141732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68096"/>
            <a:ext cx="141732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768096"/>
            <a:ext cx="274320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768096"/>
            <a:ext cx="274320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768096"/>
            <a:ext cx="192024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768096"/>
            <a:ext cx="19202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SaaS Range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097280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115568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828800" y="1097280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83664" y="111556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subscription + services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1920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4024" y="1115568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1499616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1517904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0" y="1499616"/>
            <a:ext cx="27432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83664" y="151790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cost of product (hosting, support)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09160" y="1499616"/>
            <a:ext cx="1920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4024" y="1517904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15–30%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47472" y="1901952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1920240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828800" y="1901952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83664" y="192024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− COGS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1901952"/>
            <a:ext cx="1920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4024" y="192024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47472" y="2304288"/>
            <a:ext cx="141732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" y="2322576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828800" y="2304288"/>
            <a:ext cx="274320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83664" y="232257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/ Revenue × 100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2304288"/>
            <a:ext cx="1920240" cy="384048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4024" y="2322576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70–85%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47472" y="2706624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" y="2724912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OpEx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0" y="2706624"/>
            <a:ext cx="27432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83664" y="272491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S&amp;M + R&amp;D + G&amp;A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09160" y="2706624"/>
            <a:ext cx="19202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64024" y="2724912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80–120%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" y="3108960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" y="3127248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Income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828800" y="3108960"/>
            <a:ext cx="27432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83664" y="3127248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− OpEx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09160" y="3108960"/>
            <a:ext cx="1920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64024" y="3127248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&gt;15% target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47472" y="3511296"/>
            <a:ext cx="141732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" y="3529584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Margin %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828800" y="3511296"/>
            <a:ext cx="274320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883664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Income / Revenue × 100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709160" y="3511296"/>
            <a:ext cx="1920240" cy="384048"/>
          </a:xfrm>
          <a:prstGeom prst="rect">
            <a:avLst/>
          </a:prstGeom>
          <a:solidFill>
            <a:srgbClr val="FEF9C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64024" y="3529584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ACME: −9.4%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47472" y="3913632"/>
            <a:ext cx="141732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2336" y="3931920"/>
            <a:ext cx="1307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828800" y="3913632"/>
            <a:ext cx="274320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83664" y="3931920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Income + D&amp;A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09160" y="3913632"/>
            <a:ext cx="19202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764024" y="393192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proxy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812280" y="768096"/>
            <a:ext cx="1984248" cy="4261104"/>
          </a:xfrm>
          <a:prstGeom prst="rect">
            <a:avLst/>
          </a:prstGeom>
          <a:solidFill>
            <a:srgbClr val="1E293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903720" y="822960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FY2024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903720" y="1143000"/>
            <a:ext cx="1801368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903720" y="1234440"/>
            <a:ext cx="1801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903720" y="1463040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$1.81B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6903720" y="1874520"/>
            <a:ext cx="1801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903720" y="2103120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77.5%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6903720" y="2514600"/>
            <a:ext cx="1801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Margin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903720" y="2743200"/>
            <a:ext cx="1801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−9.4%</a:t>
            </a:r>
            <a:endParaRPr lang="en-US" sz="1500" dirty="0"/>
          </a:p>
        </p:txBody>
      </p:sp>
      <p:sp>
        <p:nvSpPr>
          <p:cNvPr id="68" name="Shape 66"/>
          <p:cNvSpPr/>
          <p:nvPr/>
        </p:nvSpPr>
        <p:spPr>
          <a:xfrm>
            <a:off x="6812280" y="3474720"/>
            <a:ext cx="1984248" cy="822960"/>
          </a:xfrm>
          <a:prstGeom prst="rect">
            <a:avLst/>
          </a:prstGeom>
          <a:solidFill>
            <a:srgbClr val="0C1A2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76288" y="3511296"/>
            <a:ext cx="1856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−15%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6876288" y="3840480"/>
            <a:ext cx="1856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+348 bps margin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+$62.9M op income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47472" y="4869180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&amp; Operating Margin drive every FP&amp;A conversation.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Metrics — What Makes B2B SaaS Finance Different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49808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68096"/>
            <a:ext cx="658368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68096"/>
            <a:ext cx="658368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78992" y="768096"/>
            <a:ext cx="1938528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78992" y="768096"/>
            <a:ext cx="1938528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27248" y="768096"/>
            <a:ext cx="2724912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7248" y="768096"/>
            <a:ext cx="2724912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61888" y="768096"/>
            <a:ext cx="283464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61888" y="768096"/>
            <a:ext cx="2834640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1097280"/>
            <a:ext cx="65836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1115568"/>
            <a:ext cx="5669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078992" y="1097280"/>
            <a:ext cx="19385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1115568"/>
            <a:ext cx="184708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127248" y="1097280"/>
            <a:ext cx="272491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72968" y="1115568"/>
            <a:ext cx="26334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subscriptions annualized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61888" y="1097280"/>
            <a:ext cx="2834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07608" y="1115568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growth metric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47472" y="1531620"/>
            <a:ext cx="658368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1549908"/>
            <a:ext cx="5669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078992" y="1531620"/>
            <a:ext cx="1938528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4712" y="1549908"/>
            <a:ext cx="184708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 Revenue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127248" y="1531620"/>
            <a:ext cx="2724912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72968" y="1549908"/>
            <a:ext cx="26334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/ 12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961888" y="1531620"/>
            <a:ext cx="28346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07608" y="1549908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tracking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47472" y="1965960"/>
            <a:ext cx="658368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1984248"/>
            <a:ext cx="5669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78992" y="1965960"/>
            <a:ext cx="1938528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24712" y="1984248"/>
            <a:ext cx="184708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127248" y="1965960"/>
            <a:ext cx="2724912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72968" y="1984248"/>
            <a:ext cx="26334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(Beg ARR + Exp − Churn) / Beg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961888" y="1965960"/>
            <a:ext cx="2834640" cy="4114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07608" y="1984248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Holy grail: &gt;100%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47472" y="2400300"/>
            <a:ext cx="658368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3192" y="2418588"/>
            <a:ext cx="5669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GRR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078992" y="2400300"/>
            <a:ext cx="1938528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24712" y="2418588"/>
            <a:ext cx="184708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 Retention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127248" y="2400300"/>
            <a:ext cx="2724912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72968" y="2418588"/>
            <a:ext cx="26334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(Beg − Churn) / Beg ARR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961888" y="2400300"/>
            <a:ext cx="28346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07608" y="2418588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of NRR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47472" y="2834640"/>
            <a:ext cx="65836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2852928"/>
            <a:ext cx="5669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078992" y="2834640"/>
            <a:ext cx="19385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24712" y="2852928"/>
            <a:ext cx="184708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Churn Rate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3127248" y="2834640"/>
            <a:ext cx="272491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72968" y="2852928"/>
            <a:ext cx="26334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ARR / Beg ARR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961888" y="2834640"/>
            <a:ext cx="2834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07608" y="2852928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loss %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47472" y="3268980"/>
            <a:ext cx="658368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" y="3287268"/>
            <a:ext cx="5669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078992" y="3268980"/>
            <a:ext cx="1938528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124712" y="3287268"/>
            <a:ext cx="184708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 Cost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3127248" y="3268980"/>
            <a:ext cx="2724912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72968" y="3287268"/>
            <a:ext cx="26334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S&amp;M spend / new customers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961888" y="3268980"/>
            <a:ext cx="28346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07608" y="3287268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efficiency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347472" y="3703320"/>
            <a:ext cx="65836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3192" y="3721608"/>
            <a:ext cx="5669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1078992" y="3703320"/>
            <a:ext cx="1938528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24712" y="3721608"/>
            <a:ext cx="184708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Lifetime Value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127248" y="3703320"/>
            <a:ext cx="2724912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72968" y="3721608"/>
            <a:ext cx="26334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× GM% / Churn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5961888" y="3703320"/>
            <a:ext cx="2834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007608" y="3721608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&gt; 3 healthy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47472" y="4137660"/>
            <a:ext cx="658368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3192" y="4155948"/>
            <a:ext cx="56692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1078992" y="4137660"/>
            <a:ext cx="1938528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124712" y="4155948"/>
            <a:ext cx="184708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Sales Outstanding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3127248" y="4137660"/>
            <a:ext cx="2724912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72968" y="4155948"/>
            <a:ext cx="2633472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 / Revenue) × days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961888" y="4137660"/>
            <a:ext cx="283464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007608" y="4155948"/>
            <a:ext cx="274320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speed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47472" y="4869180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fct_arr tracks all movements monthly: new, expansion, contraction, churn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FP&amp;A Calendar — What Finance Teams Do Every Month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49808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68096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59536"/>
            <a:ext cx="82296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595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68249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162763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targets, budgets, headcount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23113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217627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stg_epm__plan_line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779776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272491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forecast baseline, what-if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55264" y="768096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64992" y="859536"/>
            <a:ext cx="82296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8595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364992" y="117043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Close &amp; Report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64992" y="1554480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64992" y="168249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02736" y="162763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(3–5d): GL finalized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64992" y="223113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02736" y="217627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(d3–5): Revenue vs budget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64992" y="277977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02736" y="272491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(d7–10): By entity/dept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64992" y="3328416"/>
            <a:ext cx="164592" cy="16459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02736" y="327355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Commentary: AI drafts numbers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63056" y="768096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72784" y="859536"/>
            <a:ext cx="82296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8595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72784" y="1170432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Package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72784" y="1554480"/>
            <a:ext cx="2523744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72784" y="1682496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162763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P&amp;L, ARR, AR aging, forecast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272784" y="2231136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217627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all dashboards + analyst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272784" y="2779776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2724912"/>
            <a:ext cx="22860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Board, investors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" y="4869180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automate data retrieval inside these steps — not the steps themselves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Data Vocabulary for ACME Codebase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49808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68096"/>
            <a:ext cx="129844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68096"/>
            <a:ext cx="12984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19072" y="768096"/>
            <a:ext cx="3456432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9072" y="768096"/>
            <a:ext cx="3456432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03520" y="768096"/>
            <a:ext cx="3127248" cy="30175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0" y="768096"/>
            <a:ext cx="3127248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Location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069848"/>
            <a:ext cx="129844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078992"/>
            <a:ext cx="12070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719072" y="1069848"/>
            <a:ext cx="345643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64792" y="1078992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Company's 12-month accounting period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5303520" y="1069848"/>
            <a:ext cx="312724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078992"/>
            <a:ext cx="3035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fiscal_year in marts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47472" y="1387145"/>
            <a:ext cx="129844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" y="1396289"/>
            <a:ext cx="12070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(YYYYMM)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719072" y="1387145"/>
            <a:ext cx="345643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64792" y="1396289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month ID (e.g., 202403)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303520" y="1387145"/>
            <a:ext cx="312724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396289"/>
            <a:ext cx="3035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period_yyyymm key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7472" y="1704442"/>
            <a:ext cx="129844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" y="1713586"/>
            <a:ext cx="12070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of Accounts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719072" y="1704442"/>
            <a:ext cx="345643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764792" y="1713586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taxonomy: revenue, COGS, OpEx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303520" y="1704442"/>
            <a:ext cx="312724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1713586"/>
            <a:ext cx="3035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account_id in fct_gl_entries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47472" y="2021738"/>
            <a:ext cx="129844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3192" y="2030882"/>
            <a:ext cx="12070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Center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719072" y="2021738"/>
            <a:ext cx="345643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64792" y="2030882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unit incurring costs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303520" y="2021738"/>
            <a:ext cx="312724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2030882"/>
            <a:ext cx="3035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Used in variance-rca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47472" y="2339035"/>
            <a:ext cx="129844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2348179"/>
            <a:ext cx="12070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719072" y="2339035"/>
            <a:ext cx="345643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64792" y="2348179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subsidiary (US/EMEA/APAC)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303520" y="2339035"/>
            <a:ext cx="312724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2348179"/>
            <a:ext cx="3035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entity_id grouping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47472" y="2656332"/>
            <a:ext cx="129844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3192" y="2665476"/>
            <a:ext cx="12070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719072" y="2656332"/>
            <a:ext cx="345643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764792" y="2665476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 (what happened)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303520" y="2656332"/>
            <a:ext cx="312724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49240" y="2665476"/>
            <a:ext cx="3035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fct_gl_entries truth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47472" y="2973629"/>
            <a:ext cx="129844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3192" y="2982773"/>
            <a:ext cx="12070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Plan/Budget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1719072" y="2973629"/>
            <a:ext cx="345643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64792" y="2982773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(what was expected)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303520" y="2973629"/>
            <a:ext cx="312724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49240" y="2982773"/>
            <a:ext cx="3035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stg_epm__plan_line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47472" y="3290926"/>
            <a:ext cx="129844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3192" y="3300070"/>
            <a:ext cx="12070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1719072" y="3290926"/>
            <a:ext cx="345643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764792" y="3300070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− Plan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5303520" y="3290926"/>
            <a:ext cx="312724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49240" y="3300070"/>
            <a:ext cx="3035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variance-rca Lambda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47472" y="3608222"/>
            <a:ext cx="129844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3192" y="3617366"/>
            <a:ext cx="12070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Entry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719072" y="3608222"/>
            <a:ext cx="345643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764792" y="3617366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entry in GL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303520" y="3608222"/>
            <a:ext cx="312724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49240" y="3617366"/>
            <a:ext cx="3035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fct_gl_entries rows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47472" y="3925519"/>
            <a:ext cx="129844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3192" y="3934663"/>
            <a:ext cx="12070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1719072" y="3925519"/>
            <a:ext cx="345643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764792" y="3934663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owed by customers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5303520" y="3925519"/>
            <a:ext cx="312724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49240" y="3934663"/>
            <a:ext cx="3035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mart_ar_aging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47472" y="4242816"/>
            <a:ext cx="129844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3192" y="4251960"/>
            <a:ext cx="12070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Aging Bucket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719072" y="4242816"/>
            <a:ext cx="3456432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764792" y="4251960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by days overdue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5303520" y="4242816"/>
            <a:ext cx="3127248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49240" y="4251960"/>
            <a:ext cx="3035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0-30, 31-60, 61-90, 90+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47472" y="4560113"/>
            <a:ext cx="129844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93192" y="4569257"/>
            <a:ext cx="12070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Movement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1719072" y="4560113"/>
            <a:ext cx="3456432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764792" y="4569257"/>
            <a:ext cx="3364992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ARR change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5303520" y="4560113"/>
            <a:ext cx="3127248" cy="3017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349240" y="4569257"/>
            <a:ext cx="3035808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fct_arr movement_type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3200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Finance Concepts Map to dbt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749808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68096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768096"/>
            <a:ext cx="2743200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7680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1042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→ cleaned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523744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41732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stg_erp__gl_entries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12064" y="171907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GL entries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2157984"/>
            <a:ext cx="2523744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" y="220370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stg_erp__invoices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12064" y="2505456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invoices (AR)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2944368"/>
            <a:ext cx="2523744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064" y="2990088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stg_erp__subscriptions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2064" y="3291840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records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730752"/>
            <a:ext cx="2523744" cy="7132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" y="377647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835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stg_epm__plan_line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12064" y="4078224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Budget/plan data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55264" y="768096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55264" y="768096"/>
            <a:ext cx="274320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46704" y="7680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46704" y="1042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applied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64992" y="1371600"/>
            <a:ext cx="2523744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9856" y="141732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int_revenue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419856" y="171907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entity/period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364992" y="2157984"/>
            <a:ext cx="2523744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9856" y="220370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int_arr_movements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19856" y="2505456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categorized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364992" y="2944368"/>
            <a:ext cx="2523744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9856" y="2990088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int_ar_aging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419856" y="3291840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bucketed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64992" y="3730752"/>
            <a:ext cx="2523744" cy="713232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19856" y="377647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int_pl_components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419856" y="4078224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assembled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163056" y="768096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63056" y="768096"/>
            <a:ext cx="2743200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54496" y="76809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54496" y="10424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analytics only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72784" y="1371600"/>
            <a:ext cx="2523744" cy="7132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27648" y="1417320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mart_pl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327648" y="1719072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P&amp;L → tab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272784" y="2157984"/>
            <a:ext cx="2523744" cy="7132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2203704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fct_arr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27648" y="2505456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→ tab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272784" y="2944368"/>
            <a:ext cx="2523744" cy="7132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27648" y="2990088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mart_ar_aging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327648" y="3291840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→ tab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272784" y="3730752"/>
            <a:ext cx="2523744" cy="713232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27648" y="3776472"/>
            <a:ext cx="2414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fct_gl_entries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327648" y="4078224"/>
            <a:ext cx="2414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→ variance-rca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47472" y="4869180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tools query marts layer — never staging or intermediate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Quick Reference — Keep This Open While Building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" y="585216"/>
            <a:ext cx="8229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658368"/>
            <a:ext cx="4224528" cy="4261104"/>
          </a:xfrm>
          <a:prstGeom prst="rect">
            <a:avLst/>
          </a:prstGeom>
          <a:solidFill>
            <a:srgbClr val="0F172A"/>
          </a:solidFill>
          <a:ln w="12700">
            <a:solidFill>
              <a:srgbClr val="1D4ED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722376"/>
            <a:ext cx="39136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Ratios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Gross Margin = Gross Profit / Revenue × 100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ACME: 77.5% (healthy)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02920" y="1883664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Operating Margin = Op Income / Revenue × 100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ACME: −9.4% (growth stage)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502920" y="2651760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NRR = (Beg + Exp − Churn) / Beg × 100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502920" y="3017520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&gt;100% holy grail; target 110%+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502920" y="3419856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DSO = (AR / Revenue) × days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502920" y="3785616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better; &lt;30d ideal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02920" y="4187952"/>
            <a:ext cx="3913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R&amp;D −15% what-if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02920" y="4553712"/>
            <a:ext cx="391363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3E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+348 bps margin, +$62.9M op inc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754880" y="658368"/>
            <a:ext cx="4041648" cy="4261104"/>
          </a:xfrm>
          <a:prstGeom prst="rect">
            <a:avLst/>
          </a:prstGeom>
          <a:solidFill>
            <a:srgbClr val="0F172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01184" y="722376"/>
            <a:ext cx="37307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Validation Numbers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01184" y="11155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Revenue: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949440" y="1115568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$1.81B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01184" y="150876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FY2024 Gross Profit: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949440" y="1508760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$1.40B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01184" y="19019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49440" y="1901952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77.5%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901184" y="229514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Income: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949440" y="2295144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−$170.4M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901184" y="268833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Margin: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949440" y="2688336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−9.4%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901184" y="308152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Entities: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49440" y="3081528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US|EMEA|APAC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01184" y="3474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Quarters: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49440" y="3474720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Q1–Q4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01184" y="386791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range: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949440" y="3867912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202401–202412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901184" y="42611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buckets: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949440" y="4261104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0-30,31-60,61-90,90+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901184" y="4654296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moves: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49440" y="4654296"/>
            <a:ext cx="1682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new|exp|contr|churn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869180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your ground truth. If queries differ, check dbt model logic.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91440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Recap — What You Now Know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585216"/>
            <a:ext cx="822960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740664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2237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69494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finance org is structured &amp; who FP&amp;A is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" y="1088136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06984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104241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financial statements — P&amp;L is primary focus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7472" y="1435608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41732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8368" y="138988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P&amp;L metrics: Gross Margin, Op Margin, EBITDA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1783080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176479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58368" y="173736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metrics: ARR, NRR, GRR, Churn, CAC, LTV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47472" y="2130552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112264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58368" y="208483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FP&amp;A cycle: monthly &amp; quarterly activities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2478024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459736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58368" y="243230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data vocabulary mapped to dbt models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2825496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807208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8368" y="277977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CFO pain points this system solves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7472" y="3172968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315468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8368" y="3127248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finance AI works now (not 2019)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3520440"/>
            <a:ext cx="219456" cy="21945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502152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58368" y="34747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Four-level maturity: Assisted→Augmented→Integrated→Autonomous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7472" y="3858768"/>
            <a:ext cx="8229600" cy="749808"/>
          </a:xfrm>
          <a:prstGeom prst="rect">
            <a:avLst/>
          </a:prstGeom>
          <a:solidFill>
            <a:srgbClr val="0C1A3D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" y="390448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enough finance domain knowledge to design AI systems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solve real FP&amp;A problems — not just technically correct ones.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4855464"/>
            <a:ext cx="9144000" cy="28803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4869180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Section 3 — Transformation Strategy: Use Cases and Business Cases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 Glossary Quick Reference</dc:title>
  <dc:subject>PptxGenJS Presentation</dc:subject>
  <dc:creator>ACME Finance Course</dc:creator>
  <cp:lastModifiedBy>ACME Finance Course</cp:lastModifiedBy>
  <cp:revision>1</cp:revision>
  <dcterms:created xsi:type="dcterms:W3CDTF">2026-05-09T04:38:56Z</dcterms:created>
  <dcterms:modified xsi:type="dcterms:W3CDTF">2026-05-09T04:38:56Z</dcterms:modified>
</cp:coreProperties>
</file>