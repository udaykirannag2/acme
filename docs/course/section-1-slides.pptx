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9144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3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146304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Finance Agent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Here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3774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Live Demo: Ask ACME a Question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7797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What You'll Build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3182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Who This Is For + Your Roadmap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463040" cy="25603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min  ·  15 slides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878324"/>
            <a:ext cx="7772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Agents on AWS: Build Real Systems for FP&amp;A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Explain Anything — Watch This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System — Natural Language to Answer in &lt; 2 seconds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402336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60120"/>
            <a:ext cx="402336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 —  Chat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0" y="1481328"/>
            <a:ext cx="2560320" cy="402336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4813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ACME's revenue in 2024?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2743200" cy="402336"/>
          </a:xfrm>
          <a:prstGeom prst="rect">
            <a:avLst/>
          </a:prstGeom>
          <a:solidFill>
            <a:srgbClr val="F0F7E8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FY2024: $1,807.9M 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80160" y="2578608"/>
            <a:ext cx="2926080" cy="493776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57860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operating margin for the last 3 fiscal years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2743200" cy="402336"/>
          </a:xfrm>
          <a:prstGeom prst="rect">
            <a:avLst/>
          </a:prstGeom>
          <a:solidFill>
            <a:srgbClr val="FFF4E5"/>
          </a:solidFill>
          <a:ln w="12700">
            <a:solidFill>
              <a:srgbClr val="F5C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186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trend: +8.9% → +5.5% → −9.4%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474720" cy="32918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490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finance question…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353312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1517904"/>
            <a:ext cx="347472" cy="347472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517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75504" y="14264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75504" y="170078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plain English question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09744" y="2011680"/>
            <a:ext cx="18288" cy="18288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121408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286000"/>
            <a:ext cx="347472" cy="34747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75504" y="2194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(ReAct)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175504" y="24688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→ selects tool → executes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09744" y="2779776"/>
            <a:ext cx="18288" cy="18288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889504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054096"/>
            <a:ext cx="347472" cy="347472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75504" y="2962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Tool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75504" y="32369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text_to_sql / forecast / rca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809744" y="3547872"/>
            <a:ext cx="18288" cy="182880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657600"/>
            <a:ext cx="40965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36592" y="3822192"/>
            <a:ext cx="347472" cy="347472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75504" y="37307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Data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75504" y="40050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— instant SQL result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#1: ACME Revenue, FY2024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ACME Finance Redshift — fact_financials table, FY2024 actuals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87552"/>
            <a:ext cx="8375904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87552"/>
            <a:ext cx="36576" cy="47548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87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1188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ACME's revenue in 2024?"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627632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627632"/>
            <a:ext cx="4389120" cy="5486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7739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2029968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30352" y="2871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Full Year Actuals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145536"/>
            <a:ext cx="4389120" cy="402336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45536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Answered in &lt; 1.8 seconds  ·  No SQL written  ·  No IT ticket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0" y="1627632"/>
            <a:ext cx="373075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1627632"/>
            <a:ext cx="54864" cy="89611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7190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1920240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166360" y="232257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actual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0" y="2633472"/>
            <a:ext cx="1773936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633472"/>
            <a:ext cx="54864" cy="89611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7249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CHANGE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292608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+$3.6M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166360" y="33284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+0.2% vs FY2023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31152" y="2633472"/>
            <a:ext cx="1828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31152" y="2633472"/>
            <a:ext cx="54864" cy="89611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68312" y="2724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REVENUE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068312" y="2926080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$1,038.2M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068312" y="332841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 of revenue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0" y="3639312"/>
            <a:ext cx="3730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0" y="3639312"/>
            <a:ext cx="54864" cy="6583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7307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6360" y="3931920"/>
            <a:ext cx="3529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$769.7M  ·  42.6% margin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5166360" y="433425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47.7% in FY2023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4048" y="4434840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AA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trace: NL → text_to_sql tool → SELECT SUM(revenue) FROM fact_financials WHERE fiscal_year=2024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Query #2: Operating Margin — Last 3 Fiscal Years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— Operating margin collapsed 14.8 pts in 24 months. Why?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87552"/>
            <a:ext cx="8375904" cy="47548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87552"/>
            <a:ext cx="36576" cy="47548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87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30352" y="1188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operating margin for the last 3 fiscal years"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609344"/>
            <a:ext cx="100584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63677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89888" y="1609344"/>
            <a:ext cx="146304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3896" y="163677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2928" y="1609344"/>
            <a:ext cx="138988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6936" y="1636776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42816" y="1609344"/>
            <a:ext cx="1444752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06824" y="16367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Expenses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87568" y="1609344"/>
            <a:ext cx="137160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51576" y="1636776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Income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59168" y="1609344"/>
            <a:ext cx="1170432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163677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1956816"/>
            <a:ext cx="1005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" y="198424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89888" y="1956816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53896" y="198424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$1,453.5M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52928" y="1956816"/>
            <a:ext cx="138988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16936" y="1984248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$692.0M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42816" y="1956816"/>
            <a:ext cx="144475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06824" y="19842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$562.0M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87568" y="1956816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51576" y="19842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+$130.0M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59168" y="1956816"/>
            <a:ext cx="117043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3176" y="198424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230428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" y="2331720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89888" y="2304288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233172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$1,804.3M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852928" y="2304288"/>
            <a:ext cx="138988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16936" y="233172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$860.7M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42816" y="2304288"/>
            <a:ext cx="144475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06824" y="233172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$760.7M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87568" y="2304288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51576" y="233172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+$100.0M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59168" y="2304288"/>
            <a:ext cx="117043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233172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" y="2651760"/>
            <a:ext cx="10058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" y="26791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389888" y="2651760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53896" y="267919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$1,807.9M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852928" y="2651760"/>
            <a:ext cx="1389888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16936" y="267919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$769.7M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42816" y="2651760"/>
            <a:ext cx="144475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06824" y="267919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$939.7M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687568" y="2651760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51576" y="267919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−$170.0M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059168" y="2651760"/>
            <a:ext cx="1170432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23176" y="267919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06640" y="1993392"/>
            <a:ext cx="1170432" cy="2743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19933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406640" y="2340864"/>
            <a:ext cx="1170432" cy="274320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23408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06640" y="2688336"/>
            <a:ext cx="1170432" cy="274320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26883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4048" y="3255264"/>
            <a:ext cx="2816352" cy="1097280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93776" y="33467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Change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93776" y="35661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+$3.6M (+0.2%)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93776" y="38953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flat in 2 years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310128" y="3255264"/>
            <a:ext cx="2816352" cy="1097280"/>
          </a:xfrm>
          <a:prstGeom prst="rect">
            <a:avLst/>
          </a:prstGeom>
          <a:solidFill>
            <a:srgbClr val="FFF4E5"/>
          </a:solidFill>
          <a:ln w="12700">
            <a:solidFill>
              <a:srgbClr val="F5C97A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419856" y="33467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Drop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419856" y="35661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−5.1 pts (47.7→42.6%)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3419856" y="38953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revenue rose faster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236208" y="3255264"/>
            <a:ext cx="2816352" cy="1097280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345936" y="33467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Op. Margin Collapse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345936" y="356616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−14.8 pts (8.9→−9.4%)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345936" y="38953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surged $377M in 2 yrs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84048" y="4443984"/>
            <a:ext cx="8375904" cy="29260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" y="4443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barely changed (+0.2%). Margin collapsed 14.8 pts. The system answers WHY —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Happened? Under the Hood in 4 Steps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+ Act loop — Bedrock Agents run this automatically on every query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87552"/>
            <a:ext cx="208483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87552"/>
            <a:ext cx="2084832" cy="45720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875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" y="151790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" y="217627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plain English question. No SQL. No dashboards. No special syntax required.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" y="3236976"/>
            <a:ext cx="1865376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2369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500ms to agent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2359152"/>
            <a:ext cx="128016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987552"/>
            <a:ext cx="208483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78608" y="987552"/>
            <a:ext cx="2084832" cy="457200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9875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06624" y="151790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Loop)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06624" y="217627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plans: "I need revenue data." Selects the right tool. Reasons about schema context.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88336" y="3236976"/>
            <a:ext cx="1865376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88336" y="32369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 + act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128016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987552"/>
            <a:ext cx="208483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987552"/>
            <a:ext cx="2084832" cy="45720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9875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01184" y="151790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Tool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01184" y="217627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converts NL → SQL. Executes against Redshift Serverless. Returns structured JSON result.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82896" y="3236976"/>
            <a:ext cx="1865376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2369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1.5s SQL execution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2359152"/>
            <a:ext cx="128016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67728" y="987552"/>
            <a:ext cx="2084832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67728" y="987552"/>
            <a:ext cx="2084832" cy="45720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98755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95744" y="151790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Back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95744" y="217627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formats the result into natural language. Adds context, units, and supporting figures.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77456" y="3236976"/>
            <a:ext cx="1865376" cy="34747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77456" y="323697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&lt; 2s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" y="40416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84048" y="4242816"/>
            <a:ext cx="1975104" cy="365760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242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78608" y="4242816"/>
            <a:ext cx="1975104" cy="36576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78608" y="4242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73168" y="4242816"/>
            <a:ext cx="1975104" cy="365760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242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67728" y="4242816"/>
            <a:ext cx="1975104" cy="3657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4242816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 — Full System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AI System — end-to-end from Streamlit UI to Redshift data warehouse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 you will have built: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353312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533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" y="13533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Streamlit finance dashboard — 6 tabs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1773936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" y="177393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connecting UI to AWS services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194560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94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4944" y="2194560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Bedrock Agent with 5 custom Lambda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2615184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4944" y="2615184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for secure, scalable access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035808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3035808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 data warehouse with dbt models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456432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4944" y="345643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Memory-augmented agents that learn user preferences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877056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877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" y="387705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 generation for board reports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4297680"/>
            <a:ext cx="237744" cy="23774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297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4944" y="4297680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board pack PDF generation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30368" y="987552"/>
            <a:ext cx="352958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30368" y="987552"/>
            <a:ext cx="3529584" cy="38404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987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AT A GLANCE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30368" y="1371600"/>
            <a:ext cx="352958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0096" y="1426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0" y="14264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230368" y="1737360"/>
            <a:ext cx="352958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0096" y="1792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Slides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15200" y="17922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230368" y="2103120"/>
            <a:ext cx="352958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0096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15200" y="21579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30368" y="2468880"/>
            <a:ext cx="352958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0096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Tabs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15200" y="252374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30368" y="2834640"/>
            <a:ext cx="352958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0096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315200" y="2889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230368" y="3200400"/>
            <a:ext cx="352958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40096" y="3255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Build Time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315200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hrs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230368" y="3566160"/>
            <a:ext cx="3529584" cy="38404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40096" y="3566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open-sourced on GitHub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230368" y="3950208"/>
            <a:ext cx="3529584" cy="384048"/>
          </a:xfrm>
          <a:prstGeom prst="rect">
            <a:avLst/>
          </a:prstGeom>
          <a:solidFill>
            <a:srgbClr val="E7F0FF"/>
          </a:solidFill>
          <a:ln w="12700">
            <a:solidFill>
              <a:srgbClr val="C7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0096" y="39502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included — deploy in &lt; 30 min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End-to-End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are serverless where possible — minimal ops overhead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62763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1627632" cy="32918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96012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289304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893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73352"/>
            <a:ext cx="162763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733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 Tabs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5740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/api/chat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441448"/>
            <a:ext cx="162763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414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Plotly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825496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254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29968" y="960120"/>
            <a:ext cx="171907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29968" y="960120"/>
            <a:ext cx="1719072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84832" y="9601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29968" y="1289304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128930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29968" y="1673352"/>
            <a:ext cx="171907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21408" y="16733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v2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29968" y="2057400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21408" y="20574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3.7 Sonnet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29968" y="2441448"/>
            <a:ext cx="171907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2441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029968" y="2825496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1408" y="28254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877056" y="960120"/>
            <a:ext cx="171907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77056" y="960120"/>
            <a:ext cx="1719072" cy="32918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96012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877056" y="1289304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68496" y="1289304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77056" y="1673352"/>
            <a:ext cx="171907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68496" y="16733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77056" y="2057400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68496" y="20574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Cognito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877056" y="2441448"/>
            <a:ext cx="171907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68496" y="24414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77056" y="2825496"/>
            <a:ext cx="171907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68496" y="282549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logging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24144" y="960120"/>
            <a:ext cx="1627632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24144" y="960120"/>
            <a:ext cx="1627632" cy="32918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96012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724144" y="1289304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15584" y="128930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Lambda Tools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24144" y="1673352"/>
            <a:ext cx="162763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15584" y="1673352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24144" y="2057400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15584" y="205740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3s latency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724144" y="2441448"/>
            <a:ext cx="162763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15584" y="2441448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concurrency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724144" y="2825496"/>
            <a:ext cx="1627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15584" y="2825496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VPC-enabled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79792" y="960120"/>
            <a:ext cx="1389888" cy="3163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79792" y="960120"/>
            <a:ext cx="1389888" cy="3291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34656" y="960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79792" y="1289304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71232" y="128930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79792" y="1673352"/>
            <a:ext cx="13898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71232" y="167335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479792" y="2057400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71232" y="205740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Raw Zone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479792" y="2441448"/>
            <a:ext cx="1389888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71232" y="24414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catalog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79792" y="2825496"/>
            <a:ext cx="13898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71232" y="282549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828800" y="2468880"/>
            <a:ext cx="201168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01952" y="23591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767328" y="2468880"/>
            <a:ext cx="201168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0" y="23591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614416" y="2468880"/>
            <a:ext cx="201168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87568" y="23591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278624" y="2468880"/>
            <a:ext cx="201168" cy="36576"/>
          </a:xfrm>
          <a:prstGeom prst="rect">
            <a:avLst/>
          </a:prstGeom>
          <a:solidFill>
            <a:srgbClr val="9AA3B2"/>
          </a:solidFill>
          <a:ln w="12700">
            <a:solidFill>
              <a:srgbClr val="9AA3B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351776" y="23591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384048" y="389534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 User → FastAPI → AgentCore → Bedrock → Lambda → Redshift → Bedrock → FastAPI → User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7432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USED: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286000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8600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3236976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36976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4187952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187952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138928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38928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6089904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89904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7040880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040880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7991856" y="4297680"/>
            <a:ext cx="914400" cy="219456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91856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Lambda Tools — Agent's Capabilities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 standalone Python Lambda — independently deployable and testable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6824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60120"/>
            <a:ext cx="1682496" cy="38404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14173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text_to_sql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764792"/>
            <a:ext cx="14996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01368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natural language questions into SQL queries against Redshift. Uses schema context + few-shot examples.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499616" cy="51206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3375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ad-hoc data question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066544" y="960120"/>
            <a:ext cx="16824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66544" y="960120"/>
            <a:ext cx="1682496" cy="38404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39696" y="14173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57984" y="1764792"/>
            <a:ext cx="14996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57984" y="1801368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rolling forecasts using historical actuals. Returns 12-month projection with confidence bands.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57984" y="3337560"/>
            <a:ext cx="1499616" cy="51206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3375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actuals, outlooks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858768" y="960120"/>
            <a:ext cx="16824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58768" y="960120"/>
            <a:ext cx="1682496" cy="38404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8768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31920" y="14173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variance_rca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50208" y="1764792"/>
            <a:ext cx="14996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0208" y="1801368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on budget vs. actual variances. Decomposes by business unit, cost center, and driver.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950208" y="3337560"/>
            <a:ext cx="1499616" cy="51206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86784" y="33375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close, board reports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50992" y="960120"/>
            <a:ext cx="16824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50992" y="960120"/>
            <a:ext cx="1682496" cy="38404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24144" y="14173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whatif_sim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42432" y="1764792"/>
            <a:ext cx="14996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1801368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scenario simulations — change headcount, pricing, COGS — and projects P&amp;L impact within seconds.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42432" y="3337560"/>
            <a:ext cx="1499616" cy="51206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9008" y="33375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modeling, CFO scenarios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443216" y="960120"/>
            <a:ext cx="1682496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43216" y="960120"/>
            <a:ext cx="1682496" cy="38404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43216" y="960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16368" y="14173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describe_metric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534656" y="1764792"/>
            <a:ext cx="1499616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34656" y="1801368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canonical KPI definitions from the metric catalog. Ensures consistent terminology across reports.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534656" y="3337560"/>
            <a:ext cx="1499616" cy="512064"/>
          </a:xfrm>
          <a:prstGeom prst="rect">
            <a:avLst/>
          </a:prstGeom>
          <a:solidFill>
            <a:srgbClr val="EEF0F4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3337560"/>
            <a:ext cx="1426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Commentary, onboarding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84048" y="4608576"/>
            <a:ext cx="8375904" cy="16459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60857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Python 3.12  ·  Avg latency: &lt; 2.5s  ·  Max concurrency: 1000  ·  IAM-secured  ·  Fully unit-tested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Streamlit Tabs — Finance Dashboard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tabs share a single FastAPI backend — one codebase, one deployment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8375904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52120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98448" y="960120"/>
            <a:ext cx="52120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960120"/>
            <a:ext cx="521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48256" y="960120"/>
            <a:ext cx="932688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96012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90672" y="960120"/>
            <a:ext cx="1097280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960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06240" y="960120"/>
            <a:ext cx="10972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960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31536" y="960120"/>
            <a:ext cx="1097280" cy="34747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960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140817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1408176"/>
            <a:ext cx="2743200" cy="329184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408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Income Statement — Revenue, Gross Profit, EBITDA, Net Income. Monthly vs. budget. 3-year trend chart.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55264" y="140817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55264" y="1408176"/>
            <a:ext cx="2743200" cy="329184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1408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46704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waterfall — New, Expansion, Contraction, Churn. Monthly cohort view. Net Revenue Retention.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1408176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408176"/>
            <a:ext cx="2743200" cy="32918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4081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Receivable aging buckets — Current, 30/60/90+ days. DSO trend. Collections risk flags.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" y="301752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3017520"/>
            <a:ext cx="2743200" cy="329184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" y="34015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interface you just saw. NL queries → instant answers. Powered by Bedrock Agent + 5 tools. Full conversation history.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55264" y="301752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55264" y="3017520"/>
            <a:ext cx="2743200" cy="329184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46704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46704" y="34015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narrative for each metric. CFO-ready language. Editable. Version-controlled. One click to regenerate.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26480" y="301752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3017520"/>
            <a:ext cx="2743200" cy="32918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017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17920" y="340156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full PDF board pack — cover, exec summary, all charts, commentary. Branded. Downloadable in &lt; 30 seconds.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— 10-Phase Progression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each phase in sequence — each builds on the last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969264"/>
            <a:ext cx="2542032" cy="128016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969264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871216" y="969264"/>
            <a:ext cx="2542032" cy="12801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969264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486400" y="969264"/>
            <a:ext cx="1700784" cy="128016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969264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7260336" y="969264"/>
            <a:ext cx="850392" cy="128016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0336" y="969264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8174736" y="969264"/>
            <a:ext cx="713232" cy="128016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969264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56032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115568"/>
            <a:ext cx="795528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9184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dbt + seed data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56032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120140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120140" y="1115568"/>
            <a:ext cx="795528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0140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65860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193292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5860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auth skeleton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120140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0140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984248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84248" y="1115568"/>
            <a:ext cx="795528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84248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029968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057400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tabs + chart layer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984248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84248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6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848356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848356" y="1115568"/>
            <a:ext cx="795528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48356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894076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921508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94076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 + Bedrock integration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2848356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48356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min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712464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12464" y="1115568"/>
            <a:ext cx="795528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12464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58184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85616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58184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config + ReAct loop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712464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12464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6572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76572" y="1115568"/>
            <a:ext cx="795528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6572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622292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49724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22292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576572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6572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C4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440680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440680" y="1115568"/>
            <a:ext cx="795528" cy="3474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40680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86400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513832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0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gateway + IAM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5440680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40680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304788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4788" y="1115568"/>
            <a:ext cx="795528" cy="3474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04788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6350508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Context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377940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0508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prefs + conversation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304788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4788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3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168896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7168896" y="1115568"/>
            <a:ext cx="795528" cy="3474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168896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7214616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242048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214616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generation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7168896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68896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6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min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033004" y="1115568"/>
            <a:ext cx="795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033004" y="1115568"/>
            <a:ext cx="795528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33004" y="1115568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8078724" y="1499616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106156" y="2194560"/>
            <a:ext cx="64922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78724" y="2212848"/>
            <a:ext cx="70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+ deploy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8033004" y="3803904"/>
            <a:ext cx="795528" cy="512064"/>
          </a:xfrm>
          <a:prstGeom prst="rect">
            <a:avLst/>
          </a:prstGeom>
          <a:solidFill>
            <a:srgbClr val="F0F4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33004" y="3803904"/>
            <a:ext cx="795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256032" y="4407408"/>
            <a:ext cx="8631936" cy="3657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723376" y="4334256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 + Your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practitioner course — every concept has working code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837590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60120"/>
            <a:ext cx="8375904" cy="54864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43000"/>
            <a:ext cx="1097280" cy="1097280"/>
          </a:xfrm>
          <a:prstGeom prst="ellipse">
            <a:avLst/>
          </a:prstGeom>
          <a:solidFill>
            <a:srgbClr val="0E1525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143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10789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Learner: The Solution Architect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20240" y="1371600"/>
            <a:ext cx="6675120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426464"/>
            <a:ext cx="219456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426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12848" y="1426464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deployed AWS services — EC2, Lambda, RDS, maybe Bedrock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1737360"/>
            <a:ext cx="219456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1737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12848" y="1737360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Python well enough to read and modify code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20240" y="2048256"/>
            <a:ext cx="219456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12848" y="2048256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heard of Bedrock Agents but never built one end-to-end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20240" y="2359152"/>
            <a:ext cx="219456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12848" y="2359152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never built a finance AI system — this course bridges that gap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2670048"/>
            <a:ext cx="219456" cy="219456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2670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12848" y="2670048"/>
            <a:ext cx="6364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something real to show: architecture diagrams + working system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" y="3200400"/>
            <a:ext cx="8375904" cy="457200"/>
          </a:xfrm>
          <a:prstGeom prst="rect">
            <a:avLst/>
          </a:prstGeom>
          <a:solidFill>
            <a:srgbClr val="FBE5E5"/>
          </a:solidFill>
          <a:ln w="12700">
            <a:solidFill>
              <a:srgbClr val="F5B5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00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you if: You need basic Python tutorials | You want theoretical-only content | You're looking for a no-code tool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3767328"/>
            <a:ext cx="1444752" cy="237744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37673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64992" y="3767328"/>
            <a:ext cx="1444752" cy="237744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7673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01184" y="3767328"/>
            <a:ext cx="1444752" cy="237744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7673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SQL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437376" y="3767328"/>
            <a:ext cx="1444752" cy="237744"/>
          </a:xfrm>
          <a:prstGeom prst="rect">
            <a:avLst/>
          </a:prstGeom>
          <a:solidFill>
            <a:srgbClr val="EEF0F4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376732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Course Fills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 fluency + AWS architecture + AI agents = rare combination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60120"/>
            <a:ext cx="2651760" cy="38404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34416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344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core services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1783080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7830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22199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22199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REST APIs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2660904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6609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architecture diagrams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" y="309981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09981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basics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63824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63824" y="960120"/>
            <a:ext cx="2651760" cy="38404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63824" y="134416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1344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 vocabulary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63824" y="1783080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17830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ARR, variance analysis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63824" y="222199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22199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 patterns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63824" y="2660904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6609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reasoning loops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163824" y="309981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09981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setup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03200" dist="50800" dir="8100000">
              <a:srgbClr val="0b122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43600" y="960120"/>
            <a:ext cx="2651760" cy="38404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96012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Build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134416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134416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ACME Finance system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0" y="1783080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1783080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Lambda-backed AI tools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0" y="2221992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2221992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Streamlit dashboard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43600" y="2660904"/>
            <a:ext cx="265176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2660904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 pipeline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0" y="3099816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71616" y="3099816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board pack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4626864"/>
            <a:ext cx="8375904" cy="164592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626864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finance AI courses teach theory. This one ships a system." — by the end, you have 15+ files of production-ready code.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Have When You're Done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deliverables — code, patterns, templates, and a working system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4048" y="9601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60120"/>
            <a:ext cx="420624" cy="111556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1014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ACME Finance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6112" y="128930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AI finance system running on your AWS account. Demo-ready in &lt; 30 minutes via CDK.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18304" y="96012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960120"/>
            <a:ext cx="420624" cy="111556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960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0368" y="1014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128930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patterns for Bedrock Agents, Lambda tools, and AgentCore Gateway — applicable to any domain.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20370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203704"/>
            <a:ext cx="420624" cy="111556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2258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Domain Fluency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25328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speak the language: P&amp;L, ARR, EBITDA, variance, DSO — enough to partner with any CFO.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18304" y="2203704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2203704"/>
            <a:ext cx="420624" cy="111556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30368" y="2258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Framework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253288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identify, scope, and pitch AI use cases to finance stakeholders. Battle-tested framework.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344728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447288"/>
            <a:ext cx="420624" cy="111556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Template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" y="377647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ROI calculator and business case deck for finance AI — ready to customize for your client.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18304" y="3447288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18304" y="3447288"/>
            <a:ext cx="420624" cy="1115568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18304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0368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377647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monitoring, cost controls, and observability checklist for production Bedrock deployments.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4443984"/>
            <a:ext cx="8375904" cy="292608"/>
          </a:xfrm>
          <a:prstGeom prst="rect">
            <a:avLst/>
          </a:prstGeom>
          <a:solidFill>
            <a:srgbClr val="E2F3E9"/>
          </a:solidFill>
          <a:ln w="12700">
            <a:solidFill>
              <a:srgbClr val="C2E6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443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 materials — slides, code, CDK stacks, and templates — are included in the GitHub repository.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MODULE 1.3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— 8-Section Course Roadmap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E6E9EF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EF0F4"/>
          </a:solidFill>
          <a:ln w="12700">
            <a:solidFill>
              <a:srgbClr val="EEF0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builds on the last — Hook → Context → Strategy → Build → Scale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" y="2651760"/>
            <a:ext cx="8558784" cy="36576"/>
          </a:xfrm>
          <a:prstGeom prst="rect">
            <a:avLst/>
          </a:prstGeom>
          <a:solidFill>
            <a:srgbClr val="D3D8E0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078992"/>
            <a:ext cx="950976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this, why now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94944" y="2596896"/>
            <a:ext cx="128016" cy="128016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" y="2542032"/>
            <a:ext cx="18288" cy="109728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3312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53312" y="1078992"/>
            <a:ext cx="950976" cy="347472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53312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89888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89888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ARR, data model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755648" y="2596896"/>
            <a:ext cx="128016" cy="128016"/>
          </a:xfrm>
          <a:prstGeom prst="ellipse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5084" y="2542032"/>
            <a:ext cx="18288" cy="109728"/>
          </a:xfrm>
          <a:prstGeom prst="rect">
            <a:avLst/>
          </a:prstGeom>
          <a:solidFill>
            <a:srgbClr val="137A7B"/>
          </a:solidFill>
          <a:ln w="12700">
            <a:solidFill>
              <a:srgbClr val="137A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14016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14016" y="1078992"/>
            <a:ext cx="950976" cy="347472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14016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50592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50592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+ business case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2816352" y="2596896"/>
            <a:ext cx="128016" cy="128016"/>
          </a:xfrm>
          <a:prstGeom prst="ellipse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5788" y="2542032"/>
            <a:ext cx="18288" cy="109728"/>
          </a:xfrm>
          <a:prstGeom prst="rect">
            <a:avLst/>
          </a:prstGeom>
          <a:solidFill>
            <a:srgbClr val="6C4AD9"/>
          </a:solidFill>
          <a:ln w="12700">
            <a:solidFill>
              <a:srgbClr val="6C4A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1078992"/>
            <a:ext cx="950976" cy="347472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11296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11296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+ dbt + seeds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877056" y="2596896"/>
            <a:ext cx="128016" cy="128016"/>
          </a:xfrm>
          <a:prstGeom prst="ellipse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6492" y="2542032"/>
            <a:ext cx="18288" cy="109728"/>
          </a:xfrm>
          <a:prstGeom prst="rect">
            <a:avLst/>
          </a:prstGeom>
          <a:solidFill>
            <a:srgbClr val="3093A8"/>
          </a:solidFill>
          <a:ln w="12700">
            <a:solidFill>
              <a:srgbClr val="3093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35424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35424" y="1078992"/>
            <a:ext cx="950976" cy="347472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0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0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design patterns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4937760" y="2596896"/>
            <a:ext cx="128016" cy="128016"/>
          </a:xfrm>
          <a:prstGeom prst="ellipse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97196" y="2542032"/>
            <a:ext cx="18288" cy="109728"/>
          </a:xfrm>
          <a:prstGeom prst="rect">
            <a:avLst/>
          </a:prstGeom>
          <a:solidFill>
            <a:srgbClr val="C4671B"/>
          </a:solidFill>
          <a:ln w="12700">
            <a:solidFill>
              <a:srgbClr val="C4671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96128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96128" y="1078992"/>
            <a:ext cx="950976" cy="347472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6128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632704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32704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Lambda tools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998464" y="2596896"/>
            <a:ext cx="128016" cy="128016"/>
          </a:xfrm>
          <a:prstGeom prst="ellipse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57900" y="2542032"/>
            <a:ext cx="18288" cy="109728"/>
          </a:xfrm>
          <a:prstGeom prst="rect">
            <a:avLst/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56832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656832" y="1078992"/>
            <a:ext cx="950976" cy="347472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56832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693408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693408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+ memory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059168" y="2596896"/>
            <a:ext cx="128016" cy="128016"/>
          </a:xfrm>
          <a:prstGeom prst="ellipse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18604" y="2542032"/>
            <a:ext cx="18288" cy="109728"/>
          </a:xfrm>
          <a:prstGeom prst="rect">
            <a:avLst/>
          </a:prstGeom>
          <a:solidFill>
            <a:srgbClr val="C63232"/>
          </a:solidFill>
          <a:ln w="12700">
            <a:solidFill>
              <a:srgbClr val="C6323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17536" y="1078992"/>
            <a:ext cx="95097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101600" dist="25400" dir="8100000">
              <a:srgbClr val="0b122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717536" y="1078992"/>
            <a:ext cx="950976" cy="347472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17536" y="1078992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754112" y="1463040"/>
            <a:ext cx="877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54112" y="20116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+ board pack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8119872" y="2596896"/>
            <a:ext cx="128016" cy="128016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79308" y="2542032"/>
            <a:ext cx="18288" cy="109728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2608" y="2724912"/>
            <a:ext cx="1078992" cy="2743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2608" y="272491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292608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1353312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2414016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3474720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535424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596128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6656832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717536" y="305409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292608" y="3401568"/>
            <a:ext cx="8558784" cy="384048"/>
          </a:xfrm>
          <a:prstGeom prst="rect">
            <a:avLst/>
          </a:prstGeom>
          <a:solidFill>
            <a:srgbClr val="0E1525"/>
          </a:solidFill>
          <a:ln w="12700">
            <a:solidFill>
              <a:srgbClr val="0E152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34015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GOAL:  Working finance AI agent on AWS  ·  Deploying in production  ·  Presenting to CFO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92608" y="387705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completion: 16–20 hours of focused study + build time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RECAP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2834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Complete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804672"/>
            <a:ext cx="8375904" cy="1371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05840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100584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the finished system answer two real finance questions — live, no SQL, no dashboards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536192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53619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query: $1,807.9M in &lt; 2 seconds via NL → Bedrock Agent → Lambda → Redshift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066544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206654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trend: +8.9% → +5.5% → −9.4% — profitable company swung to a $170M operating loss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596896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59689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4-step ReAct loop — Plan → Select Tool → Execute → Answer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127248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312724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build: Streamlit UI + FastAPI + Bedrock Agent + 5 tools + Redshift in 10 phases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657600"/>
            <a:ext cx="256032" cy="256032"/>
          </a:xfrm>
          <a:prstGeom prst="ellipse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657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657600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is for Solution Architects who want working code, not theory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434840"/>
            <a:ext cx="8375904" cy="347472"/>
          </a:xfrm>
          <a:prstGeom prst="rect">
            <a:avLst/>
          </a:prstGeom>
          <a:solidFill>
            <a:srgbClr val="0B66E4"/>
          </a:solidFill>
          <a:ln w="12700">
            <a:solidFill>
              <a:srgbClr val="0B6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348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2 — Finance Domain and the Problem We're Solving  →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878324"/>
            <a:ext cx="6858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AI Agents on AWS — Section 1 Complete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4878324"/>
            <a:ext cx="594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AI Agents on AWS — Section 1</dc:title>
  <dc:subject>PptxGenJS Presentation</dc:subject>
  <dc:creator>ACME Finance Course</dc:creator>
  <cp:lastModifiedBy>ACME Finance Course</cp:lastModifiedBy>
  <cp:revision>1</cp:revision>
  <dcterms:created xsi:type="dcterms:W3CDTF">2026-05-10T04:02:17Z</dcterms:created>
  <dcterms:modified xsi:type="dcterms:W3CDTF">2026-05-10T04:02:17Z</dcterms:modified>
</cp:coreProperties>
</file>