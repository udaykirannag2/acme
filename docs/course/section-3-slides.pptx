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4572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54864" cy="15544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594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76656" y="84124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76656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 min  ·  5 modules  ·  22 slides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2505456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542032"/>
            <a:ext cx="2743200" cy="62179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578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2761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Use Cases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36976" y="2542032"/>
            <a:ext cx="2743200" cy="62179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2578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28416" y="2761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(Impact-Feasibility)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2542032"/>
            <a:ext cx="2743200" cy="62179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81344" y="2578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81344" y="27614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(S.T.A.R.T)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25526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section: deciding what to build — Identify → Prioritize → Justify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547872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section:  3.4 Build vs Buy vs Platform  ·  3.5 Current vs Future State — What Actually Changes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Transformation Strategy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Identify Use Cases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194560" cy="4023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005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IDENTIFY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15184" y="10241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969264"/>
            <a:ext cx="2194560" cy="40233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005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EVALUATE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65776" y="10241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85232" y="969264"/>
            <a:ext cx="2194560" cy="40233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30952" y="1005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BUSINESS CASE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536192"/>
            <a:ext cx="8375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can prioritize, you need to know what's possible. Use case identification requires three teams in the same room.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2212848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step is about discovery — not decision-making. The goal is to surface every real pain point and opportunity before any filtering happens.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816352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816352"/>
            <a:ext cx="54864" cy="153619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8712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163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SA, Data Eng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36976" y="2816352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36976" y="2816352"/>
            <a:ext cx="54864" cy="153619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28712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19856" y="3163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FP&amp;A, Finance Ops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9904" y="2816352"/>
            <a:ext cx="27432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816352"/>
            <a:ext cx="54864" cy="153619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28712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72784" y="3163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Finance VP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3.1  ·  Step 1: Identify Use Cases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to Be in the Room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338328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3167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SA, Data Engineers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591056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6642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data exists?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1214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What's the build effort?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5786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What's feasible with current infra?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36976" y="969264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969264"/>
            <a:ext cx="54864" cy="33832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9856" y="13167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FP&amp;A, Finance Ops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19856" y="1591056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16642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Where is time being lost?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19856" y="21214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What's manual, repetitive, error-prone?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9856" y="25786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slows down close?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9904" y="969264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969264"/>
            <a:ext cx="54864" cy="338328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2784" y="13167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Finance VP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72784" y="1591056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16642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decisions are slow?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21214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would change board confidence?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72784" y="25786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What's the strategic priority?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4462272"/>
            <a:ext cx="8375904" cy="329184"/>
          </a:xfrm>
          <a:prstGeom prst="rect">
            <a:avLst/>
          </a:prstGeom>
          <a:solidFill>
            <a:srgbClr val="EDE9F7"/>
          </a:solidFill>
          <a:ln w="12700">
            <a:solidFill>
              <a:srgbClr val="D4CE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identified by one team in isolation almost always fail. The intersection of all three is where real opportunities live.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3.1  ·  Step 1: Identify Use Cases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 of AI Use Cases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743200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34381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9264"/>
            <a:ext cx="2743200" cy="347472"/>
          </a:xfrm>
          <a:prstGeom prst="rect">
            <a:avLst/>
          </a:prstGeom>
          <a:solidFill>
            <a:srgbClr val="E7F0FF"/>
          </a:solidFill>
          <a:ln w="12700">
            <a:solidFill>
              <a:srgbClr val="E7F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969264"/>
            <a:ext cx="54864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05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Optimization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Workforce Enablement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84248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tasks; reduce manual data wrangling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examples: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27066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Querying, Flash Report Automation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2980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feasibility · Existing data · Clear ROI · Best starting point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36976" y="969264"/>
            <a:ext cx="2743200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36976" y="969264"/>
            <a:ext cx="54864" cy="343814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0128" y="969264"/>
            <a:ext cx="2743200" cy="347472"/>
          </a:xfrm>
          <a:prstGeom prst="rect">
            <a:avLst/>
          </a:prstGeom>
          <a:solidFill>
            <a:srgbClr val="E2F3E9"/>
          </a:solidFill>
          <a:ln w="12700">
            <a:solidFill>
              <a:srgbClr val="E2F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6976" y="969264"/>
            <a:ext cx="54864" cy="3474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005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01568" y="13716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Existing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or Services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1984248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2011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intelligence to existing workflows; improve quality or speed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01568" y="25237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examples: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01568" y="27066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RCA, What-If Simulation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01568" y="2980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AI reasoning · Medium complexity · Strong ROI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89904" y="969264"/>
            <a:ext cx="2743200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9904" y="969264"/>
            <a:ext cx="54864" cy="343814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969264"/>
            <a:ext cx="2743200" cy="347472"/>
          </a:xfrm>
          <a:prstGeom prst="rect">
            <a:avLst/>
          </a:prstGeom>
          <a:solidFill>
            <a:srgbClr val="EDE9F7"/>
          </a:solidFill>
          <a:ln w="12700">
            <a:solidFill>
              <a:srgbClr val="EDE9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969264"/>
            <a:ext cx="54864" cy="3474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1005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54496" y="13716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Capabilities —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Impossible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54496" y="1984248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2011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products, revenue streams, or market opportunities powered by AI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54496" y="25237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examples: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54496" y="27066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Mgmt Commentary, Board Pack Generation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54496" y="2980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impact · Higher complexity · Strongest competitive moat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3.1  ·  Three categories: Foundational → Enhancement → Transformational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Pain to Use Case — The ACME Discovery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137160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9669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55648" y="969264"/>
            <a:ext cx="118872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9656" y="99669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44368" y="969264"/>
            <a:ext cx="393192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8376" y="996696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Signal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76288" y="969264"/>
            <a:ext cx="1463040" cy="402336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0296" y="99669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1371600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39903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55648" y="1371600"/>
            <a:ext cx="11887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19656" y="1399032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+ FP&amp;A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44368" y="1371600"/>
            <a:ext cx="3931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8376" y="139903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question needs an IT ticket — 48hr lag"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76288" y="1371600"/>
            <a:ext cx="1463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139903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1773936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18013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Report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55648" y="1773936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19656" y="180136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44368" y="1773936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08376" y="1801368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 hours every close to pull the same numbers"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76288" y="1773936"/>
            <a:ext cx="1463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0296" y="1801368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2176272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20370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755648" y="2176272"/>
            <a:ext cx="11887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9656" y="2203704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+ CFO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44368" y="2176272"/>
            <a:ext cx="3931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08376" y="2203704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"2–3 days per close for root cause analysis"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76288" y="2176272"/>
            <a:ext cx="1463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0296" y="2203704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2578608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" y="260604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755648" y="2578608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19656" y="2606040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44368" y="257860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08376" y="260604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"Can't model scenarios fast enough for the board"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76288" y="2578608"/>
            <a:ext cx="1463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0296" y="2606040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2980944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" y="300837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Commentary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755648" y="2980944"/>
            <a:ext cx="11887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19656" y="3008376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+ FP&amp;A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44368" y="2980944"/>
            <a:ext cx="3931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08376" y="3008376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"Commentary takes a full day — 80% formatting"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76288" y="2980944"/>
            <a:ext cx="1463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0296" y="300837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4048" y="3383280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8056" y="341071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755648" y="3383280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19656" y="3410712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944368" y="338328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08376" y="3410712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days to produce what should be automated"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76288" y="3383280"/>
            <a:ext cx="1463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0296" y="3410712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84048" y="3840480"/>
            <a:ext cx="8375904" cy="347472"/>
          </a:xfrm>
          <a:prstGeom prst="rect">
            <a:avLst/>
          </a:prstGeom>
          <a:solidFill>
            <a:srgbClr val="F8F5FF"/>
          </a:solidFill>
          <a:ln w="12700">
            <a:solidFill>
              <a:srgbClr val="D4CE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" y="3867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CFO identified the transformational ones. FP&amp;A found the enhancement ones. The SA team made them feasible.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3.1  ·  Six use cases discovered through cross-functional discovery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Evaluate: The Impact-Feasibility Matrix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194560" cy="40233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005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IDENTIFY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15184" y="10241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969264"/>
            <a:ext cx="2194560" cy="4023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005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EVALUATE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65776" y="10241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85232" y="969264"/>
            <a:ext cx="2194560" cy="40233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30952" y="1005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BUSINESS CASE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536192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use cases are equal. The matrix tells you what to build now, what to plan for later, and what to skip.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2103120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each use case on two dimensions: how much value it delivers (Impact) and how readily it can be built with current data, skills, and infra (Feasibility).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706624"/>
            <a:ext cx="2157984" cy="1005840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7104" y="2706624"/>
            <a:ext cx="2157984" cy="1005840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3712464"/>
            <a:ext cx="2157984" cy="1005840"/>
          </a:xfrm>
          <a:prstGeom prst="rect">
            <a:avLst/>
          </a:prstGeom>
          <a:solidFill>
            <a:srgbClr val="F3F3F3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47104" y="3712464"/>
            <a:ext cx="2157984" cy="1005840"/>
          </a:xfrm>
          <a:prstGeom prst="rect">
            <a:avLst/>
          </a:prstGeom>
          <a:solidFill>
            <a:srgbClr val="E7F0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76148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SCALE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38544" y="276148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NOW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0" y="376732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38544" y="3767328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 rot="16200000">
            <a:off x="3794760" y="3255264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↑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89120" y="4791456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3.2  ·  Step 2: Evaluate with Impact-Feasibility Matrix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Impact-Feasibility Matrix — Where to Invest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987552"/>
            <a:ext cx="3749040" cy="1746504"/>
          </a:xfrm>
          <a:prstGeom prst="rect">
            <a:avLst/>
          </a:prstGeom>
          <a:solidFill>
            <a:srgbClr val="FEF8EE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987552"/>
            <a:ext cx="3749040" cy="1746504"/>
          </a:xfrm>
          <a:prstGeom prst="rect">
            <a:avLst/>
          </a:prstGeom>
          <a:solidFill>
            <a:srgbClr val="E8F7F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734056"/>
            <a:ext cx="3749040" cy="1746504"/>
          </a:xfrm>
          <a:prstGeom prst="rect">
            <a:avLst/>
          </a:prstGeom>
          <a:solidFill>
            <a:srgbClr val="F3F4F6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734056"/>
            <a:ext cx="3749040" cy="1746504"/>
          </a:xfrm>
          <a:prstGeom prst="rect">
            <a:avLst/>
          </a:prstGeom>
          <a:solidFill>
            <a:srgbClr val="E9F2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SCALE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81728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NOW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268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8172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" y="135331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3152" y="373989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FEASIBILITY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17720" y="4572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FEASIBILITY →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736592" y="1380744"/>
            <a:ext cx="219456" cy="21945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13807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33872" y="1700784"/>
            <a:ext cx="219456" cy="219456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17007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19472" y="2112264"/>
            <a:ext cx="219456" cy="219456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21122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08192" y="2386584"/>
            <a:ext cx="219456" cy="21945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2386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Report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87552" y="1380744"/>
            <a:ext cx="219456" cy="219456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13807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Comm.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10912" y="2432304"/>
            <a:ext cx="219456" cy="219456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8656" y="24323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3.2  ·  Plot use cases; sequence by Build Now vs Plan &amp; Scale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Prioritization: Short-Term vs Scale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4206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338328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167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1–90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384048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664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1901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data bottleneck; highest daily usage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340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578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analyst time savings (2–3 days → 4 hours)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30175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255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CFO visibility; board-ready scenarios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36941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Report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build; good pilot win for trust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73168" y="969264"/>
            <a:ext cx="398678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969264"/>
            <a:ext cx="54864" cy="338328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SCALE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13167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90–180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56048" y="1554480"/>
            <a:ext cx="3657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664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Commentary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6048" y="1901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Variance RCA existing first — needs real variance data as input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2798064"/>
            <a:ext cx="164592" cy="164592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7216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56048" y="2670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6048" y="2907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Commentary + all dashboards; final milestone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4048" y="4425696"/>
            <a:ext cx="8375904" cy="347472"/>
          </a:xfrm>
          <a:prstGeom prst="rect">
            <a:avLst/>
          </a:prstGeom>
          <a:solidFill>
            <a:srgbClr val="FEF8EE"/>
          </a:solidFill>
          <a:ln w="12700">
            <a:solidFill>
              <a:srgbClr val="F0D9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453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matters. Commentary can't exist without Variance RCA. Board Pack needs Commentary. Sequence drives the roadmap.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3.2  ·  Build Now: NL Querying, Variance RCA, What-If, Flash Report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Build the Business Case: S.T.A.R.T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194560" cy="40233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005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IDENTIFY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15184" y="10241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969264"/>
            <a:ext cx="2194560" cy="40233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005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EVALUATE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65776" y="10241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85232" y="969264"/>
            <a:ext cx="2194560" cy="4023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30952" y="1005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BUSINESS CASE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536192"/>
            <a:ext cx="8375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S.T.A.R.T framework gives you a CFO-ready business case in five elements. Here's exactly what you need to bring into that room.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2176272"/>
            <a:ext cx="1572768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176272"/>
            <a:ext cx="54864" cy="18836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231136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512064" y="2980944"/>
            <a:ext cx="135331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0358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48256" y="2176272"/>
            <a:ext cx="1572768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48256" y="2176272"/>
            <a:ext cx="54864" cy="18836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2231136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2176272" y="2980944"/>
            <a:ext cx="135331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30358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12464" y="2176272"/>
            <a:ext cx="1572768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12464" y="2176272"/>
            <a:ext cx="54864" cy="188366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231136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800" dirty="0"/>
          </a:p>
        </p:txBody>
      </p:sp>
      <p:sp>
        <p:nvSpPr>
          <p:cNvPr id="28" name="Shape 26"/>
          <p:cNvSpPr/>
          <p:nvPr/>
        </p:nvSpPr>
        <p:spPr>
          <a:xfrm>
            <a:off x="3840480" y="2980944"/>
            <a:ext cx="135331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30358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76672" y="2176272"/>
            <a:ext cx="1572768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76672" y="2176272"/>
            <a:ext cx="54864" cy="188366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2231136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800" dirty="0"/>
          </a:p>
        </p:txBody>
      </p:sp>
      <p:sp>
        <p:nvSpPr>
          <p:cNvPr id="33" name="Shape 31"/>
          <p:cNvSpPr/>
          <p:nvPr/>
        </p:nvSpPr>
        <p:spPr>
          <a:xfrm>
            <a:off x="5504688" y="2980944"/>
            <a:ext cx="135331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30358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40880" y="2176272"/>
            <a:ext cx="1572768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040880" y="2176272"/>
            <a:ext cx="54864" cy="188366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8896" y="2231136"/>
            <a:ext cx="1389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800" dirty="0"/>
          </a:p>
        </p:txBody>
      </p:sp>
      <p:sp>
        <p:nvSpPr>
          <p:cNvPr id="38" name="Shape 36"/>
          <p:cNvSpPr/>
          <p:nvPr/>
        </p:nvSpPr>
        <p:spPr>
          <a:xfrm>
            <a:off x="7168896" y="2980944"/>
            <a:ext cx="1353312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68896" y="303580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3.3  ·  Step 3: S.T.A.R.T Business Case Framework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S.T.A.R.T — Five Elements of a CFO-Ready Business Case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417880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149961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3904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business problem. What process is broken? Who is affected? Current state vs desired state.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45736" y="969264"/>
            <a:ext cx="417880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969264"/>
            <a:ext cx="54864" cy="149961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024128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TRACKING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28616" y="1353312"/>
            <a:ext cx="3904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metrics: ROI, KPIs, time saved, error rate, cycle time. These become your success criteria AND your board slide.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596896"/>
            <a:ext cx="26700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596896"/>
            <a:ext cx="54864" cy="15727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517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ASSESSMENT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2980944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dependencies: data quality, infrastructure gaps, change management, regulatory requirements.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596896"/>
            <a:ext cx="26700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596896"/>
            <a:ext cx="54864" cy="15727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6517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RESOURCES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980944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(SA, AE, Finance champion), infrastructure, partners, budget. Vague estimates kill projects.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9632" y="2596896"/>
            <a:ext cx="26700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9632" y="2596896"/>
            <a:ext cx="54864" cy="15727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6517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TIMELINE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82512" y="2980944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→ Pilot → Production. Days to each milestone. Clear exit criteria at every stage.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3.3  ·  S.T.A.R.T: the five building blocks of a fundable AI project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S.T.A.R.T in Practice — Variance RCA Use Case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457200" cy="45720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96696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969264"/>
            <a:ext cx="1005840" cy="45720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996696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47088" y="969264"/>
            <a:ext cx="6455664" cy="457200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11096" y="996696"/>
            <a:ext cx="6327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Variance RCA — Concrete Detail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426464"/>
            <a:ext cx="4572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1453896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41248" y="1426464"/>
            <a:ext cx="1005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1453896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47088" y="1426464"/>
            <a:ext cx="645566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1096" y="1453896"/>
            <a:ext cx="6327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spends 2–3 days/close manually identifying variance root causes across US, EMEA, APAC. Late root cause = wrong answer at board.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" y="1883664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1911096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41248" y="1883664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1911096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47088" y="1883664"/>
            <a:ext cx="645566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11096" y="1911096"/>
            <a:ext cx="6327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time: 2–3 days → 4 hours. Accuracy: ≥95% vs manual. Hours saved: 16 hr/month per FP&amp;A analyst.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340864"/>
            <a:ext cx="4572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2368296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41248" y="2340864"/>
            <a:ext cx="1005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2368296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47088" y="2340864"/>
            <a:ext cx="645566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11096" y="2368296"/>
            <a:ext cx="6327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fct_gl_entries vs stg_epm__plan_line must align. Change mgmt: analysts must trust AI output. Audit: every result traceable to mart data.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2798064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2825496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41248" y="2798064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" y="2825496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47088" y="2798064"/>
            <a:ext cx="645566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11096" y="2825496"/>
            <a:ext cx="6327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 (6 weeks) + 1 Analytics Engineer (4 weeks) + Finance Champion (review/sign-off). AWS cost: ~$50/mo incremental.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" y="3255264"/>
            <a:ext cx="4572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3282696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41248" y="3255264"/>
            <a:ext cx="1005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" y="3282696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847088" y="3255264"/>
            <a:ext cx="6455664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11096" y="3282696"/>
            <a:ext cx="6327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2 weeks (EMEA only). Pilot: 4 weeks (all entities, parallel). Production: 6 weeks (replace manual). Total: 12 weeks.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3.3  ·  S.T.A.R.T applied to Variance RCA — the template for every use case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Three-Phase Delivery Timeline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8755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87552"/>
            <a:ext cx="54864" cy="32004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87552"/>
            <a:ext cx="2743200" cy="475488"/>
          </a:xfrm>
          <a:prstGeom prst="rect">
            <a:avLst/>
          </a:prstGeom>
          <a:solidFill>
            <a:srgbClr val="E7F0FF"/>
          </a:solidFill>
          <a:ln w="12700">
            <a:solidFill>
              <a:srgbClr val="E7F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987552"/>
            <a:ext cx="54864" cy="47548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1499616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entity (EMEA), Dec 2024 period.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prove ≥95% accuracy vs manual.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4086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Finance Champion sign-off.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63824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36976" y="98755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36976" y="987552"/>
            <a:ext cx="54864" cy="32004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987552"/>
            <a:ext cx="2743200" cy="475488"/>
          </a:xfrm>
          <a:prstGeom prst="rect">
            <a:avLst/>
          </a:prstGeom>
          <a:solidFill>
            <a:srgbClr val="E2F3E9"/>
          </a:solidFill>
          <a:ln w="12700">
            <a:solidFill>
              <a:srgbClr val="E2F3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6976" y="987552"/>
            <a:ext cx="54864" cy="47548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01568" y="1298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01568" y="1499616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entities, run parallel with manual process.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01568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cycle time. Collect analyst feedback.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01568" y="2286000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234086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CFO reviews both outputs — no material difference.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16752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89904" y="98755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987552"/>
            <a:ext cx="54864" cy="320040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3056" y="987552"/>
            <a:ext cx="2743200" cy="475488"/>
          </a:xfrm>
          <a:prstGeom prst="rect">
            <a:avLst/>
          </a:prstGeom>
          <a:solidFill>
            <a:srgbClr val="EDE9F7"/>
          </a:solidFill>
          <a:ln w="12700">
            <a:solidFill>
              <a:srgbClr val="EDE9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9904" y="987552"/>
            <a:ext cx="54864" cy="47548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54496" y="1298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54496" y="1499616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process entirely.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54496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weekly. Alert if accuracy drops.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54496" y="2286000"/>
            <a:ext cx="237744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234086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cadence. Fully auditable.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3.3  ·  PoC → Pilot → Production — clear exit criteria at each gate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Numbers Only. This Is What Gets Budget Approved.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8375904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475A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8375904" cy="38404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VARIANCE RCA AI TOOL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408176"/>
            <a:ext cx="83759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447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20240" y="144475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$380K/year in analyst capacity on variance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837590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556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0240" y="175564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variance_rca tool (Lambda + Bedrock Agent)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029968"/>
            <a:ext cx="83759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0665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0" y="206654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SA time + $600/year AWS cost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340864"/>
            <a:ext cx="837590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377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0" y="237744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$285K capacity recovered (75% of $380K)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651760"/>
            <a:ext cx="83759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6883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20240" y="268833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months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2962656"/>
            <a:ext cx="837590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992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20240" y="299923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parallel with manual during pilot, fully reversible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3273552"/>
            <a:ext cx="83759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310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20240" y="331012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to production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4425696"/>
            <a:ext cx="8375904" cy="34747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453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architecture diagrams on this slide. CFOs approve numbers, not diagrams.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3.3  ·  The CFO approval slide: one page, numbers only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3.4 — Build vs Buy vs Platform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3268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one decision. It's four — each layer of a finance AI system has its own build-vs-buy answer.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8375904" cy="694944"/>
          </a:xfrm>
          <a:prstGeom prst="rect">
            <a:avLst/>
          </a:prstGeom>
          <a:solidFill>
            <a:srgbClr val="FDF2E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61872"/>
            <a:ext cx="73152" cy="694944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1673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50976" y="1316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1609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Workday Portal  ·  Custom Dashboard  ·  BI Tool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0" y="1408176"/>
            <a:ext cx="1920240" cy="384048"/>
          </a:xfrm>
          <a:prstGeom prst="rect">
            <a:avLst/>
          </a:prstGeom>
          <a:solidFill>
            <a:srgbClr val="FDF2E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141732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Buy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007108"/>
            <a:ext cx="8375904" cy="694944"/>
          </a:xfrm>
          <a:prstGeom prst="rect">
            <a:avLst/>
          </a:prstGeom>
          <a:solidFill>
            <a:srgbClr val="E7F0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007108"/>
            <a:ext cx="73152" cy="6949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06197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50976" y="20619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Tools &amp;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" y="23545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  ·  dbt models  ·  Redshift schema  ·  Your fiscal calendar  ·  Entity hierarchy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75120" y="2153412"/>
            <a:ext cx="1920240" cy="384048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216255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BUILD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2752344"/>
            <a:ext cx="8375904" cy="694944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752344"/>
            <a:ext cx="73152" cy="69494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80720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50976" y="2807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Platform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" y="3099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 ·  Google Vertex AI  ·  Azure OpenAI — managed agent hosting, memory, IAM, security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75120" y="2898648"/>
            <a:ext cx="1920240" cy="38404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9077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PLATFORM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3497580"/>
            <a:ext cx="8375904" cy="694944"/>
          </a:xfrm>
          <a:prstGeom prst="rect">
            <a:avLst/>
          </a:prstGeom>
          <a:solidFill>
            <a:srgbClr val="F3F4F6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497580"/>
            <a:ext cx="73152" cy="694944"/>
          </a:xfrm>
          <a:prstGeom prst="rect">
            <a:avLst/>
          </a:prstGeom>
          <a:solidFill>
            <a:srgbClr val="6B7689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55244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50976" y="35524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0976" y="38450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 ·  OpenAI GPT-4o  ·  Google Gemini — nobody builds LLMs from scratch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75120" y="3643884"/>
            <a:ext cx="192024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6B768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365302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BUY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4048" y="4247388"/>
            <a:ext cx="8375904" cy="274320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2748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= buying layers 2–4 as a package.  Platform + Build = choosing your own layer 2, then building layers 3–4 yourself.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3.4  ·  Every AI application has four layers — each has its own build-vs-buy answer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That Determine Your Approach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7432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0584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27248" y="969264"/>
            <a:ext cx="2816352" cy="347472"/>
          </a:xfrm>
          <a:prstGeom prst="rect">
            <a:avLst/>
          </a:prstGeom>
          <a:solidFill>
            <a:srgbClr val="1A5C3A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00584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SIGNAL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0" y="969264"/>
            <a:ext cx="2816352" cy="347472"/>
          </a:xfrm>
          <a:prstGeom prst="rect">
            <a:avLst/>
          </a:prstGeom>
          <a:solidFill>
            <a:srgbClr val="0A4FB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005840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SIGNAL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316736"/>
            <a:ext cx="27432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316736"/>
            <a:ext cx="54864" cy="85953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1408176"/>
            <a:ext cx="292608" cy="29260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408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" y="14081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Sensitivity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2064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data stay in your cloud?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27248" y="1316736"/>
            <a:ext cx="2816352" cy="859536"/>
          </a:xfrm>
          <a:prstGeom prst="rect">
            <a:avLst/>
          </a:prstGeom>
          <a:solidFill>
            <a:srgbClr val="F0FA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140817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Buy signal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18688" y="168249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data, SaaS hosting acceptable. Low regulatory risk, no VPC requirement.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0" y="1316736"/>
            <a:ext cx="2816352" cy="859536"/>
          </a:xfrm>
          <a:prstGeom prst="rect">
            <a:avLst/>
          </a:prstGeom>
          <a:solidFill>
            <a:srgbClr val="E7F0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408176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signal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168249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actuals, PII, or M&amp;A data. Regulated industry. Data must stay in your VPC.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2221992"/>
            <a:ext cx="2743200" cy="859536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221992"/>
            <a:ext cx="54864" cy="85953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2313432"/>
            <a:ext cx="292608" cy="29260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7824" y="2313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Specificity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064" y="26426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standard or proprietary?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27248" y="2221992"/>
            <a:ext cx="2816352" cy="859536"/>
          </a:xfrm>
          <a:prstGeom prst="rect">
            <a:avLst/>
          </a:prstGeom>
          <a:solidFill>
            <a:srgbClr val="F0FA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31343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Buy signal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18688" y="258775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expense coding, AP automation, ASC 606 revenue recognition. SaaS has pre-built logic.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0" y="2221992"/>
            <a:ext cx="2816352" cy="859536"/>
          </a:xfrm>
          <a:prstGeom prst="rect">
            <a:avLst/>
          </a:prstGeom>
          <a:solidFill>
            <a:srgbClr val="E7F0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2313432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signal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35040" y="258775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Proprietary: your GL structure, fiscal calendar, entity hierarchy, variance thresholds — build it.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" y="3127248"/>
            <a:ext cx="27432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3127248"/>
            <a:ext cx="54864" cy="859536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" y="3218688"/>
            <a:ext cx="292608" cy="29260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77824" y="32186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 Cost of Ownership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2064" y="3547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cost look like at scale?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27248" y="3127248"/>
            <a:ext cx="2816352" cy="859536"/>
          </a:xfrm>
          <a:prstGeom prst="rect">
            <a:avLst/>
          </a:prstGeom>
          <a:solidFill>
            <a:srgbClr val="F0FA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18688" y="321868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Buy signal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18688" y="349300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team, low volume, no in-house engineers. SaaS cheaper upfront; trade-off is control.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43600" y="3127248"/>
            <a:ext cx="2816352" cy="859536"/>
          </a:xfrm>
          <a:prstGeom prst="rect">
            <a:avLst/>
          </a:prstGeom>
          <a:solidFill>
            <a:srgbClr val="E7F0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218688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signal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35040" y="349300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50–100+ users, high query volume, SA team available. Platform 3–5x cheaper at scale.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4048" y="4142232"/>
            <a:ext cx="8375904" cy="3474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41696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2-of-3 answers pointing the same direction = your answer. Most finance AI projects score 2–3 for Platform + Build.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3.4  ·  Data sensitivity · Business logic · 3-year TCO — 2-of-3 decides your direction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Landscape — and Where ACME Landed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969264"/>
            <a:ext cx="27432" cy="3749040"/>
          </a:xfrm>
          <a:prstGeom prst="rect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926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—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261872"/>
            <a:ext cx="4937760" cy="111556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261872"/>
            <a:ext cx="54864" cy="11155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31673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FP&amp;A — Buy when the process is standard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1591056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budgeting:  Mosaic  ·  Pigment  ·  Planful  ·  Anaplan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1828800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finance ops:  Leapfin (rev rec)  ·  Auditoria (AP)  ·  Airbase (expense)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084832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cannot query your custom schema or encode your fiscal logic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4048" y="2468880"/>
            <a:ext cx="4937760" cy="658368"/>
          </a:xfrm>
          <a:prstGeom prst="rect">
            <a:avLst/>
          </a:prstGeom>
          <a:solidFill>
            <a:srgbClr val="E7F0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468880"/>
            <a:ext cx="54864" cy="6583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23744"/>
            <a:ext cx="4700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— Your Layer 2 choice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2761488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 ·  Google Vertex AI  ·  Azure OpenAI — all three are functionally equivalent; choose based on your primary cloud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218688"/>
            <a:ext cx="4937760" cy="658368"/>
          </a:xfrm>
          <a:prstGeom prst="rect">
            <a:avLst/>
          </a:prstGeom>
          <a:solidFill>
            <a:srgbClr val="E1F4F4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218688"/>
            <a:ext cx="54864" cy="6583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73552"/>
            <a:ext cx="4700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Carte — Buy specific components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3511296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(observability)  ·  Pinecone (vectors)  ·  AgentCore Memory  ·  LangSmith (evals)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968496"/>
            <a:ext cx="4937760" cy="548640"/>
          </a:xfrm>
          <a:prstGeom prst="rect">
            <a:avLst/>
          </a:prstGeom>
          <a:solidFill>
            <a:srgbClr val="EDE9F7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968496"/>
            <a:ext cx="54864" cy="54864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05072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SaaS for standard processes. Build on platform for proprietary analytics.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14416" y="96926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ACME SCORED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14416" y="1261872"/>
            <a:ext cx="3145536" cy="40233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05856" y="12984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Data in VPC?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05856" y="146304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Platform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14416" y="1737360"/>
            <a:ext cx="3145536" cy="40233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05856" y="177393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Logic custom?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05856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Build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14416" y="2212848"/>
            <a:ext cx="3145536" cy="402336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05856" y="224942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Scale matters?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05856" y="24140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Platform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14416" y="272491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3-of-3  →  Platform + Build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14416" y="2999232"/>
            <a:ext cx="3145536" cy="140817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05856" y="3054096"/>
            <a:ext cx="296265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15584" y="3090672"/>
            <a:ext cx="2816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BEDROCK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15584" y="325526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agent orchestration (Layer 2)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705856" y="3493008"/>
            <a:ext cx="296265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15584" y="3529584"/>
            <a:ext cx="2816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TOOLS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15584" y="3694176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 · variance_rca · whatif_sim (Layer 3)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05856" y="3931920"/>
            <a:ext cx="296265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15584" y="3968496"/>
            <a:ext cx="2816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DATA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15584" y="4133088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Redshift — your mart definitions (Layer 3)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614416" y="448056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moat is layers 3–4. The cloud handles the rest.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3.4  ·  Use Bedrock · Build tools · Own the data — the conclusion the framework reaches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3.5 — Before and After: What Actually Changes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69264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doesn't disappear. They move up the value chain — from data wrangler to insight reviewer.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8375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in this section follows the same pattern: AI takes the left side of the workflow (retrieval, calculation, formatting), and the human owns the right side (judgment, verification, communication).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2432304"/>
            <a:ext cx="4023360" cy="1938528"/>
          </a:xfrm>
          <a:prstGeom prst="rect">
            <a:avLst/>
          </a:prstGeom>
          <a:solidFill>
            <a:srgbClr val="FDF3F3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432304"/>
            <a:ext cx="54864" cy="193852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798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· Slow · Error-prone · Context-switching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6592" y="2432304"/>
            <a:ext cx="4023360" cy="1938528"/>
          </a:xfrm>
          <a:prstGeom prst="rect">
            <a:avLst/>
          </a:prstGeom>
          <a:solidFill>
            <a:srgbClr val="E2F3E9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2432304"/>
            <a:ext cx="54864" cy="19385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2798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· Fast · Auditable · Analyst owns judgment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3.5  ·  Before and after — analyst moves from wrangler to strategist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Querying — Before and After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4023360" cy="3310128"/>
          </a:xfrm>
          <a:prstGeom prst="rect">
            <a:avLst/>
          </a:prstGeom>
          <a:solidFill>
            <a:srgbClr val="FDF5F5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331012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316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2 days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591056"/>
            <a:ext cx="3657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" y="16824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IT ticket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048256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7824" y="206654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48 hours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432304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" y="245059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CSV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816352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7824" y="283464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 in Excel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200400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" y="321868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969264"/>
            <a:ext cx="4023360" cy="3310128"/>
          </a:xfrm>
          <a:prstGeom prst="rect">
            <a:avLst/>
          </a:prstGeom>
          <a:solidFill>
            <a:srgbClr val="F0FAF4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969264"/>
            <a:ext cx="54864" cy="33101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1316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3 seconds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19472" y="1591056"/>
            <a:ext cx="3657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1682496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16824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question in plain English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2139696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21396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routes to text_to_sql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19472" y="2596896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5968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runs on Redshift mart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19472" y="3054096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0540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returned in 3 seconds with SQL source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4334256"/>
            <a:ext cx="8375904" cy="274320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accuracy. 99.9% faster. Zero SQL knowledge required.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3.5  ·  NL Querying: 2 days → 3 seconds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RCA — Before and After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4023360" cy="3310128"/>
          </a:xfrm>
          <a:prstGeom prst="rect">
            <a:avLst/>
          </a:prstGeom>
          <a:solidFill>
            <a:srgbClr val="FDF5F5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331012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316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2–3 days per close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591056"/>
            <a:ext cx="3657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" y="16824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actuals from Redshift (write SQL)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048256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7824" y="206654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plan from EPM (separate system)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432304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" y="245059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 table in Excel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816352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7824" y="283464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variances manually by magnitude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200400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" y="321868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explanation for each variance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969264"/>
            <a:ext cx="4023360" cy="3310128"/>
          </a:xfrm>
          <a:prstGeom prst="rect">
            <a:avLst/>
          </a:prstGeom>
          <a:solidFill>
            <a:srgbClr val="F0FAF4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969264"/>
            <a:ext cx="54864" cy="33101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1316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2–3 hours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19472" y="1591056"/>
            <a:ext cx="3657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1682496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16824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variance_rca tool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2176272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217627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returned in 15 minutes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19472" y="2670048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67004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reviews output and approves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19472" y="3163824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16382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traceable to mart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4334256"/>
            <a:ext cx="8375904" cy="274320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 → 2–3 hours. 16 analyst-hours saved per month. Fully auditable output.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3.5  ·  Variance RCA: 2–3 days → 2–3 hours per close cycle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Commentary — Before and After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4023360" cy="3310128"/>
          </a:xfrm>
          <a:prstGeom prst="rect">
            <a:avLst/>
          </a:prstGeom>
          <a:solidFill>
            <a:srgbClr val="FDF5F5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69264"/>
            <a:ext cx="54864" cy="331012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316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1 full working day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591056"/>
            <a:ext cx="3657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64208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" y="16824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analyst reads variance analysis output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048256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7824" y="206654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4 paragraphs from scratch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432304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" y="245059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revision round with CFO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816352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7824" y="283464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revision — tone and emphasis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200400"/>
            <a:ext cx="256032" cy="25603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" y="321868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revision — formatting and headers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969264"/>
            <a:ext cx="4023360" cy="3310128"/>
          </a:xfrm>
          <a:prstGeom prst="rect">
            <a:avLst/>
          </a:prstGeom>
          <a:solidFill>
            <a:srgbClr val="F0FAF4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969264"/>
            <a:ext cx="54864" cy="33101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13167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20 minutes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19472" y="1591056"/>
            <a:ext cx="365760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1682496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16824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commentary from variance data + mart context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2176272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217627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reviews draft (5 min) — structure already correct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19472" y="2670048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67004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adds judgment, tone, strategic context (15 min)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19472" y="3163824"/>
            <a:ext cx="237744" cy="237744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16382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receives finished commentary — no revision rounds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4334256"/>
            <a:ext cx="8375904" cy="274320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 day → 20 minutes. Analyst adds judgment, not formatting. CFO stops editing drafts.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3.5  ·  Management Commentary: 1 day → 20 minutes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MODULE 3.5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Across Every Use Case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ANALYST ROLE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280160"/>
            <a:ext cx="1389888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98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83080" y="1389888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10512" y="1280160"/>
            <a:ext cx="1389888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56232" y="1298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9544" y="1389888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36976" y="1280160"/>
            <a:ext cx="1389888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298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36008" y="1389888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89888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298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62472" y="1389888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9904" y="1280160"/>
            <a:ext cx="1389888" cy="475488"/>
          </a:xfrm>
          <a:prstGeom prst="rect">
            <a:avLst/>
          </a:prstGeom>
          <a:solidFill>
            <a:srgbClr val="FBE5E5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1298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88936" y="1389888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16368" y="1280160"/>
            <a:ext cx="1389888" cy="475488"/>
          </a:xfrm>
          <a:prstGeom prst="rect">
            <a:avLst/>
          </a:prstGeom>
          <a:solidFill>
            <a:srgbClr val="FBE5E5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2088" y="12984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1956816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ANALYST ROLE  (AI handles left side)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2249424"/>
            <a:ext cx="1188720" cy="475488"/>
          </a:xfrm>
          <a:prstGeom prst="rect">
            <a:avLst/>
          </a:prstGeom>
          <a:solidFill>
            <a:srgbClr val="DDE9FE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26771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81912" y="2359152"/>
            <a:ext cx="36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00200" y="2249424"/>
            <a:ext cx="1188720" cy="475488"/>
          </a:xfrm>
          <a:prstGeom prst="rect">
            <a:avLst/>
          </a:prstGeom>
          <a:solidFill>
            <a:srgbClr val="DDE9FE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36776" y="226771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98064" y="2359152"/>
            <a:ext cx="36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16352" y="2249424"/>
            <a:ext cx="1188720" cy="475488"/>
          </a:xfrm>
          <a:prstGeom prst="rect">
            <a:avLst/>
          </a:prstGeom>
          <a:solidFill>
            <a:srgbClr val="DDE9FE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226771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14216" y="2359152"/>
            <a:ext cx="36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32504" y="2249424"/>
            <a:ext cx="1188720" cy="475488"/>
          </a:xfrm>
          <a:prstGeom prst="rect">
            <a:avLst/>
          </a:prstGeom>
          <a:solidFill>
            <a:srgbClr val="DDE9FE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226771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30368" y="2359152"/>
            <a:ext cx="36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48656" y="2249424"/>
            <a:ext cx="1188720" cy="47548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85232" y="226771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46520" y="2359152"/>
            <a:ext cx="36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64808" y="2249424"/>
            <a:ext cx="1188720" cy="47548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1384" y="226771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662672" y="2359152"/>
            <a:ext cx="36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680960" y="2249424"/>
            <a:ext cx="1188720" cy="47548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7536" y="226771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4048" y="2798064"/>
            <a:ext cx="4837176" cy="219456"/>
          </a:xfrm>
          <a:prstGeom prst="rect">
            <a:avLst/>
          </a:prstGeom>
          <a:solidFill>
            <a:srgbClr val="DDE9FE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2798064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this side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248656" y="2798064"/>
            <a:ext cx="3621024" cy="21945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48656" y="279806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owns this side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84048" y="3182112"/>
            <a:ext cx="8375904" cy="804672"/>
          </a:xfrm>
          <a:prstGeom prst="rect">
            <a:avLst/>
          </a:prstGeom>
          <a:solidFill>
            <a:srgbClr val="EDE9F7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84048" y="3182112"/>
            <a:ext cx="54864" cy="8046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" y="323697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moves from the left side of this chain to the right side. From wrangler to strategist.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3.5  ·  AI takes the left side. Analyst owns the right side. Every time.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375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Complete — The 3-Step Strategy Framework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9264"/>
            <a:ext cx="292608" cy="29260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9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987552"/>
            <a:ext cx="799185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Identify: Cross-functional discovery · 3 categories (Foundational / Enhancement / Transformational)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481328"/>
            <a:ext cx="292608" cy="29260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1499616"/>
            <a:ext cx="799185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Evaluate: Impact-Feasibility 2×2 matrix · Build Now vs Plan &amp; Scale · Dependency sequencing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993392"/>
            <a:ext cx="292608" cy="29260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" y="2011680"/>
            <a:ext cx="799185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S.T.A.R.T: Scope, Tracking, Assessment, Resources, Timeline · Applied to Variance RCA · CFO-ready one-pager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505456"/>
            <a:ext cx="292608" cy="29260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" y="2523744"/>
            <a:ext cx="799185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 Platform: AWS Bedrock wins on security, customization, speed, and cost for finance 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017520"/>
            <a:ext cx="292608" cy="29260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3035808"/>
            <a:ext cx="799185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Before/after: Analyst moves from data wrangler to insight reviewer across all 6 use cases — wrangler → strategist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4078224"/>
            <a:ext cx="8375904" cy="47548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1148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Section 4 — Data Foundation  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complete — 3-step framework: Identify · Evaluate · S.T.A.R.T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AI Agents on AWS — Section 3: Transformation Strategy</dc:title>
  <dc:subject>PptxGenJS Presentation</dc:subject>
  <dc:creator>ACME Finance Course</dc:creator>
  <cp:lastModifiedBy>ACME Finance Course</cp:lastModifiedBy>
  <cp:revision>1</cp:revision>
  <dcterms:created xsi:type="dcterms:W3CDTF">2026-05-12T06:36:15Z</dcterms:created>
  <dcterms:modified xsi:type="dcterms:W3CDTF">2026-05-12T06:36:15Z</dcterms:modified>
</cp:coreProperties>
</file>