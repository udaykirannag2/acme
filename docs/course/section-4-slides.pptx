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1828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54864" cy="13716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  ·  5 Modules  ·  20 Slides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331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Why Data Is the Hard Part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2724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Source Systems Landscape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31181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Get It In: Ingestion &amp; Storage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3511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Transform with dbt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3904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AI Readiness Assessment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Data Foundation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4.1 — Why Data Is the Hard Part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Finance Data Is Messy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projects fail at the data layer, not the model layer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68680"/>
            <a:ext cx="8375904" cy="50292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868680"/>
            <a:ext cx="54864" cy="5029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868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Most AI finance projects fail here — not at the model layer.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508760"/>
            <a:ext cx="41696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508760"/>
            <a:ext cx="54864" cy="123444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600200"/>
            <a:ext cx="1005840" cy="100584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Source Systems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EPM, CRM each export different formats, at different cadences, owned by different teams.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0016" y="1508760"/>
            <a:ext cx="41696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508760"/>
            <a:ext cx="54864" cy="123444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600200"/>
            <a:ext cx="1005840" cy="1005840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61888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of Schema Changes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renames, account code restructuring, entity merges. No one documented them.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880360"/>
            <a:ext cx="41696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2880360"/>
            <a:ext cx="54864" cy="123444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2971800"/>
            <a:ext cx="1005840" cy="1005840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 Codes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4592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account 4210 means revenue here. Nobody outside Finance knows that. AI doesn't either.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0016" y="2880360"/>
            <a:ext cx="41696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0016" y="2880360"/>
            <a:ext cx="54864" cy="123444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2971800"/>
            <a:ext cx="1005840" cy="1005840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961888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Sensitivity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61888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see entity-level P&amp;L? Who sees headcount costs? Access control is a real constraint.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4.1 — Why Data Is the Hard Part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ACME Data Landscape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query marts only — never staging or raw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68680"/>
            <a:ext cx="8375904" cy="38404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868680"/>
            <a:ext cx="54864" cy="38404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8686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"AI tools query marts only — never staging or raw."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1371600"/>
            <a:ext cx="26974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371600"/>
            <a:ext cx="54864" cy="199339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444752"/>
            <a:ext cx="2450592" cy="31089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4447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 ·  SAP / NetSuite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" y="1828800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Entries (actuals)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" y="2066544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0299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(AR/AR aging)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" y="2304288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267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Records (ARR)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2064" y="2596896"/>
            <a:ext cx="2450592" cy="658368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6060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48640" y="27797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stg_erp__gl_entries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48640" y="29352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stg_erp__invoices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48640" y="30906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stg_erp__subscriptions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200400" y="1371600"/>
            <a:ext cx="26974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1371600"/>
            <a:ext cx="54864" cy="199339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28416" y="1444752"/>
            <a:ext cx="2450592" cy="31089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14447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 ·  Adaptive / Anaplan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28416" y="1828800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Plan data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28416" y="2066544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20299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targets set by Finance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28416" y="2304288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2267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baseline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28416" y="2596896"/>
            <a:ext cx="2450592" cy="658368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26060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364992" y="27797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stg_epm__plan_line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16752" y="1371600"/>
            <a:ext cx="26974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16752" y="1371600"/>
            <a:ext cx="54864" cy="199339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44768" y="1444752"/>
            <a:ext cx="2450592" cy="31089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14447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 ·  Salesforce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44768" y="1828800"/>
            <a:ext cx="54864" cy="5486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44768" y="2066544"/>
            <a:ext cx="54864" cy="5486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2784" y="20299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pipeline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44768" y="2304288"/>
            <a:ext cx="54864" cy="5486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2267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metadata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44768" y="2596896"/>
            <a:ext cx="2450592" cy="658368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26060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181344" y="27797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stg_crm__accounts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81344" y="29352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stg_crm__opportunities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84048" y="3493008"/>
            <a:ext cx="8375904" cy="65836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4048" y="3493008"/>
            <a:ext cx="54864" cy="6583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5112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Mart Tables Power the Entire AI System: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944368" y="3584448"/>
            <a:ext cx="10424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44368" y="35844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mart_pl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059936" y="3584448"/>
            <a:ext cx="10424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59936" y="35844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fct_arr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175504" y="3584448"/>
            <a:ext cx="10424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75504" y="35844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mart_ar_aging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291072" y="3584448"/>
            <a:ext cx="10424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1072" y="35844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fct_revenue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406640" y="3584448"/>
            <a:ext cx="10424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35844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fct_gl_entries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182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188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6926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Sources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Build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 ·  4 slides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data type live?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3008376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809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format and frequency are the extracts?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3410712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each pipeline?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3813048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7856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negotiating vs. what are you building?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Data Foundation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4.2 — Source Systems Landscape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— ERP System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is the authoritative source for all actuals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77824"/>
            <a:ext cx="1097280" cy="2560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77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72768" y="877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NetSuite / Oracle — the system of record for financial actuals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261872"/>
            <a:ext cx="26974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261872"/>
            <a:ext cx="54864" cy="31821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335024"/>
            <a:ext cx="2450592" cy="329184"/>
          </a:xfrm>
          <a:prstGeom prst="rect">
            <a:avLst/>
          </a:prstGeom>
          <a:solidFill>
            <a:srgbClr val="E7F0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3350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52728" y="133502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Entries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" y="173736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journal entry posted to the general ledger. Account code, entity, amount, period, description.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" y="2816352"/>
            <a:ext cx="2487168" cy="56692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346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8640" y="29809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 mapping is required before any AI can interpret these.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2064" y="3456432"/>
            <a:ext cx="2487168" cy="29260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4564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stg_erp__gl_entries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0" y="1261872"/>
            <a:ext cx="26974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261872"/>
            <a:ext cx="54864" cy="31821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28416" y="1335024"/>
            <a:ext cx="2450592" cy="329184"/>
          </a:xfrm>
          <a:prstGeom prst="rect">
            <a:avLst/>
          </a:prstGeom>
          <a:solidFill>
            <a:srgbClr val="E7F0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13350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069080" y="133502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28416" y="173736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issued to customers. Due date, amount, aging bucket, customer ID, payment status.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28416" y="2816352"/>
            <a:ext cx="2487168" cy="56692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8346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64992" y="29809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AR aging analysis. Links to CRM for customer segments.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328416" y="3456432"/>
            <a:ext cx="2487168" cy="29260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4564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stg_erp__invoices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16752" y="1261872"/>
            <a:ext cx="26974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1261872"/>
            <a:ext cx="54864" cy="31821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1335024"/>
            <a:ext cx="2450592" cy="329184"/>
          </a:xfrm>
          <a:prstGeom prst="rect">
            <a:avLst/>
          </a:prstGeom>
          <a:solidFill>
            <a:srgbClr val="E7F0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3350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SOURCE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85432" y="133502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Records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44768" y="173736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subscription contracts. MRR, start/end dates, plan type, expansion/churn events.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44768" y="2816352"/>
            <a:ext cx="2487168" cy="56692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28346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81344" y="29809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canonical source for ARR calculations. Finance owns the definition.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44768" y="3456432"/>
            <a:ext cx="2487168" cy="29260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4768" y="34564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stg_erp__subscriptions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4.2 — Source Systems Landscape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— EPM (Enterprise Performance Management)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is the source of truth for budget and plan — what variance RCA compares against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77824"/>
            <a:ext cx="859536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778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72768" y="877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Insights / Anaplan / Hyperion — where Finance sets annual targets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261872"/>
            <a:ext cx="502920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261872"/>
            <a:ext cx="54864" cy="321868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3350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in EPM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1700784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6733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budget set by Finance leadership each October/November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2048256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0208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 lines: Account, Entity, Scenario (Budget/Forecast/Actuals), Period, Amount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2395728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3682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forecasts updated monthly or quarterly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2743200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7157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plan (by department, by role)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" y="3090672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063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plan (CAPEX schedules)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3438144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4107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models (growth %, cost ratios)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96128" y="1261872"/>
            <a:ext cx="3163824" cy="1536192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96128" y="1261872"/>
            <a:ext cx="54864" cy="153619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3350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Staging Table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0" y="1554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stg_epm__plan_line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18836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60720" y="2084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account_code  ·  entity_id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60720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fiscal_year  ·  fiscal_period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60720" y="2487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 ·  amount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596128" y="2926080"/>
            <a:ext cx="316382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96128" y="2926080"/>
            <a:ext cx="54864" cy="15544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9992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291840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07024" y="3264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 compares actuals vs. plan_line amounts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760720" y="3566160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07024" y="3538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explanations reference plan targets directly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760720" y="3840480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07024" y="3813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EPM data, there is no variance — only spend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60720" y="4114800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07024" y="4087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defines the formula: actuals − budget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4.2 — Source Systems Landscape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Architect's Job: Negotiate the Extract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control source systems — you negotiate the extract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68680"/>
            <a:ext cx="8375904" cy="54864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868680"/>
            <a:ext cx="54864" cy="54864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control these source systems. You negotiate the extract."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572768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572768"/>
            <a:ext cx="54864" cy="28803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645920"/>
            <a:ext cx="2450592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6459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Start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011680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197510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format does the system export? (CSV, JDBC, API)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8640" y="2450592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414016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refresh frequency? (nightly, weekly, real-time)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2889504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85292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pipeline? (IT team, Finance team, vendor)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291840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latency SLA? (T+1, T+2, weekly close)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54864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73075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row-level filters on the export?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0" y="1572768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1572768"/>
            <a:ext cx="54864" cy="28803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28416" y="1645920"/>
            <a:ext cx="2450592" cy="2743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6459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64992" y="2011680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197510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historical extract (minimum 2 years for AI trend analysis)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364992" y="2450592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2414016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column names across export versions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364992" y="2889504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285292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agreement (empty = zero or truly absent?)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64992" y="3328416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3291840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vs. full load (impacts S3 cost and load time)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364992" y="3767328"/>
            <a:ext cx="54864" cy="548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373075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 before going to production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16752" y="1572768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16752" y="1572768"/>
            <a:ext cx="54864" cy="288036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44768" y="1645920"/>
            <a:ext cx="2450592" cy="274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16459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Needed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81344" y="2011680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197510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owner refuses to provide raw GL entries (need journal level)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81344" y="2450592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2414016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only available weekly but AI needs daily refresh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81344" y="2889504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85292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code mapping not available (critical blocker)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81344" y="3328416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291840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not yet defined for new AI use case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81344" y="3767328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73075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staging environment available for testing extracts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182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188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6926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Data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Redshift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  ·  5 slides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as the raw landing zone — why object storage first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3008376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809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command: the bridge from S3 to Redshift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3410712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Serverless: RPU billing, auto-pause, cold start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3813048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7856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storage design inside one database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4215384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87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reality at ACME scale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Data Foundation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4.3 — Ingestion &amp; 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Ingestion Pattern: Source → S3 → Redshift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batch, CSV files, S3 prefix per source system — simple and auditable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005840"/>
            <a:ext cx="20848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005840"/>
            <a:ext cx="54864" cy="1188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078992"/>
            <a:ext cx="1837944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789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41732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 · EPM · CRM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32304" y="14630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33472" y="1005840"/>
            <a:ext cx="20848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1005840"/>
            <a:ext cx="54864" cy="1188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1078992"/>
            <a:ext cx="1837944" cy="2743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10789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Landing Zone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61488" y="141732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s3://acme-finance-raw/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{source}/{date}/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18304" y="14630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19472" y="1005840"/>
            <a:ext cx="20848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1005840"/>
            <a:ext cx="54864" cy="11887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1078992"/>
            <a:ext cx="1837944" cy="274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0789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COPY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47488" y="141732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command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nightly schedule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04304" y="14630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05472" y="1005840"/>
            <a:ext cx="20848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05472" y="1005840"/>
            <a:ext cx="54864" cy="1188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1078992"/>
            <a:ext cx="1837944" cy="2743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3488" y="10789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33488" y="141732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stg_epm__*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ACME-Specific Configuration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2651760"/>
            <a:ext cx="228600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" y="267919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70048" y="2651760"/>
            <a:ext cx="274320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34056" y="26791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Value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" y="2962656"/>
            <a:ext cx="22860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299008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schedule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70048" y="2962656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34056" y="299008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at 02:00 UTC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3273552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" y="330098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70048" y="3273552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34056" y="330098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with header row, UTF-8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" y="3584448"/>
            <a:ext cx="22860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" y="36118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670048" y="3584448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34056" y="36118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s3://acme-finance-raw/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" y="3895344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" y="392277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prefix pattern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670048" y="3895344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34056" y="39227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/{source}/{YYYY-MM-DD}/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4048" y="4206240"/>
            <a:ext cx="22860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" y="423367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target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70048" y="4206240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34056" y="423367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analytics_dev_marts schema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" y="4517136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" y="454456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IAM role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670048" y="4517136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34056" y="454456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arn:aws:iam::…:role/RedshiftCopyRole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87568" y="2359152"/>
            <a:ext cx="3072384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833872" y="2432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Prefix Structure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833872" y="27066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s3://acme-finance-raw/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833872" y="2953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erp/2026-05-08/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833872" y="3200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gl_entries.csv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8338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invoices.csv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833872" y="3694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epm/2026-05-08/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833872" y="39410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plan_line.csv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833872" y="4187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crm/2026-05-08/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833872" y="4434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accounts.csv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4.3 — Ingestion &amp; 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Serverless: Why It Fits This Use Case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RPU-based billing — if you are not querying, you are not paying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14400"/>
            <a:ext cx="197510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14400"/>
            <a:ext cx="54864" cy="10424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00584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model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1208" y="12070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RPU-based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1208" y="16093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Processing Units / second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87168" y="914400"/>
            <a:ext cx="197510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914400"/>
            <a:ext cx="54864" cy="104241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00584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24328" y="12070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624328" y="16093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timeout before pause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90288" y="914400"/>
            <a:ext cx="197510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0288" y="914400"/>
            <a:ext cx="54864" cy="104241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100584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27448" y="12070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727448" y="16093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query after pause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93408" y="914400"/>
            <a:ext cx="197510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93408" y="914400"/>
            <a:ext cx="54864" cy="104241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100584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30568" y="12070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830568" y="16093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at ACME scale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2103120"/>
            <a:ext cx="402336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2103120"/>
            <a:ext cx="54864" cy="245059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Redshift Config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" y="2487168"/>
            <a:ext cx="37673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2523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Workgroup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084832" y="252374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acme-finance-dev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" y="2816352"/>
            <a:ext cx="376732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84832" y="285292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12064" y="3145536"/>
            <a:ext cx="37673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182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084832" y="31821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analytics_dev_marts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2064" y="3474720"/>
            <a:ext cx="376732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511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RPU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084832" y="35112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RPU (scales up to 512)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2064" y="3803904"/>
            <a:ext cx="37673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084832" y="38404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subnet, no public access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12064" y="4133088"/>
            <a:ext cx="376732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084832" y="416966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acme_admin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90288" y="2103120"/>
            <a:ext cx="4169664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90288" y="2103120"/>
            <a:ext cx="54864" cy="245059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3168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Consideration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18304" y="2487168"/>
            <a:ext cx="34747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24871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20640" y="250545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 management — AWS handles scaling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18304" y="2816352"/>
            <a:ext cx="34747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120640" y="28346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query second — low cost for dev/test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18304" y="3145536"/>
            <a:ext cx="34747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18304" y="31455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120640" y="316382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512 RPU for month-end close queries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18304" y="3474720"/>
            <a:ext cx="347472" cy="256032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18304" y="3474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120640" y="34930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cold start on first daily query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18304" y="3803904"/>
            <a:ext cx="347472" cy="256032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8304" y="38039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120640" y="382219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predictable billing than provisioned clusters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18304" y="4133088"/>
            <a:ext cx="347472" cy="256032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18304" y="4133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120640" y="415137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sub-second latency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4.3 — Ingestion &amp; 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Design: Three Layers in One Database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only hit the analytics/marts layer — never raw or staging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96112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896112"/>
            <a:ext cx="54864" cy="376732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969264"/>
            <a:ext cx="2450592" cy="31089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96926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STAGING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1335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8640" y="1499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analytics_dev_staging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12064" y="1737360"/>
            <a:ext cx="2487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output of COPY command. 1-to-1 with source CSV files. No business logic. Column names match source system.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" y="2688336"/>
            <a:ext cx="2487168" cy="640080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066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48640" y="28712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stg_erp__gl_entries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stg_erp__invoices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48640" y="31638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stg_erp__subscriptions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stg_epm__plan_line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48640" y="34564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stg_crm__accounts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12064" y="3401568"/>
            <a:ext cx="2487168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107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by: dbt only. Never by AI tools or analysts.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12064" y="3675888"/>
            <a:ext cx="2487168" cy="256032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758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AI tools must NOT query this layer.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0" y="896112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896112"/>
            <a:ext cx="54864" cy="376732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28416" y="969264"/>
            <a:ext cx="2450592" cy="31089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96926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4992" y="1335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64992" y="1499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analytics_dev_intermediate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28416" y="1737360"/>
            <a:ext cx="2487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applied. Joins across sources. Derived fields calculated. Named for what they represent, not where they came from.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328416" y="2688336"/>
            <a:ext cx="2487168" cy="640080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27066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364992" y="28712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int_revenue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364992" y="30175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int_arr_movements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364992" y="31638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int_ar_aging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364992" y="33101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int_pl_components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328416" y="3401568"/>
            <a:ext cx="2487168" cy="20116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4107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by: dbt only. Stepping stone to marts.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328416" y="3675888"/>
            <a:ext cx="2487168" cy="256032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36758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for direct consumption.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16752" y="896112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16752" y="896112"/>
            <a:ext cx="54864" cy="37673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4768" y="969264"/>
            <a:ext cx="2450592" cy="31089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4768" y="96926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/ ANALYTICS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81344" y="1335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181344" y="1499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analytics_dev_marts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44768" y="1737360"/>
            <a:ext cx="2487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analytics-ready tables. Denormalized for query performance. AI tools, Redshift ML, and analysts query here only.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44768" y="2688336"/>
            <a:ext cx="2487168" cy="640080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1344" y="27066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81344" y="28712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mart_pl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181344" y="30175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fct_arr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181344" y="31638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mart_ar_aging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181344" y="33101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fct_revenue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181344" y="34564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fct_gl_entries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6144768" y="3401568"/>
            <a:ext cx="2487168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81344" y="34107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by: AI agents, Bedrock tools, analysts, BI.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6144768" y="3675888"/>
            <a:ext cx="2487168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81344" y="36758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This is the AI query layer.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081528" y="24688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897880" y="24688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4.3 — Ingestion &amp; 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Reality: Redshift Serverless at ACME Scale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is the tradeoff for low cost — plan for it in your AI tool design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Breakdown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243584"/>
            <a:ext cx="164592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2710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29968" y="1243584"/>
            <a:ext cx="164592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93976" y="12710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75888" y="1243584"/>
            <a:ext cx="137160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127101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47488" y="1243584"/>
            <a:ext cx="118872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1496" y="127101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Est.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1572768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16002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compute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29968" y="1572768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93976" y="16002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query-hrs/mo (8 RPU avg)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75888" y="1572768"/>
            <a:ext cx="13716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6002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$0.36/RPU-hr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47488" y="1572768"/>
            <a:ext cx="11887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160020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901952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19293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storage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29968" y="1901952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93976" y="19293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GB managed storage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75888" y="190195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9896" y="192938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$0.024/GB-mo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47488" y="1901952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11496" y="192938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4048" y="2231136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" y="22585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raw storage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29968" y="2231136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93976" y="22585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GB (5 years history)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75888" y="2231136"/>
            <a:ext cx="13716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9896" y="225856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$0.023/GB-mo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47488" y="2231136"/>
            <a:ext cx="11887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11496" y="22585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2560320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" y="25877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transfer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029968" y="2560320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93976" y="258775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GB/night COPY load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75888" y="256032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9896" y="25877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$0.09/GB transfer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047488" y="256032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11496" y="25877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84048" y="2889504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" y="29169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Cloud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029968" y="2889504"/>
            <a:ext cx="16459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93976" y="29169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75888" y="2889504"/>
            <a:ext cx="13716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9896" y="29169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$50/seat/mo (1 seat)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47488" y="2889504"/>
            <a:ext cx="11887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11496" y="291693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84048" y="3218688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" y="3246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029968" y="3218688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93976" y="32461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75888" y="321868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9896" y="32461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047488" y="3218688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11496" y="3246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~$180/mo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84048" y="3456432"/>
            <a:ext cx="4023360" cy="1298448"/>
          </a:xfrm>
          <a:prstGeom prst="rect">
            <a:avLst/>
          </a:prstGeom>
          <a:solidFill>
            <a:srgbClr val="FCEFD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84048" y="3456432"/>
            <a:ext cx="54864" cy="129844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Advisory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66928" y="3822192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3232" y="37947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min idle, Redshift pauses and charges stop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4059936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" y="403250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query after pause waits ~60s for warm-up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66928" y="4297680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" y="42702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AI tools to show a "loading" state during cold start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66928" y="4535424"/>
            <a:ext cx="54864" cy="548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3232" y="450799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warm-up Lambda ping at 07:45 AM UTC daily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90288" y="3456432"/>
            <a:ext cx="4169664" cy="129844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590288" y="3456432"/>
            <a:ext cx="54864" cy="129844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3168" y="3529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for Month-End Close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773168" y="3822192"/>
            <a:ext cx="54864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19472" y="379476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Month-end: Redshift auto-scales to 128 RPU if queues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773168" y="4059936"/>
            <a:ext cx="54864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19472" y="403250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RPU cap set at 512 — prevents runaway cost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773168" y="4297680"/>
            <a:ext cx="54864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19472" y="427024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dbt runs in off-peak hours (Sunday 03:00 UTC)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773168" y="4535424"/>
            <a:ext cx="54864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919472" y="4507992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queries via read-only user, separate from dbt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182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188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6926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dbt: The Layer That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AI Trustworthy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  ·  5 slides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5786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model map: staging → intermediate → marts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3008376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8094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staging layer does (and doesn't do)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3410712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3832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intermediate, not staging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3813048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7856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tables: what the AI actually queries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4215384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8795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cardinal rule: if AI queries staging, it's a design problem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Data Foundation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4.4 — Transform with dbt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dbt Model Map: Three Layers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cleans, intermediate applies logic, marts serve AI and analysts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50976"/>
            <a:ext cx="5760720" cy="31089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50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950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cleaned · 1:1 with source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1316736"/>
            <a:ext cx="1335024" cy="310896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31673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stg_erp__gl_entries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883664" y="1316736"/>
            <a:ext cx="1335024" cy="310896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3664" y="131673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stg_erp__invoices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91840" y="1316736"/>
            <a:ext cx="1335024" cy="310896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1673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stg_erp__subscriptions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700016" y="1316736"/>
            <a:ext cx="1335024" cy="310896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31673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stg_epm__plan_line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743200" y="1700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950976"/>
            <a:ext cx="24505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950976"/>
            <a:ext cx="54864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1024128"/>
            <a:ext cx="2176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Rename · Cast 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212848"/>
            <a:ext cx="5760720" cy="31089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2128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212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applied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" y="2578608"/>
            <a:ext cx="1335024" cy="310896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57860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int_revenue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883664" y="2578608"/>
            <a:ext cx="1335024" cy="310896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257860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int_arr_movements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291840" y="2578608"/>
            <a:ext cx="1335024" cy="310896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57860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int_ar_aging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700016" y="2578608"/>
            <a:ext cx="1335024" cy="310896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257860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6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int_pl_components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0" y="29626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2212848"/>
            <a:ext cx="24505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2212848"/>
            <a:ext cx="54864" cy="8046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2286000"/>
            <a:ext cx="2176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sources · Apply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derived fields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" y="3474720"/>
            <a:ext cx="5760720" cy="31089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3474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77440" y="3474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 · AI queries here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" y="3840480"/>
            <a:ext cx="1335024" cy="31089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38404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mart_pl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883664" y="3840480"/>
            <a:ext cx="1335024" cy="31089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83664" y="38404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fct_arr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291840" y="3840480"/>
            <a:ext cx="1335024" cy="31089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38404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mart_ar_aging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700016" y="3840480"/>
            <a:ext cx="1335024" cy="31089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38404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fct_revenue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108192" y="3840480"/>
            <a:ext cx="1335024" cy="31089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8192" y="38404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fct_gl_entries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6309360" y="3474720"/>
            <a:ext cx="24505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309360" y="3474720"/>
            <a:ext cx="54864" cy="8046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55664" y="3547872"/>
            <a:ext cx="2176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· Performant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query only this layer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84048" y="4334256"/>
            <a:ext cx="8375904" cy="420624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4048" y="4334256"/>
            <a:ext cx="54864" cy="42062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43342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"If your AI tool queries staging, you have a design problem."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4.4 — Transform with dbt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Layer: Clean, Rename, Cast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is the cleaning station — no business logic crosses this boundary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68680"/>
            <a:ext cx="8375904" cy="347472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868680"/>
            <a:ext cx="54864" cy="3474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Produce clean, consistently named columns from raw source files. One model per source table.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353312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353312"/>
            <a:ext cx="54864" cy="15727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426464"/>
            <a:ext cx="3913632" cy="274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42646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stg_erp__gl_entries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" y="1755648"/>
            <a:ext cx="1865376" cy="1024128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73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48640" y="195681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gl_entry_id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48640" y="209397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account_code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48640" y="223113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48640" y="236829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fiscal_year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48640" y="250545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fiscal_period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48640" y="264261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amount_usd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450592" y="1755648"/>
            <a:ext cx="197510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87168" y="177393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Applied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487168" y="1956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Rename: acct_cd → account_code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487168" y="21579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Cast: posted_date to DATE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487168" y="235915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exclude voided entries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487168" y="256032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_source = 'erp'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700016" y="1353312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0016" y="1353312"/>
            <a:ext cx="54864" cy="15727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1426464"/>
            <a:ext cx="3913632" cy="274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42646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stg_erp__invoices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28032" y="1755648"/>
            <a:ext cx="1865376" cy="1024128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1773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864608" y="195681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invoice_id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864608" y="209397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864608" y="223113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invoice_date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864608" y="236829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due_date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864608" y="250545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amount_usd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864608" y="2642616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payment_status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766560" y="1755648"/>
            <a:ext cx="197510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177393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Applied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803136" y="1956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Rename: inv_id → invoice_id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803136" y="21579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Derive: aging_days = today - due_date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803136" y="235915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Standardize: status codes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803136" y="256032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Cast: amounts to NUMERIC(15,2)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84048" y="3035808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4048" y="3035808"/>
            <a:ext cx="54864" cy="15727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2064" y="3108960"/>
            <a:ext cx="3913632" cy="274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1089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stg_erp__subscriptions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2064" y="3438144"/>
            <a:ext cx="1865376" cy="1024128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45643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48640" y="363931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subscription_id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48640" y="377647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48640" y="391363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plan_type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48640" y="405079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mrr_usd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48640" y="418795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start_date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48640" y="432511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end_date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450592" y="3438144"/>
            <a:ext cx="197510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87168" y="3456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Applied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487168" y="363931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Parse: movement_type from event_code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487168" y="38404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Derive: is_active flag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487168" y="40416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Standardize: plan tier names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487168" y="4242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Cast: mrr_usd to NUMERIC(15,2)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700016" y="3035808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700016" y="3035808"/>
            <a:ext cx="54864" cy="15727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28032" y="3108960"/>
            <a:ext cx="3913632" cy="2743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31089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stg_epm__plan_line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28032" y="3438144"/>
            <a:ext cx="1865376" cy="1024128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64608" y="345643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864608" y="363931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plan_line_id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864608" y="377647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account_code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4864608" y="391363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864608" y="405079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fiscal_year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4864608" y="418795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fiscal_period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4864608" y="4325112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6766560" y="3438144"/>
            <a:ext cx="197510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03136" y="3456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Applied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6803136" y="363931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Rename: scen → scenario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803136" y="38404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Cast: fiscal_period to INT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6803136" y="40416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scenario IN (Budget, Forecast)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6803136" y="4242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Standardize: account_code format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4.4 — Transform with dbt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Layer: Business Rules Applied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here — joins, derivations, and calculated fields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68680"/>
            <a:ext cx="8375904" cy="34747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868680"/>
            <a:ext cx="54864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Apply Finance's business rules, join across sources, and calculate derived fields. Only dbt accesses this layer.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335024"/>
            <a:ext cx="4169664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335024"/>
            <a:ext cx="54864" cy="15910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408176"/>
            <a:ext cx="3913632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40817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int_revenue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1737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48640" y="188366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stg_erp__gl_entries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48640" y="202996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stg_erp__invoices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487168" y="1737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487168" y="188366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Filter GL to revenue accounts (4xxx range)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487168" y="206654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Join invoices to confirm recognition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87168" y="224942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Calculate recognized vs. deferred split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487168" y="243230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Apply entity-level allocation rules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12064" y="2596896"/>
            <a:ext cx="3913632" cy="25603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5968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revenue_id · entity_id · period · recognized_usd · deferred_usd · recognition_type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700016" y="1335024"/>
            <a:ext cx="4169664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1335024"/>
            <a:ext cx="54864" cy="15910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408176"/>
            <a:ext cx="3913632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40817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int_arr_movements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1737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864608" y="188366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stg_erp__subscriptions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803136" y="1737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803136" y="188366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Classify movement type: new/expansion/churn/contraction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803136" y="206654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Calculate MRR delta per period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803136" y="224942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Derive ARR = MRR × 12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803136" y="243230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 reactivations vs. new logos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828032" y="2596896"/>
            <a:ext cx="3913632" cy="25603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5968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movement_id · customer_id · period · movement_type · arr_delta_usd · ending_arr_usd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84048" y="3035808"/>
            <a:ext cx="4169664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4048" y="3035808"/>
            <a:ext cx="54864" cy="15910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" y="3108960"/>
            <a:ext cx="3913632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31089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int_ar_aging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34381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48640" y="35844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stg_erp__invoices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487168" y="3438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487168" y="358444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Calculate days outstanding per invoice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487168" y="376732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Assign aging bucket: current/30/60/90/90+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2487168" y="395020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 disputed invoices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2487168" y="413308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Calculate DSO at customer segment level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512064" y="4297680"/>
            <a:ext cx="3913632" cy="25603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976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invoice_id · customer_segment · aging_bucket · amount_usd · days_outstanding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700016" y="3035808"/>
            <a:ext cx="4169664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00016" y="3035808"/>
            <a:ext cx="54864" cy="15910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28032" y="3108960"/>
            <a:ext cx="3913632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1089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int_pl_components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64608" y="34381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864608" y="35844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stg_erp__gl_entries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864608" y="37307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467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stg_epm__plan_line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803136" y="3438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803136" y="358444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Join actuals to plan by account+entity+period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6803136" y="376732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Calculate variance = actuals − budget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803136" y="395020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Classify: favorable vs. unfavorable variance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803136" y="413308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Apply P&amp;L hierarchy (Revenue → EBITDA)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828032" y="4297680"/>
            <a:ext cx="3913632" cy="25603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42976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pl_line_id · account_code · pl_category · actuals_usd · budget_usd · variance_usd · variance_pct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4.4 — Transform with dbt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Layer: What AI Queries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AI tool queries staging, you have a design 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868680"/>
            <a:ext cx="8375904" cy="34747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868680"/>
            <a:ext cx="54864" cy="347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AI tools, Bedrock Lambda functions, and analysts query marts only. Denormalized for performance.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335024"/>
            <a:ext cx="26974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335024"/>
            <a:ext cx="54864" cy="168249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408176"/>
            <a:ext cx="2450592" cy="25603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4081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mart_pl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064" y="170078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int_pl_components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48640" y="19202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48640" y="206654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variance RCA, trend queries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23408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48640" y="246888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entity_id, fiscal_year, fiscal_quarter, pl_category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48640" y="26883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48640" y="281635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actuals_usd, budget_usd, variance_usd, variance_pct, prior_year_usd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200400" y="1335024"/>
            <a:ext cx="26974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335024"/>
            <a:ext cx="54864" cy="168249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28416" y="1408176"/>
            <a:ext cx="2450592" cy="25603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14081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fct_arr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28416" y="170078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int_arr_movements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364992" y="19202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364992" y="206654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waterfall, churn analysis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64992" y="23408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364992" y="246888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customer_id, period, movement_type, plan_type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364992" y="26883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364992" y="281635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arr_delta_usd, ending_arr_usd, new_logo_arr, churn_arr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016752" y="1335024"/>
            <a:ext cx="26974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1335024"/>
            <a:ext cx="54864" cy="168249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1408176"/>
            <a:ext cx="2450592" cy="2560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4081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mart_ar_aging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44768" y="170078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int_ar_aging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181344" y="19202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181344" y="206654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queries, DSO monitoring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81344" y="23408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181344" y="246888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customer_id, customer_segment, aging_bucket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181344" y="26883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181344" y="281635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amount_usd, invoice_count, dso_days, overdue_pct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84048" y="3145536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84048" y="3145536"/>
            <a:ext cx="54864" cy="15727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" y="3218688"/>
            <a:ext cx="3913632" cy="25603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3218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fct_revenue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578608" y="321868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int_revenue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8640" y="35295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Case: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48640" y="36758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 queries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8640" y="39136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Dimensions: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48640" y="405993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entity_id, product_line, period, recognition_type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48640" y="4297680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48640" y="444398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recognized_usd, deferred_usd, total_billed_usd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736592" y="3145536"/>
            <a:ext cx="4169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36592" y="3145536"/>
            <a:ext cx="54864" cy="15727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64608" y="3218688"/>
            <a:ext cx="3913632" cy="25603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3218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fct_gl_entries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31152" y="321868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stg_erp__gl_entries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901184" y="35295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Case: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901184" y="36758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GL queries by AI agent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901184" y="39136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Dimensions: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901184" y="405993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account_code, entity_id, fiscal_period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901184" y="4297680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901184" y="444398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amount_usd, entry_count, description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182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54864" cy="1188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6926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Data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AI?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 ·  3 slides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pre-flight checklist for solution architects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3008376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809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must-pass criteria before wiring in any AI tool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3410712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quality, governance, and access controls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3813048"/>
            <a:ext cx="164592" cy="16459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7856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fix first when you fail a checklist item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Data Foundation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Module 4.5 — AI Readiness Assessment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Checklist: 10 Must-Pass Criteria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checklist before wiring any AI tool into your data layer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50976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50976"/>
            <a:ext cx="54864" cy="6583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078992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078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9332" y="1078992"/>
            <a:ext cx="662940" cy="1828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9332" y="1078992"/>
            <a:ext cx="6629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859536" y="1042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exist and are tested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" y="12984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passing: not_null, unique, accepted_values on all key columns.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84048" y="1700784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1700784"/>
            <a:ext cx="54864" cy="6583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1828800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99332" y="1828800"/>
            <a:ext cx="662940" cy="1828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9332" y="1828800"/>
            <a:ext cx="6629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859536" y="1792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are self-documenting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" y="20482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fiscal_year not fy, entity_id not eid. AI uses column names as context.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4048" y="2450592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2450592"/>
            <a:ext cx="54864" cy="6583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" y="2578608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9332" y="2578608"/>
            <a:ext cx="662940" cy="1828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9332" y="2578608"/>
            <a:ext cx="6629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859536" y="2542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 in primary dimensions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9536" y="27980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account_code, entity_id, fiscal_period must be non-null in all mart tables.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84048" y="3200400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3200400"/>
            <a:ext cx="54864" cy="6583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" y="3328416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3328416"/>
            <a:ext cx="731520" cy="1828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33284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59536" y="3291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schedule documented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" y="35478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must know data freshness. T+1 is minimum for daily variance alerts.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84048" y="3950208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4048" y="3950208"/>
            <a:ext cx="54864" cy="6583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" y="4078224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0752" y="4078224"/>
            <a:ext cx="731520" cy="1828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0752" y="4078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859536" y="4041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validated against source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9536" y="42976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exports 50,000 GL entries → stg_erp__gl_entries has 50,000 rows. Reconcile daily.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736592" y="950976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36592" y="950976"/>
            <a:ext cx="54864" cy="6583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64608" y="1078992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1078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83296" y="1078992"/>
            <a:ext cx="731520" cy="18288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83296" y="10789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212080" y="1042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available (min 2 years)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12080" y="12984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requires 8+ quarters. LLMs cannot extrapolate what is not in the data.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736592" y="1700784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36592" y="1700784"/>
            <a:ext cx="54864" cy="6583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64608" y="1828800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608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46136" y="1828800"/>
            <a:ext cx="868680" cy="1828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46136" y="18288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212080" y="1792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formula defined and agreed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212080" y="20482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must sign off: variance = actuals − budget (not budget − actuals).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736592" y="2450592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736592" y="2450592"/>
            <a:ext cx="54864" cy="6583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64608" y="2578608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6460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083296" y="2578608"/>
            <a:ext cx="731520" cy="18288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83296" y="2578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212080" y="2542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 on staging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212080" y="27980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role has SELECT on marts schema only. Staging is inaccessible.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736592" y="3200400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736592" y="3200400"/>
            <a:ext cx="54864" cy="6583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64608" y="3328416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64608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877556" y="3328416"/>
            <a:ext cx="937260" cy="18288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77556" y="3328416"/>
            <a:ext cx="937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212080" y="3291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query performance &lt;3s for marts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212080" y="35478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EXPLAIN ANALYZE on top 10 AI tool queries. Add SORTKEY/DISTKEY if needed.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736592" y="3950208"/>
            <a:ext cx="4169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736592" y="3950208"/>
            <a:ext cx="54864" cy="6583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64608" y="4078224"/>
            <a:ext cx="256032" cy="25603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64608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946136" y="4078224"/>
            <a:ext cx="868680" cy="1828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946136" y="407822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5212080" y="4041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 process defined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212080" y="42976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EPM adds a column, who updates dbt? Who tests? Who notifies AI tool owners?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Data Foundation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475488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749808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is messy by nature — 3+ sources, schema drift, political access constraints. Plan for this.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" y="1197864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97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4944" y="11978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negotiate the extract — understand format, frequency, and ownership before building pipelines.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645920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4944" y="16459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Redshift COPY is the ingestion pattern. Nightly batch, per-source prefixes, auditable.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093976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93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4944" y="20939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 costs ~$180/month at ACME scale. Cold start (~60s) is the key trade-off.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542032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" y="254203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three-layer model: staging cleans, intermediate applies business logic, marts serve AI.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990088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90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4944" y="29900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layer: 1-to-1 with source, rename/cast/filter only. No business logic crosses this boundary.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3438144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944" y="343814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layer: joins across sources, Finance's rules applied, derived fields calculated.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3886200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" y="38862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layer: denormalized, performant, access-controlled. The only layer AI tools should query.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4334256"/>
            <a:ext cx="201168" cy="2011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" y="43342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10-item AI Readiness Checklist before connecting any agent or Lambda to your data layer.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Section 5 — Reference Architecture  →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0" y="4572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u="sng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Table of Contents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Complete — Data Foundation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4 — Data Foundation</dc:title>
  <dc:subject>PptxGenJS Presentation</dc:subject>
  <dc:creator>ACME Finance Course</dc:creator>
  <cp:lastModifiedBy>ACME Finance Course</cp:lastModifiedBy>
  <cp:revision>1</cp:revision>
  <dcterms:created xsi:type="dcterms:W3CDTF">2026-05-10T01:38:27Z</dcterms:created>
  <dcterms:modified xsi:type="dcterms:W3CDTF">2026-05-10T01:38:27Z</dcterms:modified>
</cp:coreProperties>
</file>