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0" y="45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3000" dirty="0"/>
          </a:p>
        </p:txBody>
      </p:sp>
      <p:sp>
        <p:nvSpPr>
          <p:cNvPr id="4" name="Shape 2"/>
          <p:cNvSpPr/>
          <p:nvPr/>
        </p:nvSpPr>
        <p:spPr>
          <a:xfrm>
            <a:off x="502920" y="621792"/>
            <a:ext cx="54864" cy="155448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21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·  FINAL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859536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Operating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ROI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  ·  5 modules  ·  20 slides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633472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5603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 Your First 90 Days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3026664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9535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 Operating Model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419856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334670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 Pitfalls and How to Avoid Them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813048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73989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  Measuring ROI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4206240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413308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  Course Conclusion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4517136"/>
            <a:ext cx="8375904" cy="256032"/>
          </a:xfrm>
          <a:prstGeom prst="rect">
            <a:avLst/>
          </a:prstGeom>
          <a:solidFill>
            <a:srgbClr val="0D1E35"/>
          </a:solidFill>
          <a:ln w="12700">
            <a:solidFill>
              <a:srgbClr val="1A3A5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453542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section that turns knowledge into action. You leave here ready to ship.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Execution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Module 8.1 — Your First 90 Days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Sequencing Principle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8375904" cy="914400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91440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2412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value before complexity.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13716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demo-able win at 6 weeks. The CFO checkpoint at week 8 is your project's survival gate.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029968"/>
            <a:ext cx="2651760" cy="2523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029968"/>
            <a:ext cx="54864" cy="252374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0848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12064" y="23042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2064" y="2706624"/>
            <a:ext cx="23774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76148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asks a question.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answers in &lt; 5 seconds.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gets buy-in.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88336" y="2084832"/>
            <a:ext cx="219456" cy="219456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88336" y="2084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90672" y="3108960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36976" y="2029968"/>
            <a:ext cx="2651760" cy="2523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36976" y="2029968"/>
            <a:ext cx="54864" cy="252374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20848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64992" y="23042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Checkpoint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64992" y="2706624"/>
            <a:ext cx="23774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276148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RCA shown live.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team validates output.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cleared for Month 3.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41264" y="2084832"/>
            <a:ext cx="219456" cy="219456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41264" y="2084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3108960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89904" y="2029968"/>
            <a:ext cx="2651760" cy="2523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9904" y="2029968"/>
            <a:ext cx="54864" cy="2523744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20848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0" y="23042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Gate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7920" y="2706624"/>
            <a:ext cx="23774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76148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downloads AI-generated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pack. Project approved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full production rollout.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394192" y="2084832"/>
            <a:ext cx="219456" cy="219456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94192" y="2084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4048" y="4626864"/>
            <a:ext cx="8375904" cy="182880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4636008"/>
            <a:ext cx="8046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the CFO can't see value by week 8, the project is at risk. Sequence accordingly.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8.1  ·  Your First 90 Days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Module 8.1 — Your First 90 Days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10-Phase Build Map — Sequenced for Maximum Value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2670048" cy="31089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6926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 ·  Days 1–30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36976" y="969264"/>
            <a:ext cx="2670048" cy="31089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28416" y="96926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 ·  Days 31–60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89904" y="969264"/>
            <a:ext cx="2670048" cy="31089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1344" y="96926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 ·  Days 61–90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389888"/>
            <a:ext cx="252374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42646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69264" y="1426464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+ S3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69264" y="1545336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Workgroup, database, schema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57200" y="1737360"/>
            <a:ext cx="252374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177393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69264" y="1773936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Staging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69264" y="1892808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stg_erp__gl_entries, invoices, subscriptions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57200" y="2084832"/>
            <a:ext cx="252374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212140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69264" y="2121408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Intermediate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69264" y="2240280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int_revenue, int_arr_movements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57200" y="2432304"/>
            <a:ext cx="252374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2468880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69264" y="2468880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Marts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69264" y="2587752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mart_pl, fct_arr, mart_ar_aging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57200" y="2779776"/>
            <a:ext cx="252374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2816352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5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69264" y="2816352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Skeleton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69264" y="2935224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/health, /metrics/* endpoints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3310128" y="1389888"/>
            <a:ext cx="2523744" cy="310896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142646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822192" y="1426464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 + text_to_sql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822192" y="1545336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CFO CHECKPOINT — demo NL querying here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310128" y="1737360"/>
            <a:ext cx="252374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177393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7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822192" y="1773936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22192" y="1892808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Lambda tools registered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3310128" y="2084832"/>
            <a:ext cx="252374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64992" y="212140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8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822192" y="2121408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822192" y="2240280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strategy, cross-session recall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6163056" y="1389888"/>
            <a:ext cx="252374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142646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9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675120" y="1426464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675120" y="1545336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/commentary — 4-paragraph CFO narrative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6163056" y="1737360"/>
            <a:ext cx="252374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177393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10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675120" y="1773936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675120" y="1892808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/boardpack — PDF with P&amp;L, ARR, AR aging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384048" y="4553712"/>
            <a:ext cx="8375904" cy="20116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48640" y="456285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is your survival checkpoint. NL querying works → CFO is convinced → project cleared for Phases 7–10.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8.1  ·  Your First 90 Days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Module 8.1 — Your First 90 Days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(Days 1–30): Data Foundation + NL Query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8375904" cy="438912"/>
          </a:xfrm>
          <a:prstGeom prst="rect">
            <a:avLst/>
          </a:prstGeom>
          <a:solidFill>
            <a:srgbClr val="E8F5EE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43891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241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 ·  DAYS 1–30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0" y="102412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CFO asks a question, gets an answer in &lt; 5 seconds.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1517904"/>
            <a:ext cx="407822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517904"/>
            <a:ext cx="54864" cy="30175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5727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12064" y="17739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" y="2139696"/>
            <a:ext cx="37490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" y="2212848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176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Amazon Redshift Serverless (&lt; 1 day)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2064" y="2578608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5420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dbt project, configure profiles.yml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12064" y="2944368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2907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dbt run — validate mart_pl, mart_budget_vs_actual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2064" y="3310128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273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NULL counts in all dimension columns = 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2064" y="3675888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363931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3 years of actuals + 1 year budget data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81728" y="1517904"/>
            <a:ext cx="407822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1517904"/>
            <a:ext cx="54864" cy="30175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15727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09744" y="17739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Query: Bedrock Agent + text_to_sql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09744" y="2139696"/>
            <a:ext cx="37490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9744" y="2212848"/>
            <a:ext cx="109728" cy="109728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2176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text_to_sql Lambda with schema injection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09744" y="2578608"/>
            <a:ext cx="109728" cy="109728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4336" y="25420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Bedrock Agent (Claude 3 Sonnet)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9744" y="2944368"/>
            <a:ext cx="109728" cy="109728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2907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FastAPI /chat endpoint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9744" y="3310128"/>
            <a:ext cx="109728" cy="109728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74336" y="3273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Streamlit Finance AI interface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09744" y="3675888"/>
            <a:ext cx="109728" cy="109728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74336" y="363931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query test: 10 questions, 10 correct answers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4048" y="4608576"/>
            <a:ext cx="8375904" cy="20116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84048" y="4608576"/>
            <a:ext cx="54864" cy="2011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4636008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Milestone: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286000" y="4636008"/>
            <a:ext cx="6309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types "What was EMEA revenue in Q3?" → Agent answers in 4.2 seconds. CFO says "that's remarkable."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8.1  ·  Your First 90 Days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Module 8.1 — Your First 90 Days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(Days 31–60): Analysis Tools + Memory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8375904" cy="438912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43891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241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 ·  DAYS 31–60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0" y="102412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"What drove EMEA variance?" answered in 15 min instead of 2 days.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1517904"/>
            <a:ext cx="407822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517904"/>
            <a:ext cx="54864" cy="30175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5727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12064" y="17739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RCA + What-If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" y="2139696"/>
            <a:ext cx="37490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" y="2212848"/>
            <a:ext cx="109728" cy="109728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176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variance_rca Lambda (entity, period, dimension)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2064" y="2578608"/>
            <a:ext cx="109728" cy="109728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5420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whatif_sim Lambda (revenue lever modeling)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12064" y="2944368"/>
            <a:ext cx="109728" cy="109728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2907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AgentCore Gateway for tool routing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2064" y="3310128"/>
            <a:ext cx="109728" cy="109728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273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both tools in Bedrock Agent action group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2064" y="3675888"/>
            <a:ext cx="109728" cy="109728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363931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QA: run 5 variance scenarios, validate vs manual Excel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81728" y="1517904"/>
            <a:ext cx="407822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1517904"/>
            <a:ext cx="54864" cy="30175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15727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09744" y="17739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 + CFO Checkpoint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09744" y="2139696"/>
            <a:ext cx="37490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9744" y="2212848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2176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AgentCore Memory Store (session persistence)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09744" y="2578608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4336" y="25420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cross-session recall: "You asked about EMEA last week…"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9744" y="2944368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2907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checkpoint demo — live variance RCA walkthrough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9744" y="3310128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74336" y="3273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FP&amp;A team feedback, iterate on output format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09744" y="3675888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74336" y="363931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known limitations before Month 3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4048" y="4608576"/>
            <a:ext cx="8375904" cy="201168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84048" y="4608576"/>
            <a:ext cx="54864" cy="2011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4636008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Milestone: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286000" y="4636008"/>
            <a:ext cx="6309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drove EMEA variance in October?" → Full root cause breakdown in 14 minutes. FP&amp;A team validates: 100% accurate.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8.1  ·  Your First 90 Days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Module 8.1 — Your First 90 Days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(Days 61–90): Board-Ready Deliverables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8375904" cy="438912"/>
          </a:xfrm>
          <a:prstGeom prst="rect">
            <a:avLst/>
          </a:prstGeom>
          <a:solidFill>
            <a:srgbClr val="EDE9F7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43891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241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 ·  DAYS 61–90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0" y="102412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CFO downloads a board pack generated entirely by AI. Project approved for production.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1517904"/>
            <a:ext cx="407822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517904"/>
            <a:ext cx="54864" cy="301752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5727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12064" y="17739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Engine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" y="2139696"/>
            <a:ext cx="37490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" y="2212848"/>
            <a:ext cx="109728" cy="109728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176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/commentary endpoint (entity, period, tone)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2064" y="2578608"/>
            <a:ext cx="109728" cy="109728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5420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Commentary tab to Streamlit Finance AI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12064" y="2944368"/>
            <a:ext cx="109728" cy="109728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2907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 workflow (approve/edit/reject)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2064" y="3310128"/>
            <a:ext cx="109728" cy="109728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273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variance narrative into commentary output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2064" y="3675888"/>
            <a:ext cx="109728" cy="109728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363931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3 FP&amp;A analysts: iterate on tone &amp; format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81728" y="1517904"/>
            <a:ext cx="407822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1517904"/>
            <a:ext cx="54864" cy="30175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15727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11–12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09744" y="17739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 + E2E Validation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09744" y="2139696"/>
            <a:ext cx="37490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9744" y="2212848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2176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/boardpack endpoint (multi-entity PDF assembly)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09744" y="2578608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4336" y="25420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download with ACME Finance branding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9744" y="2944368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2907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regression test suite (20 golden queries)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9744" y="3310128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74336" y="3273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dashboard: latency, tool call audit log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09744" y="3675888"/>
            <a:ext cx="109728" cy="10972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74336" y="363931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sign-off demo — full board pack in one session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4048" y="4608576"/>
            <a:ext cx="8375904" cy="20116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84048" y="4608576"/>
            <a:ext cx="54864" cy="2011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4636008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Milestone: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286000" y="4636008"/>
            <a:ext cx="6309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downloads AI-generated board pack. Signs project charter for production deployment. Your 90 days are complete.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8.1  ·  Your First 90 Days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0" y="45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02920" y="731520"/>
            <a:ext cx="54864" cy="128016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31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950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1887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and the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230428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 — and how to handle the "AI will take my job" conversation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8.2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Module 8.2 — Operating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Roles You Cannot Ship Without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267004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374904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024128"/>
            <a:ext cx="512064" cy="512064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07899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" y="1591056"/>
            <a:ext cx="241401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1682496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64592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 design &amp; configuration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12064" y="2029968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199339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 orchestration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2064" y="2377440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340864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tool development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12064" y="2724912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68833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&amp; Memory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12064" y="3072384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03580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VPC, IAM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4279392"/>
            <a:ext cx="2523744" cy="347472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2064" y="4315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 The person who took this course.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36976" y="969264"/>
            <a:ext cx="267004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36976" y="969264"/>
            <a:ext cx="54864" cy="374904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64992" y="1024128"/>
            <a:ext cx="512064" cy="512064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68496" y="107899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64992" y="1591056"/>
            <a:ext cx="241401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64992" y="1682496"/>
            <a:ext cx="91440" cy="91440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11296" y="164592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models &amp; transformations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364992" y="2029968"/>
            <a:ext cx="91440" cy="91440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11296" y="199339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Redshift data quality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64992" y="2377440"/>
            <a:ext cx="91440" cy="91440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11296" y="2340864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mart_pl, mart_budget_vs_actual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64992" y="2724912"/>
            <a:ext cx="91440" cy="91440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11296" y="268833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documentation for text_to_sql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364992" y="3072384"/>
            <a:ext cx="91440" cy="91440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11296" y="303580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validation &amp; data contracts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310128" y="4279392"/>
            <a:ext cx="2523744" cy="347472"/>
          </a:xfrm>
          <a:prstGeom prst="rect">
            <a:avLst/>
          </a:prstGeom>
          <a:solidFill>
            <a:srgbClr val="E7F0FF"/>
          </a:solidFill>
          <a:ln w="12700">
            <a:solidFill>
              <a:srgbClr val="137A7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364992" y="4315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already on the data team.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089904" y="969264"/>
            <a:ext cx="267004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89904" y="969264"/>
            <a:ext cx="54864" cy="374904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7920" y="1024128"/>
            <a:ext cx="512064" cy="51206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21424" y="107899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Champion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17920" y="1591056"/>
            <a:ext cx="241401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7920" y="1682496"/>
            <a:ext cx="91440" cy="914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64224" y="164592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manager or senior analyst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17920" y="2029968"/>
            <a:ext cx="91440" cy="914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64224" y="199339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 agent output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217920" y="2377440"/>
            <a:ext cx="91440" cy="914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64224" y="2340864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use case business logic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17920" y="2724912"/>
            <a:ext cx="91440" cy="914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64224" y="268833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off before board submission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217920" y="3072384"/>
            <a:ext cx="91440" cy="914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64224" y="303580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tech team ↔ CFO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163056" y="4279392"/>
            <a:ext cx="2523744" cy="347472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217920" y="4315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critical hire. Without them, the project fails.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84048" y="4608576"/>
            <a:ext cx="8375904" cy="20116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84048" y="4608576"/>
            <a:ext cx="54864" cy="2011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4636008"/>
            <a:ext cx="8046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need all three. The Finance Champion is not optional — they're the reason the CFO trusts the output."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8.2  ·  Operating Model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Module 8.2 — Operating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Management Reality: Three Fears, Three Answers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837590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117043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4241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AI will make up numbers."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1078992"/>
            <a:ext cx="13716" cy="950976"/>
          </a:xfrm>
          <a:prstGeom prst="rect">
            <a:avLst/>
          </a:prstGeom>
          <a:solidFill>
            <a:srgbClr val="D3D8E0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5968" y="10424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315968" y="12435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it with evidence.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15968" y="1517904"/>
            <a:ext cx="4224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golden query validation. Every response includes source attribution: which mart, which rows, which SQL. The agent doesn't guess — it queries clean data.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2231136"/>
            <a:ext cx="837590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231136"/>
            <a:ext cx="54864" cy="117043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3042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66928" y="2505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job is at risk."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06240" y="2340864"/>
            <a:ext cx="13716" cy="950976"/>
          </a:xfrm>
          <a:prstGeom prst="rect">
            <a:avLst/>
          </a:prstGeom>
          <a:solidFill>
            <a:srgbClr val="D3D8E0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23042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315968" y="25054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Reframe, don't dismiss.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15968" y="2779776"/>
            <a:ext cx="4224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no longer builds the pivot table. The analyst now owns the variance narrative. That's a promotion in impact, not a reduction in headcount.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" y="3493008"/>
            <a:ext cx="837590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3493008"/>
            <a:ext cx="54864" cy="117043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5661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66928" y="37673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"Who's responsible when the AI is wrong?"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06240" y="3602736"/>
            <a:ext cx="13716" cy="950976"/>
          </a:xfrm>
          <a:prstGeom prst="rect">
            <a:avLst/>
          </a:prstGeom>
          <a:solidFill>
            <a:srgbClr val="D3D8E0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15968" y="35661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315968" y="3767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accountability chain.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15968" y="4041648"/>
            <a:ext cx="4224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who approved the output is responsible. Agent outputs require sign-off before board submission. The AI drafts. The analyst owns.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8.2  ·  Operating Model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Module 8.2 — Operating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Your Finance Champion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8375904" cy="2011680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201168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144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914400" y="1115568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FP&amp;A analyst who spends 3 days a month building variance pivot tables and hates it.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person is your champion. Show them variance_rca.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changes.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" y="316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identify the champion: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3529584"/>
            <a:ext cx="128016" cy="128016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3493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Complains loudest about "data not being ready" at month-end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3840480"/>
            <a:ext cx="128016" cy="128016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38039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"corrected version" emails at least once per cycle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4151376"/>
            <a:ext cx="128016" cy="128016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4114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private Excel workbook with 47 named ranges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4462272"/>
            <a:ext cx="128016" cy="128016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44256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"I know the number is wrong but I can't prove it until next week"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4773168"/>
            <a:ext cx="128016" cy="128016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4736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asked IT for data access and waited 3+ weeks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3127248"/>
            <a:ext cx="3931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127248"/>
            <a:ext cx="54864" cy="219456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4336" y="31821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 them first: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74336" y="3529584"/>
            <a:ext cx="109728" cy="109728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57216" y="349300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NL query — their most painful monthly question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74336" y="3931920"/>
            <a:ext cx="109728" cy="109728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57216" y="389534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variance_rca on their entity, last month's actuals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974336" y="4334256"/>
            <a:ext cx="109728" cy="109728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57216" y="429768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15-minute number (vs their 3 days)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74336" y="4736592"/>
            <a:ext cx="109728" cy="109728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57216" y="4700016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source SQL — "it queried mart_pl directly"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8.2  ·  Operating Model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0" y="45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02920" y="731520"/>
            <a:ext cx="54864" cy="128016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31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950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1887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Teams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Ship From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That Stall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230428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pitfalls that kill finance AI projects — and how to avoid every 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8.3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Module 8.3 — Pitfalls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Pitfalls That Kill Finance AI Projects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3840480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024128"/>
            <a:ext cx="457200" cy="457200"/>
          </a:xfrm>
          <a:prstGeom prst="ellipse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 Ready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1517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94560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 don't exist. NULLs in dimensions. No agreed variance formula.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96265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1517904" cy="13716"/>
          </a:xfrm>
          <a:prstGeom prst="rect">
            <a:avLst/>
          </a:prstGeom>
          <a:solidFill>
            <a:srgbClr val="E2F3E9"/>
          </a:solidFill>
          <a:ln w="12700">
            <a:solidFill>
              <a:srgbClr val="E2F3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45536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Assessment (Section 4.5) before any AI work. No mart = no agent.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103120" y="969264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103120" y="969264"/>
            <a:ext cx="54864" cy="384048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31136" y="1024128"/>
            <a:ext cx="457200" cy="457200"/>
          </a:xfrm>
          <a:prstGeom prst="ellipse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31136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76272" y="1536192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Finance Champion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76272" y="20116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176272" y="2176272"/>
            <a:ext cx="1517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76272" y="2194560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team builds something finance doesn't trust. Usage is zero.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76272" y="296265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176272" y="3127248"/>
            <a:ext cx="1517904" cy="13716"/>
          </a:xfrm>
          <a:prstGeom prst="rect">
            <a:avLst/>
          </a:prstGeom>
          <a:solidFill>
            <a:srgbClr val="E2F3E9"/>
          </a:solidFill>
          <a:ln w="12700">
            <a:solidFill>
              <a:srgbClr val="E2F3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76272" y="3145536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the finance champion before writing a line of code.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822192" y="969264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22192" y="969264"/>
            <a:ext cx="54864" cy="384048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50208" y="1024128"/>
            <a:ext cx="457200" cy="457200"/>
          </a:xfrm>
          <a:prstGeom prst="ellipse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50208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95344" y="1536192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Drift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95344" y="20116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0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895344" y="2176272"/>
            <a:ext cx="1517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95344" y="2194560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updated. Golden queries start failing silently. No one notices.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895344" y="296265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895344" y="3127248"/>
            <a:ext cx="1517904" cy="13716"/>
          </a:xfrm>
          <a:prstGeom prst="rect">
            <a:avLst/>
          </a:prstGeom>
          <a:solidFill>
            <a:srgbClr val="E2F3E9"/>
          </a:solidFill>
          <a:ln w="12700">
            <a:solidFill>
              <a:srgbClr val="E2F3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95344" y="3145536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regression test on every deploy. CI/CD gate: 0 regressions allowed.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541264" y="969264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541264" y="969264"/>
            <a:ext cx="54864" cy="384048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0" y="1024128"/>
            <a:ext cx="457200" cy="457200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614416" y="1536192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Over-Promising Timeline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14416" y="20116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614416" y="2176272"/>
            <a:ext cx="1517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14416" y="2194560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"We'll have NL querying AND board packs in 4 weeks." You won't.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14416" y="296265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614416" y="3127248"/>
            <a:ext cx="1517904" cy="13716"/>
          </a:xfrm>
          <a:prstGeom prst="rect">
            <a:avLst/>
          </a:prstGeom>
          <a:solidFill>
            <a:srgbClr val="E2F3E9"/>
          </a:solidFill>
          <a:ln w="12700">
            <a:solidFill>
              <a:srgbClr val="E2F3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14416" y="3145536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90-day plan. Phased milestones. Never commit all deliverables upfront.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260336" y="969264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260336" y="969264"/>
            <a:ext cx="54864" cy="384048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88352" y="1024128"/>
            <a:ext cx="457200" cy="457200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88352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333488" y="1536192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333488" y="20116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333488" y="2176272"/>
            <a:ext cx="1517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33488" y="2194560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asks "how did the agent get this number?" Nobody knows.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333488" y="296265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7333488" y="3127248"/>
            <a:ext cx="1517904" cy="13716"/>
          </a:xfrm>
          <a:prstGeom prst="rect">
            <a:avLst/>
          </a:prstGeom>
          <a:solidFill>
            <a:srgbClr val="E2F3E9"/>
          </a:solidFill>
          <a:ln w="12700">
            <a:solidFill>
              <a:srgbClr val="E2F3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33488" y="3145536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logging in CloudWatch. AgentCore Memory stores every Q&amp;A. Always.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8.3  ·  Pitfalls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Module 8.3 — Pitfalls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 That Keeps Projects Alive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8375904" cy="2194560"/>
          </a:xfrm>
          <a:prstGeom prst="rect">
            <a:avLst/>
          </a:prstGeom>
          <a:solidFill>
            <a:srgbClr val="F0FBF5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219456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42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SURVIVAL RULE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33502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“Ship something the CFO can use in 60 days.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6928" y="1828800"/>
            <a:ext cx="8046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imperfect NL query interface that works is worth 10×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system that's still being built.”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" y="3310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in practice: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365760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3657600"/>
            <a:ext cx="54864" cy="109728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37124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is better than perfect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" y="39867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demo with 3 known limitations is infinitely more persuasive than a roadmap slide.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36976" y="365760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36976" y="3657600"/>
            <a:ext cx="54864" cy="109728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37124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protect the project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64992" y="39867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30-day milestone gives leadership a reason to continue funding. No milestone = no budget.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89904" y="365760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9904" y="3657600"/>
            <a:ext cx="54864" cy="109728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37124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Imperfect + improving &gt; perfect + delayed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39867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teams trust systems that improve in front of them more than promises about future state.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8.3  ·  Pitfalls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0" y="45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02920" y="731520"/>
            <a:ext cx="54864" cy="128016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31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950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1887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Know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Working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230428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 scorecard that justifies continued investment — and expansion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8.4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Module 8.4 — Measuring ROI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 Scorecard: Baseline → Target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2468880" cy="40233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996696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852928" y="969264"/>
            <a:ext cx="1645920" cy="40233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6936" y="996696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(Manual)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498848" y="969264"/>
            <a:ext cx="1463040" cy="40233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99669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Target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61888" y="969264"/>
            <a:ext cx="1005840" cy="40233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25896" y="996696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67728" y="969264"/>
            <a:ext cx="1828800" cy="40233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31736" y="996696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Measure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1371600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139903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per analyst/month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52928" y="1371600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16936" y="1399032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hrs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498848" y="1371600"/>
            <a:ext cx="14630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62856" y="139903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61888" y="1371600"/>
            <a:ext cx="10058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25896" y="1399032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967728" y="1371600"/>
            <a:ext cx="1828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31736" y="139903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time log (before/after)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" y="1773936"/>
            <a:ext cx="2468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180136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cycle time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52928" y="1773936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16936" y="1801368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498848" y="1773936"/>
            <a:ext cx="1463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62856" y="180136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961888" y="1773936"/>
            <a:ext cx="1005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25896" y="180136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67728" y="1773936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31736" y="180136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date → variance report date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84048" y="21762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" y="220370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draft time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852928" y="2176272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16936" y="2203704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hours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498848" y="2176272"/>
            <a:ext cx="14630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62856" y="220370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61888" y="2176272"/>
            <a:ext cx="10058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25896" y="2203704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967728" y="2176272"/>
            <a:ext cx="1828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31736" y="220370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team log, sampled per cycle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84048" y="2578608"/>
            <a:ext cx="2468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8056" y="2606040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 turnaround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852928" y="2578608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16936" y="2606040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498848" y="2578608"/>
            <a:ext cx="1463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2856" y="26060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961888" y="2578608"/>
            <a:ext cx="1005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25896" y="2606040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967728" y="2578608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31736" y="260604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range: close to CFO receipt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84048" y="2980944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8056" y="3008376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errors in reports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852928" y="2980944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16936" y="3008376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498848" y="2980944"/>
            <a:ext cx="14630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62856" y="300837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961888" y="2980944"/>
            <a:ext cx="10058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25896" y="3008376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967728" y="2980944"/>
            <a:ext cx="18288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31736" y="3008376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queries mart directly — no copy-paste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84048" y="3639312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84048" y="3639312"/>
            <a:ext cx="54864" cy="100584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1208" y="373075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(Variance)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21208" y="3931920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900" dirty="0"/>
          </a:p>
        </p:txBody>
      </p:sp>
      <p:sp>
        <p:nvSpPr>
          <p:cNvPr id="70" name="Text 68"/>
          <p:cNvSpPr/>
          <p:nvPr/>
        </p:nvSpPr>
        <p:spPr>
          <a:xfrm>
            <a:off x="521208" y="433425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→ 4 hours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450592" y="3639312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2450592" y="3639312"/>
            <a:ext cx="54864" cy="100584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587752" y="373075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Speed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2587752" y="3931920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900" dirty="0"/>
          </a:p>
        </p:txBody>
      </p:sp>
      <p:sp>
        <p:nvSpPr>
          <p:cNvPr id="75" name="Text 73"/>
          <p:cNvSpPr/>
          <p:nvPr/>
        </p:nvSpPr>
        <p:spPr>
          <a:xfrm>
            <a:off x="2587752" y="433425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hrs → 45 minutes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517136" y="3639312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517136" y="3639312"/>
            <a:ext cx="54864" cy="100584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654296" y="373075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654296" y="3931920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900" dirty="0"/>
          </a:p>
        </p:txBody>
      </p:sp>
      <p:sp>
        <p:nvSpPr>
          <p:cNvPr id="80" name="Text 78"/>
          <p:cNvSpPr/>
          <p:nvPr/>
        </p:nvSpPr>
        <p:spPr>
          <a:xfrm>
            <a:off x="4654296" y="433425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queries are deterministic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583680" y="3639312"/>
            <a:ext cx="2286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583680" y="3639312"/>
            <a:ext cx="54864" cy="100584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720840" y="373075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720840" y="393192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1900" dirty="0"/>
          </a:p>
        </p:txBody>
      </p:sp>
      <p:sp>
        <p:nvSpPr>
          <p:cNvPr id="85" name="Text 83"/>
          <p:cNvSpPr/>
          <p:nvPr/>
        </p:nvSpPr>
        <p:spPr>
          <a:xfrm>
            <a:off x="6720840" y="4334256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3 days. Now done before lunch.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384048" y="4718304"/>
            <a:ext cx="8375904" cy="164592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548640" y="473659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Section 3 Business Case. These are the numbers you promised the CFO. Now you can prove them.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8.4  ·  Measuring ROI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Module 8.4 — Measuring ROI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Capture the Data: Three Simple Methods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2670048" cy="3785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378561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024128"/>
            <a:ext cx="475488" cy="475488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0789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Tracking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" y="153619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and after deployment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2064" y="1737360"/>
            <a:ext cx="241401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1828800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79222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analysts to log time for 2 weeks pre-launch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12064" y="2194560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15798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2 weeks at Month 1, Month 3, Month 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12064" y="2560320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52374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data pull, variance analysis, commentary, formatting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12064" y="2926080"/>
            <a:ext cx="91440" cy="9144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88950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existing project management tool (Jira, Asana, Notion)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4242816"/>
            <a:ext cx="2523744" cy="384048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42702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Measures: Hours saved per analyst per month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36976" y="969264"/>
            <a:ext cx="2670048" cy="3785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36976" y="969264"/>
            <a:ext cx="54864" cy="378561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64992" y="1024128"/>
            <a:ext cx="475488" cy="47548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0" y="10789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64992" y="153619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reporting cycle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64992" y="1737360"/>
            <a:ext cx="241401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64992" y="1828800"/>
            <a:ext cx="91440" cy="914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11296" y="179222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Record: close date (finance books close)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364992" y="2194560"/>
            <a:ext cx="91440" cy="914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11296" y="215798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Record: date variance report delivered to CFO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64992" y="2560320"/>
            <a:ext cx="91440" cy="914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11296" y="252374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Record: date board pack received by board members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64992" y="2926080"/>
            <a:ext cx="91440" cy="9144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11296" y="288950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delta — no special tooling needed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310128" y="4242816"/>
            <a:ext cx="2523744" cy="38404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364992" y="42702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Measures: Cycle time: close → report → board delivery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089904" y="969264"/>
            <a:ext cx="2670048" cy="3785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89904" y="969264"/>
            <a:ext cx="54864" cy="378561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1024128"/>
            <a:ext cx="475488" cy="475488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784848" y="10789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Satisfaction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17920" y="153619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each quarter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17920" y="1737360"/>
            <a:ext cx="241401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0" y="1828800"/>
            <a:ext cx="91440" cy="91440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4224" y="179222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5-question survey, 1–5 scale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217920" y="2194560"/>
            <a:ext cx="91440" cy="91440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64224" y="215798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 accuracy, speed, trust, usefulness, recommendation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217920" y="2560320"/>
            <a:ext cx="91440" cy="91440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64224" y="252374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via email or Typeform — 5 minutes to complete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217920" y="2926080"/>
            <a:ext cx="91440" cy="91440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64224" y="288950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trend over 4 quarters: aim for 4.2+ by Q4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163056" y="4242816"/>
            <a:ext cx="2523744" cy="384048"/>
          </a:xfrm>
          <a:prstGeom prst="rect">
            <a:avLst/>
          </a:prstGeom>
          <a:solidFill>
            <a:srgbClr val="EDE9F7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217920" y="42702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Measures: CFO satisfaction score (track quarterly)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8.4  ·  Measuring ROI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Module 8.4 — Measuring ROI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at 6 Months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8375904" cy="2286000"/>
          </a:xfrm>
          <a:prstGeom prst="rect">
            <a:avLst/>
          </a:prstGeom>
          <a:solidFill>
            <a:srgbClr val="F0FBF5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228600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241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6-MONTH CFO MEETING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31673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walk into the CFO's office with 6 months of data.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168249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cycle time cut by 85%. Commentary draft time cut by 90%.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 done same day.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176272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stops being “should we invest?”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becomes “how do we expand to all entities?””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“expand to all entities” looks like: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3749040"/>
            <a:ext cx="26517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3749040"/>
            <a:ext cx="54864" cy="98755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803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Entities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" y="407822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EU, APAC, LATAM entities — same infrastructure, new Redshift schemas.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36976" y="3749040"/>
            <a:ext cx="26517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36976" y="3749040"/>
            <a:ext cx="54864" cy="987552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3803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Users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64992" y="407822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→ FP&amp;A team → BU heads → board members. AgentCore Identity handles multi-tenant.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89904" y="3749040"/>
            <a:ext cx="26517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9904" y="3749040"/>
            <a:ext cx="54864" cy="98755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803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Tools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407822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budget reforecast Lambda, headcount planning Lambda, cash flow analysis Lambda.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8.4  ·  Measuring ROI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0" y="4572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02920" y="731520"/>
            <a:ext cx="54864" cy="128016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31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950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1887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You've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230428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module — a complete picture of the journey and where it takes you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8.5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Module 8.5 — Course Conclusion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Sections. One Complete Transformation.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202996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155448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097280"/>
            <a:ext cx="402336" cy="402336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113385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Demo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" y="1554480"/>
            <a:ext cx="177393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609344"/>
            <a:ext cx="17739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 it working. Understood what's possible.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0" y="969264"/>
            <a:ext cx="202996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969264"/>
            <a:ext cx="54864" cy="155448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88336" y="1097280"/>
            <a:ext cx="402336" cy="402336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88336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182112" y="113385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for Architects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88336" y="1554480"/>
            <a:ext cx="177393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88336" y="1609344"/>
            <a:ext cx="17739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vocabulary, the reports, the CFO's world.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36592" y="969264"/>
            <a:ext cx="202996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969264"/>
            <a:ext cx="54864" cy="155448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64608" y="1097280"/>
            <a:ext cx="402336" cy="402336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58384" y="113385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Business Case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64608" y="1554480"/>
            <a:ext cx="177393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609344"/>
            <a:ext cx="17739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portfolio. $1.9M problem. ROI model.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12864" y="969264"/>
            <a:ext cx="202996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12864" y="969264"/>
            <a:ext cx="54864" cy="155448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0" y="1097280"/>
            <a:ext cx="402336" cy="402336"/>
          </a:xfrm>
          <a:prstGeom prst="ellipse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34656" y="113385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40880" y="1554480"/>
            <a:ext cx="177393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1609344"/>
            <a:ext cx="17739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+ dbt + mart design. AI Readiness.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84048" y="2670048"/>
            <a:ext cx="202996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84048" y="2670048"/>
            <a:ext cx="54864" cy="1554480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" y="2798064"/>
            <a:ext cx="402336" cy="402336"/>
          </a:xfrm>
          <a:prstGeom prst="ellipse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" y="2798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05840" y="283464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Architecture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" y="3255264"/>
            <a:ext cx="177393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" y="3310128"/>
            <a:ext cx="17739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Bedrock, Lambda, VPC, IAM. The full stack.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560320" y="2670048"/>
            <a:ext cx="202996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60320" y="2670048"/>
            <a:ext cx="54864" cy="155448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88336" y="2798064"/>
            <a:ext cx="402336" cy="402336"/>
          </a:xfrm>
          <a:prstGeom prst="ellipse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88336" y="2798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182112" y="283464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688336" y="3255264"/>
            <a:ext cx="177393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88336" y="3310128"/>
            <a:ext cx="17739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Agents, AgentCore, tool calling, memory.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36592" y="2670048"/>
            <a:ext cx="202996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36592" y="2670048"/>
            <a:ext cx="54864" cy="155448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64608" y="2798064"/>
            <a:ext cx="402336" cy="402336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608" y="2798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358384" y="283464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System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64608" y="3255264"/>
            <a:ext cx="177393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64608" y="3310128"/>
            <a:ext cx="17739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Text-to-SQL, variance RCA, board pack. Working code.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912864" y="2670048"/>
            <a:ext cx="202996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912864" y="2670048"/>
            <a:ext cx="54864" cy="155448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40880" y="2798064"/>
            <a:ext cx="402336" cy="402336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40880" y="2798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534656" y="283464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 Measure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040880" y="3255264"/>
            <a:ext cx="177393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40880" y="3310128"/>
            <a:ext cx="17739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plan. Operating model. ROI scorecard.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450592" y="1609344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2450592" y="3310128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626864" y="1609344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626864" y="3310128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803136" y="1609344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803136" y="3310128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8.5  ·  Course Conclusion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Module 8.5 — Course Conclusion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You've Built: The Complete Checklist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8375904" cy="420624"/>
          </a:xfrm>
          <a:prstGeom prst="rect">
            <a:avLst/>
          </a:prstGeom>
          <a:solidFill>
            <a:srgbClr val="F8FFF9"/>
          </a:solidFill>
          <a:ln w="12700">
            <a:solidFill>
              <a:srgbClr val="E2F3E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" y="1060704"/>
            <a:ext cx="237744" cy="23774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060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0058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ACME Finance system — NL querying, variance RCA, what-if, commentary, board pack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444752"/>
            <a:ext cx="8375904" cy="420624"/>
          </a:xfrm>
          <a:prstGeom prst="rect">
            <a:avLst/>
          </a:prstGeom>
          <a:solidFill>
            <a:srgbClr val="F8FFF9"/>
          </a:solidFill>
          <a:ln w="12700">
            <a:solidFill>
              <a:srgbClr val="E2F3E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" y="1536192"/>
            <a:ext cx="237744" cy="23774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15361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14813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patterns you can whiteboard for any CFO in any industry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1920240"/>
            <a:ext cx="8375904" cy="420624"/>
          </a:xfrm>
          <a:prstGeom prst="rect">
            <a:avLst/>
          </a:prstGeom>
          <a:solidFill>
            <a:srgbClr val="F8FFF9"/>
          </a:solidFill>
          <a:ln w="12700">
            <a:solidFill>
              <a:srgbClr val="E2F3E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" y="2011680"/>
            <a:ext cx="237744" cy="23774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0116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195681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domain vocabulary — income statements, variance analysis, FP&amp;A workflows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2395728"/>
            <a:ext cx="8375904" cy="420624"/>
          </a:xfrm>
          <a:prstGeom prst="rect">
            <a:avLst/>
          </a:prstGeom>
          <a:solidFill>
            <a:srgbClr val="F8FFF9"/>
          </a:solidFill>
          <a:ln w="12700">
            <a:solidFill>
              <a:srgbClr val="E2F3E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" y="2487168"/>
            <a:ext cx="237744" cy="23774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487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243230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prioritization framework — Impact × Complexity matrix, phased delivery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2871216"/>
            <a:ext cx="8375904" cy="420624"/>
          </a:xfrm>
          <a:prstGeom prst="rect">
            <a:avLst/>
          </a:prstGeom>
          <a:solidFill>
            <a:srgbClr val="F8FFF9"/>
          </a:solidFill>
          <a:ln w="12700">
            <a:solidFill>
              <a:srgbClr val="E2F3E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" y="2962656"/>
            <a:ext cx="237744" cy="23774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2962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2907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delivery plan — Month 1, 2, 3 milestones, two-engineer team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3346704"/>
            <a:ext cx="8375904" cy="420624"/>
          </a:xfrm>
          <a:prstGeom prst="rect">
            <a:avLst/>
          </a:prstGeom>
          <a:solidFill>
            <a:srgbClr val="F8FFF9"/>
          </a:solidFill>
          <a:ln w="12700">
            <a:solidFill>
              <a:srgbClr val="E2F3E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" y="3438144"/>
            <a:ext cx="237744" cy="23774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3438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" y="33832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scorecard — baseline metrics, targets, measurement methods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4048" y="3822192"/>
            <a:ext cx="8375904" cy="420624"/>
          </a:xfrm>
          <a:prstGeom prst="rect">
            <a:avLst/>
          </a:prstGeom>
          <a:solidFill>
            <a:srgbClr val="F8FFF9"/>
          </a:solidFill>
          <a:ln w="12700">
            <a:solidFill>
              <a:srgbClr val="E2F3E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" y="3913632"/>
            <a:ext cx="237744" cy="23774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" y="3913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" y="38587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 checklist — audit trail, regression tests, human sign-off workflow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" y="4297680"/>
            <a:ext cx="8375904" cy="420624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" y="4389120"/>
            <a:ext cx="237744" cy="237744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4389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433425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confidence to say "yes" when a CFO asks "can we build this for us?"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8.5  ·  Course Conclusion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0" y="-18288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6000" dirty="0"/>
          </a:p>
        </p:txBody>
      </p:sp>
      <p:sp>
        <p:nvSpPr>
          <p:cNvPr id="4" name="Shape 2"/>
          <p:cNvSpPr/>
          <p:nvPr/>
        </p:nvSpPr>
        <p:spPr>
          <a:xfrm>
            <a:off x="502920" y="640080"/>
            <a:ext cx="64008" cy="3474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949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6217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CFOs who deploy this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2025–2026 will expect it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everywhere by 2028.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798064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it."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85800" y="3895344"/>
            <a:ext cx="4937760" cy="27432"/>
          </a:xfrm>
          <a:prstGeom prst="rect">
            <a:avLst/>
          </a:prstGeom>
          <a:solidFill>
            <a:srgbClr val="1E3A55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005072"/>
            <a:ext cx="329184" cy="2011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0050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78992" y="40050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lab — full system running in your AWS account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4261104"/>
            <a:ext cx="329184" cy="2011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26110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78992" y="426110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for a client — swap ACME data for their source systems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4517136"/>
            <a:ext cx="329184" cy="2011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51713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78992" y="451713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— AgentCore Identity for multi-tenant, add more Lambda tools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873752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AI Agents on AWS: Build Real Systems for FP&amp;A  ·  udemy.com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AI Agents on AWS — Section 8: Execution: Roadmap, Operating Model, and ROI</dc:title>
  <dc:subject>PptxGenJS Presentation</dc:subject>
  <dc:creator>ACME Finance Course</dc:creator>
  <cp:lastModifiedBy>ACME Finance Course</cp:lastModifiedBy>
  <cp:revision>1</cp:revision>
  <dcterms:created xsi:type="dcterms:W3CDTF">2026-05-12T05:17:00Z</dcterms:created>
  <dcterms:modified xsi:type="dcterms:W3CDTF">2026-05-12T05:17:00Z</dcterms:modified>
</cp:coreProperties>
</file>